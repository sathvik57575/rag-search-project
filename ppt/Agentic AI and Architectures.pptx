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5B0BD61-5B5F-481B-AE31-E693A9A7EF8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p:cViewPr varScale="1">
        <p:scale>
          <a:sx n="79" d="100"/>
          <a:sy n="79" d="100"/>
        </p:scale>
        <p:origin x="826"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44A2B-D970-4A94-8E8A-7CD11A852026}"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BBFD7-C027-4A69-B30C-406A5C57DC38}" type="slidenum">
              <a:rPr lang="en-IN" smtClean="0"/>
              <a:t>‹#›</a:t>
            </a:fld>
            <a:endParaRPr lang="en-IN"/>
          </a:p>
        </p:txBody>
      </p:sp>
    </p:spTree>
    <p:extLst>
      <p:ext uri="{BB962C8B-B14F-4D97-AF65-F5344CB8AC3E}">
        <p14:creationId xmlns:p14="http://schemas.microsoft.com/office/powerpoint/2010/main" val="2351177158"/>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7"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1"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5"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7"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8BBFD7-C027-4A69-B30C-406A5C57DC38}" type="slidenum">
              <a:rPr lang="en-IN" smtClean="0"/>
              <a:t>9</a:t>
            </a:fld>
            <a:endParaRPr lang="en-IN"/>
          </a:p>
        </p:txBody>
      </p:sp>
    </p:spTree>
    <p:extLst>
      <p:ext uri="{BB962C8B-B14F-4D97-AF65-F5344CB8AC3E}">
        <p14:creationId xmlns:p14="http://schemas.microsoft.com/office/powerpoint/2010/main" val="1376843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8BBFD7-C027-4A69-B30C-406A5C57DC38}" type="slidenum">
              <a:rPr lang="en-IN" smtClean="0"/>
              <a:t>14</a:t>
            </a:fld>
            <a:endParaRPr lang="en-IN"/>
          </a:p>
        </p:txBody>
      </p:sp>
    </p:spTree>
    <p:extLst>
      <p:ext uri="{BB962C8B-B14F-4D97-AF65-F5344CB8AC3E}">
        <p14:creationId xmlns:p14="http://schemas.microsoft.com/office/powerpoint/2010/main" val="90572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42C45-F010-7517-08C9-1806EFA93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1269A1-D921-500D-DCEC-445120F47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6E788A-E83C-FCEB-4F4C-67382D560F68}"/>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5FC8BDA7-1323-F262-C688-6E4124E697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E06373-3063-24EB-705D-AE8397DBD2D6}"/>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253973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63336-E203-BFFD-3784-3C077AA2A3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12DDDB-DE44-4F8F-8CE6-886C3399F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ACF5DA-482E-2487-AF4E-8D2983C36430}"/>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73AE65EB-94D7-4E60-FFCA-8419EDF80C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5E490B-CCF6-6289-90D8-D15E55EDC0FF}"/>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2320456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E6237-3152-3804-CCFD-5F623E7C50C9}"/>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75F1F6-5F7F-E205-34D2-E766C26FB0D1}"/>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DBFEA0-A2D3-38B6-7316-DD255A443A6B}"/>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297E2F28-7E30-45F5-DA6F-6E3828B323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E54C07-04CA-FA53-DC05-923F54286EB3}"/>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198508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C139-73D4-95C3-3631-26F55DDA22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C62DC3-0675-A9D7-E49E-9A5E08AA9F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3808B9-B914-01F7-78C2-2BCD2E45B4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B842FC-0CC8-C8C8-6E92-EFAB5718BDBD}"/>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6" name="Footer Placeholder 5">
            <a:extLst>
              <a:ext uri="{FF2B5EF4-FFF2-40B4-BE49-F238E27FC236}">
                <a16:creationId xmlns:a16="http://schemas.microsoft.com/office/drawing/2014/main" id="{2C1168A8-29BC-5ED8-7C9A-91CDD6C266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6DB53B-BC5F-B26C-6C52-0F15EFADCA0E}"/>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2112272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B582-2DD6-E48C-F2E0-70D50DC2FEDB}"/>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FCE7E2-4409-65B9-4E4B-4F87DB36F02B}"/>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A0A78-E4AF-A0CC-5C06-7CFD321762B5}"/>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55956B-F2B8-24DE-FEBF-4C8FC2672132}"/>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F7BE1B-9CBD-54DA-2130-493C2BBF9863}"/>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0F06AA-A48D-378B-1A47-D9AD5C804C1A}"/>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8" name="Footer Placeholder 7">
            <a:extLst>
              <a:ext uri="{FF2B5EF4-FFF2-40B4-BE49-F238E27FC236}">
                <a16:creationId xmlns:a16="http://schemas.microsoft.com/office/drawing/2014/main" id="{F3A8E774-5965-E2C9-745F-48B6E215C1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990B41-F393-6AAF-0485-4A30075D83A2}"/>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303108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B0B7-3B72-F95A-F184-3A95F320D8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8FEFFE-FAE0-A174-6F46-FC68FF6BE125}"/>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4" name="Footer Placeholder 3">
            <a:extLst>
              <a:ext uri="{FF2B5EF4-FFF2-40B4-BE49-F238E27FC236}">
                <a16:creationId xmlns:a16="http://schemas.microsoft.com/office/drawing/2014/main" id="{08E6F462-F705-E46C-AD67-6DBCF32D32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53433A-D93B-DA36-8930-489029BBFE51}"/>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186848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1B8065-3786-4D11-5026-36645BF68B1C}"/>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3" name="Footer Placeholder 2">
            <a:extLst>
              <a:ext uri="{FF2B5EF4-FFF2-40B4-BE49-F238E27FC236}">
                <a16:creationId xmlns:a16="http://schemas.microsoft.com/office/drawing/2014/main" id="{9262F071-E1DD-C252-6355-0E43F6A67F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419BCC-805C-3899-FC54-353D81CDD2BF}"/>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76991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1B30-C8E6-FFB9-D285-5E3EDF0F5A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066E13-63A2-868B-376E-02760A7A5F2E}"/>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1502F5-4161-6299-4301-1664A2E1A4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EBA1F-9780-3A7D-B5AF-C718C9056941}"/>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6" name="Footer Placeholder 5">
            <a:extLst>
              <a:ext uri="{FF2B5EF4-FFF2-40B4-BE49-F238E27FC236}">
                <a16:creationId xmlns:a16="http://schemas.microsoft.com/office/drawing/2014/main" id="{8184D931-C54A-E69A-D671-857F936AFB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B6CE61-0EF4-8462-3F8C-E6C0388837EE}"/>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4030505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763F-9D9A-5F00-8CE5-4C30AB59A9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62D538-5C6E-67CF-5756-568B93DBA65D}"/>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0B4889-3270-4964-B1AA-2D4EA5949B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D1C19-F6F5-4BD7-40F6-7A11EB079C5C}"/>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6" name="Footer Placeholder 5">
            <a:extLst>
              <a:ext uri="{FF2B5EF4-FFF2-40B4-BE49-F238E27FC236}">
                <a16:creationId xmlns:a16="http://schemas.microsoft.com/office/drawing/2014/main" id="{BA89FC6C-4D04-A234-A5E0-83E3B3667A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138267-0B8D-1223-C42A-1C3FDCA6FB50}"/>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4115174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D9E13-D066-D2B8-3CB9-39D16B5D68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63D526-CBA4-A5C7-4F50-DCC733B38F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5857C7-87BB-C622-CF21-F9FC8324587A}"/>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F394FEE6-0584-C3A2-0A26-1ECBAA7E4F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853826-85CB-9798-3543-C94B66A2F967}"/>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1423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23A564-24F3-FA59-7081-5E7B4D3C3FCD}"/>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4AEBC4-B27B-3EF8-5A80-FAB90B3244B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7DB152-3B78-260F-7DA3-7FAAA9FFBF32}"/>
              </a:ext>
            </a:extLst>
          </p:cNvPr>
          <p:cNvSpPr>
            <a:spLocks noGrp="1"/>
          </p:cNvSpPr>
          <p:nvPr>
            <p:ph type="dt" sz="half" idx="10"/>
          </p:nvPr>
        </p:nvSpPr>
        <p:spPr/>
        <p:txBody>
          <a:body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37BC8043-B2D7-69DE-A193-8E852B8FDE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9A0451-255A-4ABB-3F0C-CF986609B874}"/>
              </a:ext>
            </a:extLst>
          </p:cNvPr>
          <p:cNvSpPr>
            <a:spLocks noGrp="1"/>
          </p:cNvSpPr>
          <p:nvPr>
            <p:ph type="sldNum" sz="quarter" idx="12"/>
          </p:nvPr>
        </p:nvSpPr>
        <p:spPr/>
        <p:txBody>
          <a:bodyPr/>
          <a:lstStyle/>
          <a:p>
            <a:fld id="{FD2CAF6F-DA34-401F-BF8F-092660643F9C}" type="slidenum">
              <a:rPr lang="en-IN" smtClean="0"/>
              <a:t>‹#›</a:t>
            </a:fld>
            <a:endParaRPr lang="en-IN"/>
          </a:p>
        </p:txBody>
      </p:sp>
    </p:spTree>
    <p:extLst>
      <p:ext uri="{BB962C8B-B14F-4D97-AF65-F5344CB8AC3E}">
        <p14:creationId xmlns:p14="http://schemas.microsoft.com/office/powerpoint/2010/main" val="2062486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769CA9-C4C6-846A-CBBA-E40949D59EB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BE5ED9-3D3F-2046-91EF-594CFC8346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05B7E5-6AEE-0D5B-5108-A8289440FA8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2E489-22A0-4E3D-9CE9-6FD128D218FF}" type="datetimeFigureOut">
              <a:rPr lang="en-IN" smtClean="0"/>
              <a:t>19-09-2026</a:t>
            </a:fld>
            <a:endParaRPr lang="en-IN"/>
          </a:p>
        </p:txBody>
      </p:sp>
      <p:sp>
        <p:nvSpPr>
          <p:cNvPr id="5" name="Footer Placeholder 4">
            <a:extLst>
              <a:ext uri="{FF2B5EF4-FFF2-40B4-BE49-F238E27FC236}">
                <a16:creationId xmlns:a16="http://schemas.microsoft.com/office/drawing/2014/main" id="{3F124C36-DB10-0066-7F23-1BFC534E25E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0AC163B-0964-BA97-D708-0DE7F4ECBBF1}"/>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2CAF6F-DA34-401F-BF8F-092660643F9C}" type="slidenum">
              <a:rPr lang="en-IN" smtClean="0"/>
              <a:t>‹#›</a:t>
            </a:fld>
            <a:endParaRPr lang="en-IN"/>
          </a:p>
        </p:txBody>
      </p:sp>
    </p:spTree>
    <p:extLst>
      <p:ext uri="{BB962C8B-B14F-4D97-AF65-F5344CB8AC3E}">
        <p14:creationId xmlns:p14="http://schemas.microsoft.com/office/powerpoint/2010/main" val="2311498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9EE63-2735-D05C-AFFD-2DFB222125B2}"/>
              </a:ext>
            </a:extLst>
          </p:cNvPr>
          <p:cNvSpPr>
            <a:spLocks noGrp="1"/>
          </p:cNvSpPr>
          <p:nvPr>
            <p:ph type="ctrTitle"/>
          </p:nvPr>
        </p:nvSpPr>
        <p:spPr/>
        <p:txBody>
          <a:bodyPr/>
          <a:lstStyle/>
          <a:p>
            <a:r>
              <a:rPr lang="en-IN" dirty="0"/>
              <a:t>Agentic AI and Architectures</a:t>
            </a:r>
          </a:p>
        </p:txBody>
      </p:sp>
      <p:sp>
        <p:nvSpPr>
          <p:cNvPr id="3" name="Subtitle 2">
            <a:extLst>
              <a:ext uri="{FF2B5EF4-FFF2-40B4-BE49-F238E27FC236}">
                <a16:creationId xmlns:a16="http://schemas.microsoft.com/office/drawing/2014/main" id="{69B26730-C56F-A5AF-C3B5-72F5376AA709}"/>
              </a:ext>
            </a:extLst>
          </p:cNvPr>
          <p:cNvSpPr>
            <a:spLocks noGrp="1"/>
          </p:cNvSpPr>
          <p:nvPr>
            <p:ph type="subTitle" idx="1"/>
          </p:nvPr>
        </p:nvSpPr>
        <p:spPr/>
        <p:txBody>
          <a:bodyPr/>
          <a:lstStyle/>
          <a:p>
            <a:pPr algn="r"/>
            <a:endParaRPr lang="en-IN" dirty="0"/>
          </a:p>
          <a:p>
            <a:pPr algn="r"/>
            <a:r>
              <a:rPr lang="en-IN" dirty="0"/>
              <a:t>-Katta Sathvik Reddy</a:t>
            </a:r>
          </a:p>
        </p:txBody>
      </p:sp>
    </p:spTree>
    <p:extLst>
      <p:ext uri="{BB962C8B-B14F-4D97-AF65-F5344CB8AC3E}">
        <p14:creationId xmlns:p14="http://schemas.microsoft.com/office/powerpoint/2010/main" val="3784792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7CF50A-94CC-E6A3-B801-4A91B9E807C8}"/>
              </a:ext>
            </a:extLst>
          </p:cNvPr>
          <p:cNvSpPr>
            <a:spLocks noGrp="1"/>
          </p:cNvSpPr>
          <p:nvPr>
            <p:ph idx="1"/>
          </p:nvPr>
        </p:nvSpPr>
        <p:spPr>
          <a:xfrm>
            <a:off x="838200" y="476254"/>
            <a:ext cx="10515600" cy="5700713"/>
          </a:xfrm>
        </p:spPr>
        <p:txBody>
          <a:bodyPr/>
          <a:lstStyle/>
          <a:p>
            <a:pPr marL="0" indent="0">
              <a:buNone/>
            </a:pPr>
            <a:endParaRPr lang="en-US" dirty="0">
              <a:latin typeface="Calibri" pitchFamily="34" charset="0"/>
              <a:ea typeface="Calibri" pitchFamily="34" charset="-122"/>
              <a:cs typeface="Calibri" pitchFamily="34" charset="-120"/>
            </a:endParaRPr>
          </a:p>
          <a:p>
            <a:pPr marL="0" indent="0">
              <a:buNone/>
            </a:pPr>
            <a:endParaRPr lang="en-US" dirty="0">
              <a:latin typeface="Calibri" pitchFamily="34" charset="0"/>
              <a:ea typeface="Calibri" pitchFamily="34" charset="-122"/>
              <a:cs typeface="Calibri" pitchFamily="34" charset="-120"/>
            </a:endParaRPr>
          </a:p>
          <a:p>
            <a:pPr marL="0" indent="0">
              <a:buNone/>
            </a:pPr>
            <a:endParaRPr lang="en-US" dirty="0">
              <a:latin typeface="Calibri" pitchFamily="34" charset="0"/>
              <a:ea typeface="Calibri" pitchFamily="34" charset="-122"/>
              <a:cs typeface="Calibri" pitchFamily="34" charset="-120"/>
            </a:endParaRPr>
          </a:p>
          <a:p>
            <a:pPr marL="0" indent="0">
              <a:buNone/>
            </a:pPr>
            <a:endParaRPr lang="en-US" dirty="0">
              <a:latin typeface="Calibri" pitchFamily="34" charset="0"/>
              <a:ea typeface="Calibri" pitchFamily="34" charset="-122"/>
              <a:cs typeface="Calibri" pitchFamily="34" charset="-120"/>
            </a:endParaRPr>
          </a:p>
          <a:p>
            <a:pPr marL="0" indent="0" algn="ctr">
              <a:buNone/>
            </a:pPr>
            <a:r>
              <a:rPr lang="en-US" dirty="0">
                <a:latin typeface="Calibri" pitchFamily="34" charset="0"/>
                <a:ea typeface="Calibri" pitchFamily="34" charset="-122"/>
                <a:cs typeface="Calibri" pitchFamily="34" charset="-120"/>
              </a:rPr>
              <a:t>A walkthrough of what is an AI agent ?</a:t>
            </a:r>
            <a:endParaRPr lang="en-US" dirty="0"/>
          </a:p>
          <a:p>
            <a:pPr marL="0" indent="0" algn="ctr">
              <a:buNone/>
            </a:pPr>
            <a:r>
              <a:rPr lang="en-US" dirty="0"/>
              <a:t>How AI systems plan, act, and get things done ?</a:t>
            </a:r>
          </a:p>
          <a:p>
            <a:pPr marL="0" indent="0">
              <a:buNone/>
            </a:pPr>
            <a:endParaRPr lang="en-IN" dirty="0"/>
          </a:p>
        </p:txBody>
      </p:sp>
    </p:spTree>
    <p:extLst>
      <p:ext uri="{BB962C8B-B14F-4D97-AF65-F5344CB8AC3E}">
        <p14:creationId xmlns:p14="http://schemas.microsoft.com/office/powerpoint/2010/main" val="3162926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49DC-9FB7-E434-8621-94433542C17C}"/>
              </a:ext>
            </a:extLst>
          </p:cNvPr>
          <p:cNvSpPr>
            <a:spLocks noGrp="1"/>
          </p:cNvSpPr>
          <p:nvPr>
            <p:ph type="title"/>
          </p:nvPr>
        </p:nvSpPr>
        <p:spPr>
          <a:xfrm>
            <a:off x="838200" y="365125"/>
            <a:ext cx="5257800" cy="1132935"/>
          </a:xfrm>
        </p:spPr>
        <p:txBody>
          <a:bodyPr>
            <a:normAutofit/>
          </a:bodyPr>
          <a:lstStyle/>
          <a:p>
            <a:r>
              <a:rPr lang="en-US" sz="3200" b="1" dirty="0">
                <a:solidFill>
                  <a:srgbClr val="1E2761"/>
                </a:solidFill>
                <a:latin typeface="Cambria" pitchFamily="34" charset="0"/>
                <a:ea typeface="Cambria" pitchFamily="34" charset="-122"/>
                <a:cs typeface="Cambria" pitchFamily="34" charset="-120"/>
              </a:rPr>
              <a:t>What is Agentic AI?</a:t>
            </a:r>
            <a:endParaRPr lang="en-IN" sz="3200" dirty="0"/>
          </a:p>
        </p:txBody>
      </p:sp>
      <p:sp>
        <p:nvSpPr>
          <p:cNvPr id="3" name="Content Placeholder 2">
            <a:extLst>
              <a:ext uri="{FF2B5EF4-FFF2-40B4-BE49-F238E27FC236}">
                <a16:creationId xmlns:a16="http://schemas.microsoft.com/office/drawing/2014/main" id="{B9F088D4-393A-A9DB-AC82-0CA5924D3C6E}"/>
              </a:ext>
            </a:extLst>
          </p:cNvPr>
          <p:cNvSpPr>
            <a:spLocks noGrp="1"/>
          </p:cNvSpPr>
          <p:nvPr>
            <p:ph idx="1"/>
          </p:nvPr>
        </p:nvSpPr>
        <p:spPr>
          <a:xfrm>
            <a:off x="838200" y="1498061"/>
            <a:ext cx="5348591" cy="1575880"/>
          </a:xfrm>
        </p:spPr>
        <p:txBody>
          <a:bodyPr>
            <a:normAutofit fontScale="92500" lnSpcReduction="10000"/>
          </a:bodyPr>
          <a:lstStyle/>
          <a:p>
            <a:pPr marL="0" indent="0">
              <a:buNone/>
            </a:pPr>
            <a:r>
              <a:rPr lang="en-US" sz="2000" dirty="0">
                <a:solidFill>
                  <a:srgbClr val="1E2761"/>
                </a:solidFill>
                <a:latin typeface="Calibri" pitchFamily="34" charset="0"/>
                <a:ea typeface="Calibri" pitchFamily="34" charset="-122"/>
                <a:cs typeface="Calibri" pitchFamily="34" charset="-120"/>
              </a:rPr>
              <a:t>Agentic AI is an intelligent system built around a language model that doesn't just respond but also pursues a goal. It understands what is asked, decides what to do next, uses tools to do it, checks whether that worked, and keeps going until the goal is met or it needs your input.</a:t>
            </a:r>
            <a:endParaRPr lang="en-US" sz="2000" dirty="0"/>
          </a:p>
          <a:p>
            <a:endParaRPr lang="en-IN" dirty="0"/>
          </a:p>
        </p:txBody>
      </p:sp>
      <p:sp>
        <p:nvSpPr>
          <p:cNvPr id="6" name="Shape 5">
            <a:extLst>
              <a:ext uri="{FF2B5EF4-FFF2-40B4-BE49-F238E27FC236}">
                <a16:creationId xmlns:a16="http://schemas.microsoft.com/office/drawing/2014/main" id="{429276A1-36E6-C045-8882-7D33DF07E193}"/>
              </a:ext>
            </a:extLst>
          </p:cNvPr>
          <p:cNvSpPr/>
          <p:nvPr/>
        </p:nvSpPr>
        <p:spPr>
          <a:xfrm>
            <a:off x="6488348" y="1303021"/>
            <a:ext cx="5528877" cy="1770920"/>
          </a:xfrm>
          <a:prstGeom prst="roundRect">
            <a:avLst>
              <a:gd name="adj" fmla="val 3721"/>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US" sz="1200" b="1" kern="0" spc="100" dirty="0">
              <a:solidFill>
                <a:srgbClr val="5B6B8C"/>
              </a:solidFill>
              <a:latin typeface="Calibri" pitchFamily="34" charset="0"/>
              <a:ea typeface="Calibri" pitchFamily="34" charset="-122"/>
              <a:cs typeface="Calibri" pitchFamily="34" charset="-120"/>
            </a:endParaRPr>
          </a:p>
          <a:p>
            <a:r>
              <a:rPr lang="en-US" sz="1200" b="1" kern="0" spc="100" dirty="0">
                <a:solidFill>
                  <a:srgbClr val="5B6B8C"/>
                </a:solidFill>
                <a:latin typeface="Calibri" pitchFamily="34" charset="0"/>
                <a:ea typeface="Calibri" pitchFamily="34" charset="-122"/>
                <a:cs typeface="Calibri" pitchFamily="34" charset="-120"/>
              </a:rPr>
              <a:t>JUST AN LLM</a:t>
            </a:r>
          </a:p>
          <a:p>
            <a:endParaRPr lang="en-US" sz="1200" dirty="0"/>
          </a:p>
          <a:p>
            <a:r>
              <a:rPr lang="en-US" sz="1600" dirty="0">
                <a:solidFill>
                  <a:srgbClr val="1E2761"/>
                </a:solidFill>
                <a:latin typeface="Calibri" pitchFamily="34" charset="0"/>
                <a:ea typeface="Calibri" pitchFamily="34" charset="-122"/>
                <a:cs typeface="Calibri" pitchFamily="34" charset="-120"/>
              </a:rPr>
              <a:t>You: “Book me the cheapest flight to Goa under ₹5,000”</a:t>
            </a:r>
          </a:p>
          <a:p>
            <a:endParaRPr lang="en-US" dirty="0">
              <a:solidFill>
                <a:srgbClr val="1E2761"/>
              </a:solidFill>
              <a:latin typeface="Calibri" pitchFamily="34" charset="0"/>
              <a:cs typeface="Calibri" pitchFamily="34" charset="-120"/>
            </a:endParaRPr>
          </a:p>
          <a:p>
            <a:r>
              <a:rPr lang="en-US" sz="1600" i="1" dirty="0">
                <a:solidFill>
                  <a:srgbClr val="5B6B8C"/>
                </a:solidFill>
                <a:latin typeface="Calibri" pitchFamily="34" charset="0"/>
                <a:ea typeface="Calibri" pitchFamily="34" charset="-122"/>
                <a:cs typeface="Calibri" pitchFamily="34" charset="-120"/>
              </a:rPr>
              <a:t>LLM: “Sure, here's how you could search for flights on a travel site...”</a:t>
            </a:r>
            <a:endParaRPr lang="en-US" sz="1600" dirty="0"/>
          </a:p>
          <a:p>
            <a:endParaRPr lang="en-IN" dirty="0"/>
          </a:p>
        </p:txBody>
      </p:sp>
      <p:sp>
        <p:nvSpPr>
          <p:cNvPr id="7" name="TextBox 6">
            <a:extLst>
              <a:ext uri="{FF2B5EF4-FFF2-40B4-BE49-F238E27FC236}">
                <a16:creationId xmlns:a16="http://schemas.microsoft.com/office/drawing/2014/main" id="{9371201F-C267-C85E-D914-8B3745B1F5AA}"/>
              </a:ext>
            </a:extLst>
          </p:cNvPr>
          <p:cNvSpPr txBox="1"/>
          <p:nvPr/>
        </p:nvSpPr>
        <p:spPr>
          <a:xfrm flipH="1">
            <a:off x="747409" y="4299625"/>
            <a:ext cx="5035686" cy="923330"/>
          </a:xfrm>
          <a:prstGeom prst="rect">
            <a:avLst/>
          </a:prstGeom>
          <a:noFill/>
        </p:spPr>
        <p:txBody>
          <a:bodyPr wrap="square" rtlCol="0">
            <a:spAutoFit/>
          </a:bodyPr>
          <a:lstStyle/>
          <a:p>
            <a:r>
              <a:rPr lang="en-US" b="1" i="1" dirty="0">
                <a:solidFill>
                  <a:srgbClr val="5B6B8C"/>
                </a:solidFill>
                <a:latin typeface="Calibri" pitchFamily="34" charset="0"/>
                <a:ea typeface="Calibri" pitchFamily="34" charset="-122"/>
                <a:cs typeface="Calibri" pitchFamily="34" charset="-120"/>
              </a:rPr>
              <a:t>The difference between normal LLM and an Ai agent isn't raw intelligence but the ability to act, observe the result, and keep going</a:t>
            </a:r>
            <a:endParaRPr lang="en-IN" dirty="0"/>
          </a:p>
        </p:txBody>
      </p:sp>
      <p:sp>
        <p:nvSpPr>
          <p:cNvPr id="15" name="Shape 9">
            <a:extLst>
              <a:ext uri="{FF2B5EF4-FFF2-40B4-BE49-F238E27FC236}">
                <a16:creationId xmlns:a16="http://schemas.microsoft.com/office/drawing/2014/main" id="{228F4DA9-09D4-7342-4C8C-09E4F6782E72}"/>
              </a:ext>
            </a:extLst>
          </p:cNvPr>
          <p:cNvSpPr/>
          <p:nvPr/>
        </p:nvSpPr>
        <p:spPr>
          <a:xfrm>
            <a:off x="6488348" y="3988515"/>
            <a:ext cx="5577840" cy="2149638"/>
          </a:xfrm>
          <a:prstGeom prst="roundRect">
            <a:avLst>
              <a:gd name="adj" fmla="val 7297"/>
            </a:avLst>
          </a:prstGeom>
          <a:solidFill>
            <a:srgbClr val="FFF3E6"/>
          </a:solidFill>
          <a:ln w="12700">
            <a:solidFill>
              <a:srgbClr val="E8871E"/>
            </a:solidFill>
            <a:prstDash val="solid"/>
          </a:ln>
          <a:effectLst>
            <a:outerShdw blurRad="76200" dist="25400" dir="5400000" algn="bl" rotWithShape="0">
              <a:srgbClr val="44546A">
                <a:alpha val="18000"/>
              </a:srgbClr>
            </a:outerShdw>
          </a:effectLst>
        </p:spPr>
        <p:txBody>
          <a:bodyPr/>
          <a:lstStyle/>
          <a:p>
            <a:r>
              <a:rPr lang="en-IN" sz="1600" b="1" dirty="0">
                <a:solidFill>
                  <a:srgbClr val="FFC000"/>
                </a:solidFill>
              </a:rPr>
              <a:t> Ai agent</a:t>
            </a:r>
          </a:p>
          <a:p>
            <a:endParaRPr lang="en-IN" dirty="0"/>
          </a:p>
          <a:p>
            <a:r>
              <a:rPr lang="en-US" sz="1600" dirty="0">
                <a:solidFill>
                  <a:srgbClr val="1E2761"/>
                </a:solidFill>
                <a:latin typeface="Calibri" pitchFamily="34" charset="0"/>
                <a:cs typeface="Calibri" pitchFamily="34" charset="-120"/>
              </a:rPr>
              <a:t>Same request, but the agent searches live flights, finds one for ₹4,200, books it, and adds it to your calendar.</a:t>
            </a:r>
          </a:p>
          <a:p>
            <a:endParaRPr lang="en-IN" b="1" dirty="0"/>
          </a:p>
          <a:p>
            <a:r>
              <a:rPr lang="en-US" sz="1600" i="1" dirty="0">
                <a:solidFill>
                  <a:srgbClr val="5B6B8C"/>
                </a:solidFill>
                <a:latin typeface="Calibri" pitchFamily="34" charset="0"/>
                <a:cs typeface="Calibri" pitchFamily="34" charset="-120"/>
              </a:rPr>
              <a:t>Agent: “Done… booked IndiGo 6E-204 for ₹4,200. Added to your calendar.”</a:t>
            </a:r>
            <a:endParaRPr lang="en-IN" sz="1600" i="1" dirty="0">
              <a:solidFill>
                <a:srgbClr val="5B6B8C"/>
              </a:solidFill>
              <a:latin typeface="Calibri" pitchFamily="34" charset="0"/>
              <a:cs typeface="Calibri" pitchFamily="34" charset="-120"/>
            </a:endParaRPr>
          </a:p>
        </p:txBody>
      </p:sp>
    </p:spTree>
    <p:extLst>
      <p:ext uri="{BB962C8B-B14F-4D97-AF65-F5344CB8AC3E}">
        <p14:creationId xmlns:p14="http://schemas.microsoft.com/office/powerpoint/2010/main" val="139019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C774-29F2-67D4-5C6A-980887A72350}"/>
              </a:ext>
            </a:extLst>
          </p:cNvPr>
          <p:cNvSpPr>
            <a:spLocks noGrp="1"/>
          </p:cNvSpPr>
          <p:nvPr>
            <p:ph type="title"/>
          </p:nvPr>
        </p:nvSpPr>
        <p:spPr/>
        <p:txBody>
          <a:bodyPr>
            <a:normAutofit/>
          </a:bodyPr>
          <a:lstStyle/>
          <a:p>
            <a:pPr algn="ctr"/>
            <a:r>
              <a:rPr lang="en-IN" sz="2400" dirty="0"/>
              <a:t>LLM vs RAG vs Agentic Ai</a:t>
            </a:r>
          </a:p>
        </p:txBody>
      </p:sp>
      <p:sp>
        <p:nvSpPr>
          <p:cNvPr id="4" name="TextBox 3">
            <a:extLst>
              <a:ext uri="{FF2B5EF4-FFF2-40B4-BE49-F238E27FC236}">
                <a16:creationId xmlns:a16="http://schemas.microsoft.com/office/drawing/2014/main" id="{C30AE2BA-CF0E-DF98-2F31-13A934535E21}"/>
              </a:ext>
            </a:extLst>
          </p:cNvPr>
          <p:cNvSpPr txBox="1"/>
          <p:nvPr/>
        </p:nvSpPr>
        <p:spPr>
          <a:xfrm>
            <a:off x="301557" y="1848255"/>
            <a:ext cx="3394954" cy="2585323"/>
          </a:xfrm>
          <a:prstGeom prst="rect">
            <a:avLst/>
          </a:prstGeom>
          <a:noFill/>
        </p:spPr>
        <p:txBody>
          <a:bodyPr wrap="square" rtlCol="0">
            <a:spAutoFit/>
          </a:bodyPr>
          <a:lstStyle/>
          <a:p>
            <a:pPr marL="285750" indent="-285750">
              <a:buFont typeface="Wingdings" panose="05000000000000000000" pitchFamily="2" charset="2"/>
              <a:buChar char="§"/>
            </a:pPr>
            <a:r>
              <a:rPr lang="en-IN" dirty="0"/>
              <a:t>LLM</a:t>
            </a:r>
          </a:p>
          <a:p>
            <a:endParaRPr lang="en-IN" dirty="0"/>
          </a:p>
          <a:p>
            <a:r>
              <a:rPr lang="en-US" dirty="0"/>
              <a:t>Generates text from a prompt, using only what it learned in training. No lookup, no memory of your data, no way to act on the world.</a:t>
            </a:r>
          </a:p>
          <a:p>
            <a:endParaRPr lang="en-IN" dirty="0"/>
          </a:p>
          <a:p>
            <a:endParaRPr lang="en-IN" dirty="0"/>
          </a:p>
        </p:txBody>
      </p:sp>
      <p:sp>
        <p:nvSpPr>
          <p:cNvPr id="5" name="TextBox 4">
            <a:extLst>
              <a:ext uri="{FF2B5EF4-FFF2-40B4-BE49-F238E27FC236}">
                <a16:creationId xmlns:a16="http://schemas.microsoft.com/office/drawing/2014/main" id="{85D4C538-4F31-E3A8-6837-8CC1CECAC5DA}"/>
              </a:ext>
            </a:extLst>
          </p:cNvPr>
          <p:cNvSpPr txBox="1"/>
          <p:nvPr/>
        </p:nvSpPr>
        <p:spPr>
          <a:xfrm>
            <a:off x="4620638" y="2568103"/>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C0EB38D0-DC3B-0D33-AC55-3D6A0E1148AB}"/>
              </a:ext>
            </a:extLst>
          </p:cNvPr>
          <p:cNvSpPr txBox="1"/>
          <p:nvPr/>
        </p:nvSpPr>
        <p:spPr>
          <a:xfrm>
            <a:off x="4220183" y="1848255"/>
            <a:ext cx="3531140" cy="2308324"/>
          </a:xfrm>
          <a:prstGeom prst="rect">
            <a:avLst/>
          </a:prstGeom>
          <a:noFill/>
        </p:spPr>
        <p:txBody>
          <a:bodyPr wrap="square" rtlCol="0">
            <a:spAutoFit/>
          </a:bodyPr>
          <a:lstStyle/>
          <a:p>
            <a:pPr marL="285750" indent="-285750">
              <a:buFont typeface="Wingdings" panose="05000000000000000000" pitchFamily="2" charset="2"/>
              <a:buChar char="§"/>
            </a:pPr>
            <a:r>
              <a:rPr lang="en-IN" dirty="0"/>
              <a:t>RAG</a:t>
            </a:r>
          </a:p>
          <a:p>
            <a:pPr marL="285750" indent="-285750">
              <a:buFont typeface="Wingdings" panose="05000000000000000000" pitchFamily="2" charset="2"/>
              <a:buChar char="§"/>
            </a:pPr>
            <a:endParaRPr lang="en-IN" dirty="0"/>
          </a:p>
          <a:p>
            <a:r>
              <a:rPr lang="en-US" dirty="0">
                <a:solidFill>
                  <a:srgbClr val="1E2761"/>
                </a:solidFill>
                <a:latin typeface="Calibri" pitchFamily="34" charset="0"/>
                <a:ea typeface="Calibri" pitchFamily="34" charset="-122"/>
                <a:cs typeface="Calibri" pitchFamily="34" charset="-120"/>
              </a:rPr>
              <a:t>A RAG is an LLM paired with retrieval. It looks </a:t>
            </a:r>
            <a:r>
              <a:rPr lang="en-US" i="1" dirty="0">
                <a:solidFill>
                  <a:srgbClr val="1E2761"/>
                </a:solidFill>
                <a:latin typeface="Calibri" pitchFamily="34" charset="0"/>
                <a:ea typeface="Calibri" pitchFamily="34" charset="-122"/>
                <a:cs typeface="Calibri" pitchFamily="34" charset="-120"/>
              </a:rPr>
              <a:t>up relevant </a:t>
            </a:r>
            <a:r>
              <a:rPr lang="en-US" dirty="0">
                <a:solidFill>
                  <a:srgbClr val="1E2761"/>
                </a:solidFill>
                <a:latin typeface="Calibri" pitchFamily="34" charset="0"/>
                <a:ea typeface="Calibri" pitchFamily="34" charset="-122"/>
                <a:cs typeface="Calibri" pitchFamily="34" charset="-120"/>
              </a:rPr>
              <a:t>documents or data first, then answers using that context. But it still only talks, it can't act.</a:t>
            </a:r>
            <a:endParaRPr lang="en-US" dirty="0"/>
          </a:p>
          <a:p>
            <a:endParaRPr lang="en-IN" dirty="0"/>
          </a:p>
        </p:txBody>
      </p:sp>
      <p:sp>
        <p:nvSpPr>
          <p:cNvPr id="8" name="TextBox 7">
            <a:extLst>
              <a:ext uri="{FF2B5EF4-FFF2-40B4-BE49-F238E27FC236}">
                <a16:creationId xmlns:a16="http://schemas.microsoft.com/office/drawing/2014/main" id="{9FCE56ED-416D-511E-502F-AD12E2E79367}"/>
              </a:ext>
            </a:extLst>
          </p:cNvPr>
          <p:cNvSpPr txBox="1"/>
          <p:nvPr/>
        </p:nvSpPr>
        <p:spPr>
          <a:xfrm>
            <a:off x="4134254" y="4876427"/>
            <a:ext cx="3190672" cy="1077218"/>
          </a:xfrm>
          <a:prstGeom prst="rect">
            <a:avLst/>
          </a:prstGeom>
          <a:noFill/>
        </p:spPr>
        <p:txBody>
          <a:bodyPr wrap="square" rtlCol="0">
            <a:spAutoFit/>
          </a:bodyPr>
          <a:lstStyle/>
          <a:p>
            <a:r>
              <a:rPr lang="en-IN" sz="1400" b="1" dirty="0"/>
              <a:t>Example</a:t>
            </a:r>
          </a:p>
          <a:p>
            <a:endParaRPr lang="en-IN" dirty="0"/>
          </a:p>
          <a:p>
            <a:r>
              <a:rPr lang="en-US" sz="1600" i="1" dirty="0">
                <a:solidFill>
                  <a:srgbClr val="5B6B8C"/>
                </a:solidFill>
                <a:latin typeface="Calibri" pitchFamily="34" charset="0"/>
                <a:ea typeface="Calibri" pitchFamily="34" charset="-122"/>
                <a:cs typeface="Calibri" pitchFamily="34" charset="-120"/>
              </a:rPr>
              <a:t>Answer this from the airline's FAQ PDF”</a:t>
            </a:r>
            <a:endParaRPr lang="en-US" sz="1600" dirty="0"/>
          </a:p>
        </p:txBody>
      </p:sp>
      <p:sp>
        <p:nvSpPr>
          <p:cNvPr id="12" name="TextBox 11">
            <a:extLst>
              <a:ext uri="{FF2B5EF4-FFF2-40B4-BE49-F238E27FC236}">
                <a16:creationId xmlns:a16="http://schemas.microsoft.com/office/drawing/2014/main" id="{8B090DE9-5656-135B-E4EC-2F6F7A291C08}"/>
              </a:ext>
            </a:extLst>
          </p:cNvPr>
          <p:cNvSpPr txBox="1"/>
          <p:nvPr/>
        </p:nvSpPr>
        <p:spPr>
          <a:xfrm>
            <a:off x="8151778" y="1848255"/>
            <a:ext cx="3394954" cy="2862322"/>
          </a:xfrm>
          <a:prstGeom prst="rect">
            <a:avLst/>
          </a:prstGeom>
          <a:noFill/>
        </p:spPr>
        <p:txBody>
          <a:bodyPr wrap="square" rtlCol="0">
            <a:spAutoFit/>
          </a:bodyPr>
          <a:lstStyle/>
          <a:p>
            <a:pPr marL="285750" indent="-285750">
              <a:buFont typeface="Wingdings" panose="05000000000000000000" pitchFamily="2" charset="2"/>
              <a:buChar char="§"/>
            </a:pPr>
            <a:r>
              <a:rPr lang="en-IN" dirty="0"/>
              <a:t>Agentic Ai</a:t>
            </a:r>
          </a:p>
          <a:p>
            <a:endParaRPr lang="en-IN" dirty="0"/>
          </a:p>
          <a:p>
            <a:pPr>
              <a:lnSpc>
                <a:spcPct val="120000"/>
              </a:lnSpc>
            </a:pPr>
            <a:r>
              <a:rPr lang="en-US" dirty="0">
                <a:solidFill>
                  <a:srgbClr val="1E2761"/>
                </a:solidFill>
                <a:latin typeface="Calibri" pitchFamily="34" charset="0"/>
                <a:ea typeface="Calibri" pitchFamily="34" charset="-122"/>
                <a:cs typeface="Calibri" pitchFamily="34" charset="-120"/>
              </a:rPr>
              <a:t>This is an LLM plus tools, memory, and a loop. It can search, call APIs, check its own results, and keep working until the goal is actually done.</a:t>
            </a:r>
            <a:endParaRPr lang="en-US" dirty="0"/>
          </a:p>
          <a:p>
            <a:endParaRPr lang="en-IN" dirty="0"/>
          </a:p>
          <a:p>
            <a:endParaRPr lang="en-IN" dirty="0"/>
          </a:p>
        </p:txBody>
      </p:sp>
      <p:sp>
        <p:nvSpPr>
          <p:cNvPr id="16" name="TextBox 15">
            <a:extLst>
              <a:ext uri="{FF2B5EF4-FFF2-40B4-BE49-F238E27FC236}">
                <a16:creationId xmlns:a16="http://schemas.microsoft.com/office/drawing/2014/main" id="{3F25D9CC-1C6B-7396-AB50-8A351EA63F08}"/>
              </a:ext>
            </a:extLst>
          </p:cNvPr>
          <p:cNvSpPr txBox="1"/>
          <p:nvPr/>
        </p:nvSpPr>
        <p:spPr>
          <a:xfrm>
            <a:off x="453957" y="4850859"/>
            <a:ext cx="3190672" cy="830997"/>
          </a:xfrm>
          <a:prstGeom prst="rect">
            <a:avLst/>
          </a:prstGeom>
          <a:noFill/>
        </p:spPr>
        <p:txBody>
          <a:bodyPr wrap="square" rtlCol="0">
            <a:spAutoFit/>
          </a:bodyPr>
          <a:lstStyle/>
          <a:p>
            <a:r>
              <a:rPr lang="en-IN" sz="1400" b="1" dirty="0"/>
              <a:t>Example</a:t>
            </a:r>
          </a:p>
          <a:p>
            <a:endParaRPr lang="en-IN" dirty="0"/>
          </a:p>
          <a:p>
            <a:r>
              <a:rPr lang="en-IN" sz="1600" i="1" dirty="0"/>
              <a:t>“Explain how flight booking works”</a:t>
            </a:r>
          </a:p>
        </p:txBody>
      </p:sp>
      <p:sp>
        <p:nvSpPr>
          <p:cNvPr id="18" name="TextBox 17">
            <a:extLst>
              <a:ext uri="{FF2B5EF4-FFF2-40B4-BE49-F238E27FC236}">
                <a16:creationId xmlns:a16="http://schemas.microsoft.com/office/drawing/2014/main" id="{FFB6FCBD-3D05-8B03-2D6F-40FC90F7C176}"/>
              </a:ext>
            </a:extLst>
          </p:cNvPr>
          <p:cNvSpPr txBox="1"/>
          <p:nvPr/>
        </p:nvSpPr>
        <p:spPr>
          <a:xfrm>
            <a:off x="8547371" y="4850858"/>
            <a:ext cx="3190672" cy="830997"/>
          </a:xfrm>
          <a:prstGeom prst="rect">
            <a:avLst/>
          </a:prstGeom>
          <a:noFill/>
        </p:spPr>
        <p:txBody>
          <a:bodyPr wrap="square" rtlCol="0">
            <a:spAutoFit/>
          </a:bodyPr>
          <a:lstStyle/>
          <a:p>
            <a:r>
              <a:rPr lang="en-IN" sz="1400" b="1" dirty="0"/>
              <a:t>Example</a:t>
            </a:r>
          </a:p>
          <a:p>
            <a:endParaRPr lang="en-IN" dirty="0"/>
          </a:p>
          <a:p>
            <a:r>
              <a:rPr lang="en-US" sz="1600" i="1" dirty="0">
                <a:solidFill>
                  <a:srgbClr val="5B6B8C"/>
                </a:solidFill>
                <a:latin typeface="Calibri" pitchFamily="34" charset="0"/>
                <a:ea typeface="Calibri" pitchFamily="34" charset="-122"/>
                <a:cs typeface="Calibri" pitchFamily="34" charset="-120"/>
              </a:rPr>
              <a:t>“Actually, book the flight for me”</a:t>
            </a:r>
            <a:endParaRPr lang="en-US" sz="1600" dirty="0"/>
          </a:p>
        </p:txBody>
      </p:sp>
    </p:spTree>
    <p:extLst>
      <p:ext uri="{BB962C8B-B14F-4D97-AF65-F5344CB8AC3E}">
        <p14:creationId xmlns:p14="http://schemas.microsoft.com/office/powerpoint/2010/main" val="299446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5BE8-1E38-63B7-B51F-5BA3F7364A68}"/>
              </a:ext>
            </a:extLst>
          </p:cNvPr>
          <p:cNvSpPr>
            <a:spLocks noGrp="1"/>
          </p:cNvSpPr>
          <p:nvPr>
            <p:ph type="title"/>
          </p:nvPr>
        </p:nvSpPr>
        <p:spPr>
          <a:xfrm>
            <a:off x="838200" y="365127"/>
            <a:ext cx="10515600" cy="1123205"/>
          </a:xfrm>
        </p:spPr>
        <p:txBody>
          <a:bodyPr>
            <a:normAutofit/>
          </a:bodyPr>
          <a:lstStyle/>
          <a:p>
            <a:r>
              <a:rPr lang="en-IN" sz="3600" dirty="0"/>
              <a:t>Detailed explanation of the differences</a:t>
            </a:r>
          </a:p>
        </p:txBody>
      </p:sp>
      <p:sp>
        <p:nvSpPr>
          <p:cNvPr id="3" name="Content Placeholder 2">
            <a:extLst>
              <a:ext uri="{FF2B5EF4-FFF2-40B4-BE49-F238E27FC236}">
                <a16:creationId xmlns:a16="http://schemas.microsoft.com/office/drawing/2014/main" id="{7E8ED3BF-50B2-DD09-3111-7EF62AE3A0FC}"/>
              </a:ext>
            </a:extLst>
          </p:cNvPr>
          <p:cNvSpPr>
            <a:spLocks noGrp="1"/>
          </p:cNvSpPr>
          <p:nvPr>
            <p:ph idx="1"/>
          </p:nvPr>
        </p:nvSpPr>
        <p:spPr>
          <a:xfrm>
            <a:off x="838200" y="1566153"/>
            <a:ext cx="10515600" cy="4926720"/>
          </a:xfrm>
        </p:spPr>
        <p:txBody>
          <a:bodyPr>
            <a:normAutofit/>
          </a:bodyPr>
          <a:lstStyle/>
          <a:p>
            <a:pPr>
              <a:buNone/>
            </a:pPr>
            <a:r>
              <a:rPr lang="en-IN" sz="1600" b="1" dirty="0"/>
              <a:t>1. LLM (Large Language Model)</a:t>
            </a:r>
          </a:p>
          <a:p>
            <a:pPr>
              <a:buNone/>
            </a:pPr>
            <a:r>
              <a:rPr lang="en-IN" sz="1600" dirty="0"/>
              <a:t>An LLM only predicts the next token based on what it learned during training.</a:t>
            </a:r>
          </a:p>
          <a:p>
            <a:pPr>
              <a:buNone/>
            </a:pPr>
            <a:endParaRPr lang="en-IN" sz="1600" dirty="0"/>
          </a:p>
          <a:p>
            <a:pPr>
              <a:buNone/>
            </a:pPr>
            <a:r>
              <a:rPr lang="en-IN" sz="1600" b="1" dirty="0"/>
              <a:t>Example:</a:t>
            </a:r>
            <a:endParaRPr lang="en-IN" sz="1600" dirty="0"/>
          </a:p>
          <a:p>
            <a:pPr>
              <a:buNone/>
            </a:pPr>
            <a:r>
              <a:rPr lang="en-IN" sz="1600" dirty="0"/>
              <a:t>User Asks</a:t>
            </a:r>
          </a:p>
          <a:p>
            <a:pPr>
              <a:buNone/>
            </a:pPr>
            <a:r>
              <a:rPr lang="en-IN" sz="1600" dirty="0"/>
              <a:t>What is React?</a:t>
            </a:r>
          </a:p>
          <a:p>
            <a:pPr marL="0" indent="0">
              <a:buNone/>
            </a:pPr>
            <a:r>
              <a:rPr lang="en-IN" sz="1600" dirty="0"/>
              <a:t>And now the model answers from its training data.</a:t>
            </a:r>
          </a:p>
          <a:p>
            <a:pPr marL="0" indent="0">
              <a:buNone/>
            </a:pPr>
            <a:endParaRPr lang="en-IN" sz="1600" dirty="0"/>
          </a:p>
          <a:p>
            <a:pPr marL="0" indent="0">
              <a:buNone/>
            </a:pPr>
            <a:r>
              <a:rPr lang="en-IN" sz="1600" i="1" dirty="0"/>
              <a:t>So the flow is User =&gt; LLM =&gt; Answer(using general knowledge)</a:t>
            </a:r>
          </a:p>
          <a:p>
            <a:pPr marL="0" indent="0">
              <a:buNone/>
            </a:pPr>
            <a:endParaRPr lang="en-IN" sz="1600" dirty="0"/>
          </a:p>
          <a:p>
            <a:pPr marL="0" indent="0">
              <a:buNone/>
            </a:pPr>
            <a:r>
              <a:rPr lang="en-IN" sz="1600" b="1" dirty="0"/>
              <a:t>Problems:</a:t>
            </a:r>
            <a:endParaRPr lang="en-IN" sz="1600" dirty="0"/>
          </a:p>
          <a:p>
            <a:pPr marL="0" lvl="0" indent="0">
              <a:buNone/>
            </a:pPr>
            <a:r>
              <a:rPr lang="en-IN" sz="1600" dirty="0"/>
              <a:t>Knowledge can be outdated. </a:t>
            </a:r>
          </a:p>
          <a:p>
            <a:pPr marL="0" lvl="0" indent="0">
              <a:buNone/>
            </a:pPr>
            <a:r>
              <a:rPr lang="en-IN" sz="1600" dirty="0"/>
              <a:t>Doesn't know your project files. </a:t>
            </a:r>
          </a:p>
          <a:p>
            <a:pPr marL="0" lvl="0" indent="0">
              <a:buNone/>
            </a:pPr>
            <a:r>
              <a:rPr lang="en-IN" sz="1600" dirty="0"/>
              <a:t>Doesn't know private company data.</a:t>
            </a:r>
          </a:p>
          <a:p>
            <a:pPr marL="0" indent="0">
              <a:buNone/>
            </a:pPr>
            <a:endParaRPr lang="en-IN" dirty="0"/>
          </a:p>
        </p:txBody>
      </p:sp>
    </p:spTree>
    <p:extLst>
      <p:ext uri="{BB962C8B-B14F-4D97-AF65-F5344CB8AC3E}">
        <p14:creationId xmlns:p14="http://schemas.microsoft.com/office/powerpoint/2010/main" val="1659327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E42C89-6896-2D46-23E1-E17943DA6430}"/>
              </a:ext>
            </a:extLst>
          </p:cNvPr>
          <p:cNvSpPr>
            <a:spLocks noGrp="1"/>
          </p:cNvSpPr>
          <p:nvPr>
            <p:ph idx="1"/>
          </p:nvPr>
        </p:nvSpPr>
        <p:spPr>
          <a:xfrm>
            <a:off x="838200" y="466928"/>
            <a:ext cx="10515600" cy="5836595"/>
          </a:xfrm>
        </p:spPr>
        <p:txBody>
          <a:bodyPr>
            <a:normAutofit fontScale="25000" lnSpcReduction="20000"/>
          </a:bodyPr>
          <a:lstStyle/>
          <a:p>
            <a:pPr marL="0" indent="0">
              <a:buNone/>
            </a:pPr>
            <a:r>
              <a:rPr lang="en-IN" sz="6200" b="1" dirty="0"/>
              <a:t>2. RAG (Retrieval-Augmented Generation)</a:t>
            </a:r>
          </a:p>
          <a:p>
            <a:pPr marL="0" indent="0">
              <a:buNone/>
            </a:pPr>
            <a:r>
              <a:rPr lang="en-IN" sz="6200" dirty="0"/>
              <a:t>RAG adds a retrieval step before the LLM answers.</a:t>
            </a:r>
          </a:p>
          <a:p>
            <a:pPr marL="0" indent="0">
              <a:buNone/>
            </a:pPr>
            <a:endParaRPr lang="en-IN" sz="6200" dirty="0"/>
          </a:p>
          <a:p>
            <a:pPr marL="0" indent="0">
              <a:buNone/>
            </a:pPr>
            <a:r>
              <a:rPr lang="en-IN" sz="6200" b="1" dirty="0"/>
              <a:t>Example:</a:t>
            </a:r>
            <a:endParaRPr lang="en-IN" sz="6200" dirty="0"/>
          </a:p>
          <a:p>
            <a:pPr marL="0" indent="0">
              <a:buNone/>
            </a:pPr>
            <a:r>
              <a:rPr lang="en-IN" sz="6200" dirty="0"/>
              <a:t>You ask:</a:t>
            </a:r>
          </a:p>
          <a:p>
            <a:pPr marL="0" indent="0">
              <a:buNone/>
            </a:pPr>
            <a:r>
              <a:rPr lang="en-IN" sz="6200" dirty="0"/>
              <a:t>Explain the authentication flow in my project.</a:t>
            </a:r>
          </a:p>
          <a:p>
            <a:pPr marL="0" indent="0">
              <a:buNone/>
            </a:pPr>
            <a:r>
              <a:rPr lang="en-IN" sz="6200" dirty="0"/>
              <a:t>System:</a:t>
            </a:r>
          </a:p>
          <a:p>
            <a:pPr marL="0" lvl="0" indent="0">
              <a:buNone/>
            </a:pPr>
            <a:r>
              <a:rPr lang="en-IN" sz="6200" dirty="0"/>
              <a:t>Searches project files/vector database and retrieves relevant code chunks, and then sends them to the LLM. </a:t>
            </a:r>
          </a:p>
          <a:p>
            <a:pPr marL="0" lvl="0" indent="0">
              <a:buNone/>
            </a:pPr>
            <a:r>
              <a:rPr lang="en-IN" sz="6200" dirty="0"/>
              <a:t>LLM now answers using those chunks. </a:t>
            </a:r>
          </a:p>
          <a:p>
            <a:pPr marL="0" lvl="0" indent="0">
              <a:buNone/>
            </a:pPr>
            <a:endParaRPr lang="en-IN" sz="6200" dirty="0"/>
          </a:p>
          <a:p>
            <a:pPr marL="0" lvl="0" indent="0">
              <a:buNone/>
            </a:pPr>
            <a:r>
              <a:rPr lang="en-IN" sz="6200" i="1" dirty="0"/>
              <a:t>So the flow is User=&gt; Retriever =&gt; Relevant documents =&gt; LLM =&gt; Answer</a:t>
            </a:r>
          </a:p>
          <a:p>
            <a:pPr marL="0" indent="0">
              <a:buNone/>
            </a:pPr>
            <a:endParaRPr lang="en-IN" sz="6200" dirty="0"/>
          </a:p>
          <a:p>
            <a:pPr marL="0" indent="0">
              <a:buNone/>
            </a:pPr>
            <a:r>
              <a:rPr lang="en-IN" sz="6200" dirty="0"/>
              <a:t>This is exactly what I built in my vector-search project</a:t>
            </a:r>
          </a:p>
          <a:p>
            <a:pPr marL="0" lvl="0" indent="0">
              <a:buNone/>
            </a:pPr>
            <a:r>
              <a:rPr lang="en-IN" sz="6200" dirty="0"/>
              <a:t>Documents are first converted into chunks and stored in Neon DB</a:t>
            </a:r>
          </a:p>
          <a:p>
            <a:pPr marL="0" lvl="0" indent="0">
              <a:buNone/>
            </a:pPr>
            <a:r>
              <a:rPr lang="en-IN" sz="6200" dirty="0"/>
              <a:t>Each chunk has a vector(384) embeddings </a:t>
            </a:r>
          </a:p>
          <a:p>
            <a:pPr marL="0" lvl="0" indent="0">
              <a:buNone/>
            </a:pPr>
            <a:r>
              <a:rPr lang="en-IN" sz="6200" dirty="0"/>
              <a:t>A user asks a query, an Api converts it into a vector, and now we do a simple vector search and fetch top k matching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6400" b="0" i="0" u="none" strike="noStrike" kern="1200" cap="none" spc="0" normalizeH="0" baseline="0" noProof="0" dirty="0">
                <a:ln>
                  <a:noFill/>
                </a:ln>
                <a:solidFill>
                  <a:prstClr val="black"/>
                </a:solidFill>
                <a:effectLst/>
                <a:uLnTx/>
                <a:uFillTx/>
                <a:latin typeface="Aptos" panose="02110004020202020204"/>
                <a:ea typeface="+mn-ea"/>
                <a:cs typeface="+mn-cs"/>
              </a:rPr>
              <a:t>chunks from our DB.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sz="6400" dirty="0">
                <a:solidFill>
                  <a:prstClr val="black"/>
                </a:solidFill>
                <a:latin typeface="Aptos" panose="02110004020202020204"/>
              </a:rPr>
              <a:t>We send those chunks to an LLM which analyses those documents and gives the user a meaningful answer</a:t>
            </a:r>
            <a:endParaRPr kumimoji="0" lang="en-IN" sz="6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lvl="0" indent="0">
              <a:buNone/>
            </a:pPr>
            <a:endParaRPr lang="en-IN" dirty="0"/>
          </a:p>
        </p:txBody>
      </p:sp>
    </p:spTree>
    <p:extLst>
      <p:ext uri="{BB962C8B-B14F-4D97-AF65-F5344CB8AC3E}">
        <p14:creationId xmlns:p14="http://schemas.microsoft.com/office/powerpoint/2010/main" val="280115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E1AB9B-E914-872E-F936-A6F066220545}"/>
              </a:ext>
            </a:extLst>
          </p:cNvPr>
          <p:cNvSpPr>
            <a:spLocks noGrp="1"/>
          </p:cNvSpPr>
          <p:nvPr>
            <p:ph idx="1"/>
          </p:nvPr>
        </p:nvSpPr>
        <p:spPr>
          <a:xfrm>
            <a:off x="838200" y="223736"/>
            <a:ext cx="10515600" cy="6410528"/>
          </a:xfrm>
        </p:spPr>
        <p:txBody>
          <a:bodyPr/>
          <a:lstStyle/>
          <a:p>
            <a:pPr marL="0" indent="0">
              <a:buNone/>
            </a:pPr>
            <a:r>
              <a:rPr lang="en-IN" sz="1600" b="1" dirty="0"/>
              <a:t>3. Agentic AI</a:t>
            </a:r>
          </a:p>
          <a:p>
            <a:pPr marL="0" indent="0">
              <a:buNone/>
            </a:pPr>
            <a:r>
              <a:rPr lang="en-IN" sz="1600" b="1" dirty="0"/>
              <a:t>Definition: </a:t>
            </a:r>
            <a:r>
              <a:rPr lang="en-US" sz="1600" dirty="0"/>
              <a:t>Agentic AI refers to artificial intelligence systems that can autonomously make decisions, plan multi-step actions, and use tools to achieve specific goals with minimal human supervision</a:t>
            </a:r>
            <a:endParaRPr lang="en-IN" sz="1600" dirty="0"/>
          </a:p>
          <a:p>
            <a:pPr marL="0" indent="0">
              <a:buNone/>
            </a:pPr>
            <a:r>
              <a:rPr lang="en-IN" sz="1600" dirty="0"/>
              <a:t>It can decide what steps are needed, use tools, call APIs , read/write files, execute code and iterate until a goal is completed </a:t>
            </a:r>
          </a:p>
          <a:p>
            <a:pPr marL="0" indent="0">
              <a:buNone/>
            </a:pPr>
            <a:r>
              <a:rPr lang="en-IN" sz="1600" b="1" dirty="0"/>
              <a:t>Example:</a:t>
            </a:r>
            <a:endParaRPr lang="en-IN" sz="1600" dirty="0"/>
          </a:p>
          <a:p>
            <a:pPr marL="0" indent="0">
              <a:buNone/>
            </a:pPr>
            <a:r>
              <a:rPr lang="en-IN" sz="1600" dirty="0"/>
              <a:t>You ask:</a:t>
            </a:r>
          </a:p>
          <a:p>
            <a:pPr marL="0" indent="0">
              <a:buNone/>
            </a:pPr>
            <a:r>
              <a:rPr lang="en-IN" sz="1600" dirty="0"/>
              <a:t>Create a documentation explaining my project.</a:t>
            </a:r>
          </a:p>
          <a:p>
            <a:pPr marL="0" indent="0">
              <a:buNone/>
            </a:pPr>
            <a:r>
              <a:rPr lang="en-US" sz="1600" dirty="0"/>
              <a:t>An Ai agent then</a:t>
            </a:r>
          </a:p>
          <a:p>
            <a:r>
              <a:rPr lang="en-US" sz="1600" dirty="0"/>
              <a:t>Reads the source code. </a:t>
            </a:r>
          </a:p>
          <a:p>
            <a:r>
              <a:rPr lang="en-US" sz="1600" dirty="0"/>
              <a:t>Reads the README file. </a:t>
            </a:r>
          </a:p>
          <a:p>
            <a:r>
              <a:rPr lang="en-US" sz="1600" dirty="0"/>
              <a:t>Identifies architecture. </a:t>
            </a:r>
          </a:p>
          <a:p>
            <a:r>
              <a:rPr lang="en-US" sz="1600" dirty="0"/>
              <a:t>Generates report content. </a:t>
            </a:r>
          </a:p>
          <a:p>
            <a:r>
              <a:rPr lang="en-US" sz="1600" dirty="0"/>
              <a:t>Creates .txt file. </a:t>
            </a:r>
          </a:p>
          <a:p>
            <a:r>
              <a:rPr lang="en-US" sz="1600" dirty="0"/>
              <a:t>Saves it. </a:t>
            </a:r>
          </a:p>
          <a:p>
            <a:r>
              <a:rPr lang="en-US" sz="1600" dirty="0"/>
              <a:t>Verify the file content for any error. </a:t>
            </a:r>
          </a:p>
          <a:p>
            <a:r>
              <a:rPr lang="en-US" sz="1600" dirty="0"/>
              <a:t>And then notifies the user about the completion of his task</a:t>
            </a:r>
          </a:p>
          <a:p>
            <a:pPr marL="0" indent="0">
              <a:buNone/>
            </a:pPr>
            <a:endParaRPr lang="en-IN" sz="1600" dirty="0"/>
          </a:p>
          <a:p>
            <a:pPr marL="0" indent="0">
              <a:buNone/>
            </a:pPr>
            <a:endParaRPr lang="en-IN" dirty="0"/>
          </a:p>
        </p:txBody>
      </p:sp>
    </p:spTree>
    <p:extLst>
      <p:ext uri="{BB962C8B-B14F-4D97-AF65-F5344CB8AC3E}">
        <p14:creationId xmlns:p14="http://schemas.microsoft.com/office/powerpoint/2010/main" val="3525492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0">
            <a:extLst>
              <a:ext uri="{FF2B5EF4-FFF2-40B4-BE49-F238E27FC236}">
                <a16:creationId xmlns:a16="http://schemas.microsoft.com/office/drawing/2014/main" id="{E8A8D47D-CD38-47B1-A983-4AC318B635E1}"/>
              </a:ext>
            </a:extLst>
          </p:cNvPr>
          <p:cNvSpPr/>
          <p:nvPr/>
        </p:nvSpPr>
        <p:spPr>
          <a:xfrm>
            <a:off x="550164" y="868680"/>
            <a:ext cx="128016" cy="128016"/>
          </a:xfrm>
          <a:prstGeom prst="ellipse">
            <a:avLst/>
          </a:prstGeom>
          <a:solidFill>
            <a:srgbClr val="E8871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82" name="Text 2">
            <a:extLst>
              <a:ext uri="{FF2B5EF4-FFF2-40B4-BE49-F238E27FC236}">
                <a16:creationId xmlns:a16="http://schemas.microsoft.com/office/drawing/2014/main" id="{04E998EA-CF38-D7BB-B8A4-09706A0288F1}"/>
              </a:ext>
            </a:extLst>
          </p:cNvPr>
          <p:cNvSpPr txBox="1"/>
          <p:nvPr/>
        </p:nvSpPr>
        <p:spPr>
          <a:xfrm>
            <a:off x="551493" y="859536"/>
            <a:ext cx="11091672"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Architecture and Anatomy of an agent</a:t>
            </a:r>
            <a:endParaRPr kumimoji="0" lang="en-US" sz="3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83" name="Shape 3">
            <a:extLst>
              <a:ext uri="{FF2B5EF4-FFF2-40B4-BE49-F238E27FC236}">
                <a16:creationId xmlns:a16="http://schemas.microsoft.com/office/drawing/2014/main" id="{61856E58-04A1-698B-9D31-A2738830FBBE}"/>
              </a:ext>
            </a:extLst>
          </p:cNvPr>
          <p:cNvSpPr/>
          <p:nvPr/>
        </p:nvSpPr>
        <p:spPr>
          <a:xfrm>
            <a:off x="4482084" y="2011680"/>
            <a:ext cx="3200400" cy="640080"/>
          </a:xfrm>
          <a:prstGeom prst="roundRect">
            <a:avLst>
              <a:gd name="adj" fmla="val 11429"/>
            </a:avLst>
          </a:prstGeom>
          <a:solidFill>
            <a:srgbClr val="1E2761"/>
          </a:solidFill>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84" name="Text 4">
            <a:extLst>
              <a:ext uri="{FF2B5EF4-FFF2-40B4-BE49-F238E27FC236}">
                <a16:creationId xmlns:a16="http://schemas.microsoft.com/office/drawing/2014/main" id="{7455936A-65CE-548D-AF44-D5ACEB1CFEBB}"/>
              </a:ext>
            </a:extLst>
          </p:cNvPr>
          <p:cNvSpPr txBox="1"/>
          <p:nvPr/>
        </p:nvSpPr>
        <p:spPr>
          <a:xfrm>
            <a:off x="4482084" y="2176272"/>
            <a:ext cx="3200400" cy="3657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Goal / user input</a:t>
            </a:r>
            <a:endParaRPr kumimoji="0" lang="en-US" sz="1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85" name="Text 5">
            <a:extLst>
              <a:ext uri="{FF2B5EF4-FFF2-40B4-BE49-F238E27FC236}">
                <a16:creationId xmlns:a16="http://schemas.microsoft.com/office/drawing/2014/main" id="{B450D809-801B-4F8C-29EC-DBA3207636B3}"/>
              </a:ext>
            </a:extLst>
          </p:cNvPr>
          <p:cNvSpPr txBox="1"/>
          <p:nvPr/>
        </p:nvSpPr>
        <p:spPr>
          <a:xfrm>
            <a:off x="5908548" y="2670048"/>
            <a:ext cx="365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871E"/>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86" name="Shape 6">
            <a:extLst>
              <a:ext uri="{FF2B5EF4-FFF2-40B4-BE49-F238E27FC236}">
                <a16:creationId xmlns:a16="http://schemas.microsoft.com/office/drawing/2014/main" id="{1EE2C2D2-352F-8978-C2C8-5499BA35E733}"/>
              </a:ext>
            </a:extLst>
          </p:cNvPr>
          <p:cNvSpPr/>
          <p:nvPr/>
        </p:nvSpPr>
        <p:spPr>
          <a:xfrm>
            <a:off x="4207764" y="3017520"/>
            <a:ext cx="3749040" cy="822960"/>
          </a:xfrm>
          <a:prstGeom prst="roundRect">
            <a:avLst>
              <a:gd name="adj" fmla="val 8889"/>
            </a:avLst>
          </a:prstGeom>
          <a:solidFill>
            <a:srgbClr val="FFF3E6"/>
          </a:solidFill>
          <a:ln w="12700">
            <a:solidFill>
              <a:srgbClr val="E8871E"/>
            </a:solidFill>
            <a:prstDash val="solid"/>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87" name="Text 7">
            <a:extLst>
              <a:ext uri="{FF2B5EF4-FFF2-40B4-BE49-F238E27FC236}">
                <a16:creationId xmlns:a16="http://schemas.microsoft.com/office/drawing/2014/main" id="{F6142E7C-7787-7F7D-E1FA-7CB44F4F9D03}"/>
              </a:ext>
            </a:extLst>
          </p:cNvPr>
          <p:cNvSpPr txBox="1"/>
          <p:nvPr/>
        </p:nvSpPr>
        <p:spPr>
          <a:xfrm>
            <a:off x="4207764" y="3145536"/>
            <a:ext cx="3749040"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Brain (LLM + planner)</a:t>
            </a:r>
            <a:endParaRPr kumimoji="0" lang="en-US" sz="15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88" name="Text 8">
            <a:extLst>
              <a:ext uri="{FF2B5EF4-FFF2-40B4-BE49-F238E27FC236}">
                <a16:creationId xmlns:a16="http://schemas.microsoft.com/office/drawing/2014/main" id="{613F43AF-F4E0-9E62-9B78-20E89D2CE605}"/>
              </a:ext>
            </a:extLst>
          </p:cNvPr>
          <p:cNvSpPr txBox="1"/>
          <p:nvPr/>
        </p:nvSpPr>
        <p:spPr>
          <a:xfrm>
            <a:off x="4207764" y="3474720"/>
            <a:ext cx="374904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decides what to do next</a:t>
            </a:r>
            <a:endParaRPr kumimoji="0" lang="en-US" sz="11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89" name="Shape 9">
            <a:extLst>
              <a:ext uri="{FF2B5EF4-FFF2-40B4-BE49-F238E27FC236}">
                <a16:creationId xmlns:a16="http://schemas.microsoft.com/office/drawing/2014/main" id="{1FDB8EC1-C0B6-556A-0641-85724E318918}"/>
              </a:ext>
            </a:extLst>
          </p:cNvPr>
          <p:cNvSpPr/>
          <p:nvPr/>
        </p:nvSpPr>
        <p:spPr>
          <a:xfrm>
            <a:off x="550164" y="3017520"/>
            <a:ext cx="2926080" cy="822960"/>
          </a:xfrm>
          <a:prstGeom prst="roundRect">
            <a:avLst>
              <a:gd name="adj" fmla="val 8889"/>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90" name="Text 10">
            <a:extLst>
              <a:ext uri="{FF2B5EF4-FFF2-40B4-BE49-F238E27FC236}">
                <a16:creationId xmlns:a16="http://schemas.microsoft.com/office/drawing/2014/main" id="{A689D3CB-E62D-4298-FE6F-7DEAB4499436}"/>
              </a:ext>
            </a:extLst>
          </p:cNvPr>
          <p:cNvSpPr txBox="1"/>
          <p:nvPr/>
        </p:nvSpPr>
        <p:spPr>
          <a:xfrm>
            <a:off x="550164" y="3145536"/>
            <a:ext cx="2926080"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Memory</a:t>
            </a:r>
            <a:endParaRPr kumimoji="0" lang="en-US" sz="15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1" name="Text 11">
            <a:extLst>
              <a:ext uri="{FF2B5EF4-FFF2-40B4-BE49-F238E27FC236}">
                <a16:creationId xmlns:a16="http://schemas.microsoft.com/office/drawing/2014/main" id="{643966EB-89EF-5DCE-3670-99C063DD9E37}"/>
              </a:ext>
            </a:extLst>
          </p:cNvPr>
          <p:cNvSpPr txBox="1"/>
          <p:nvPr/>
        </p:nvSpPr>
        <p:spPr>
          <a:xfrm>
            <a:off x="550164" y="3474720"/>
            <a:ext cx="292608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state, history, preferences</a:t>
            </a:r>
            <a:endParaRPr kumimoji="0" lang="en-US" sz="11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2" name="Text 12">
            <a:extLst>
              <a:ext uri="{FF2B5EF4-FFF2-40B4-BE49-F238E27FC236}">
                <a16:creationId xmlns:a16="http://schemas.microsoft.com/office/drawing/2014/main" id="{71A27B03-6160-99F7-0F7F-DFA9A9A060B7}"/>
              </a:ext>
            </a:extLst>
          </p:cNvPr>
          <p:cNvSpPr txBox="1"/>
          <p:nvPr/>
        </p:nvSpPr>
        <p:spPr>
          <a:xfrm>
            <a:off x="3494532" y="3246120"/>
            <a:ext cx="694944"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871E"/>
                </a:solidFill>
                <a:effectLst/>
                <a:uLnTx/>
                <a:uFillTx/>
                <a:latin typeface="Calibri"/>
                <a:ea typeface="+mn-ea"/>
                <a:cs typeface="+mn-cs"/>
              </a:rPr>
              <a:t>↔</a:t>
            </a: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3" name="Text 13">
            <a:extLst>
              <a:ext uri="{FF2B5EF4-FFF2-40B4-BE49-F238E27FC236}">
                <a16:creationId xmlns:a16="http://schemas.microsoft.com/office/drawing/2014/main" id="{9496E880-0F25-0D3D-B347-B3DCC25D2BE5}"/>
              </a:ext>
            </a:extLst>
          </p:cNvPr>
          <p:cNvSpPr txBox="1"/>
          <p:nvPr/>
        </p:nvSpPr>
        <p:spPr>
          <a:xfrm>
            <a:off x="5908548" y="3858768"/>
            <a:ext cx="365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871E"/>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4" name="Shape 14">
            <a:extLst>
              <a:ext uri="{FF2B5EF4-FFF2-40B4-BE49-F238E27FC236}">
                <a16:creationId xmlns:a16="http://schemas.microsoft.com/office/drawing/2014/main" id="{DB5760D3-0237-FBA5-72C1-A2665D605630}"/>
              </a:ext>
            </a:extLst>
          </p:cNvPr>
          <p:cNvSpPr/>
          <p:nvPr/>
        </p:nvSpPr>
        <p:spPr>
          <a:xfrm>
            <a:off x="4207764" y="4251960"/>
            <a:ext cx="3749040" cy="685800"/>
          </a:xfrm>
          <a:prstGeom prst="roundRect">
            <a:avLst>
              <a:gd name="adj" fmla="val 10667"/>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95" name="Text 15">
            <a:extLst>
              <a:ext uri="{FF2B5EF4-FFF2-40B4-BE49-F238E27FC236}">
                <a16:creationId xmlns:a16="http://schemas.microsoft.com/office/drawing/2014/main" id="{6D841F57-6824-97C8-CEFD-48C2F2E60453}"/>
              </a:ext>
            </a:extLst>
          </p:cNvPr>
          <p:cNvSpPr txBox="1"/>
          <p:nvPr/>
        </p:nvSpPr>
        <p:spPr>
          <a:xfrm>
            <a:off x="4207764" y="4343400"/>
            <a:ext cx="374904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Tool executor</a:t>
            </a:r>
            <a:endParaRPr kumimoji="0" lang="en-US" sz="1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6" name="Text 16">
            <a:extLst>
              <a:ext uri="{FF2B5EF4-FFF2-40B4-BE49-F238E27FC236}">
                <a16:creationId xmlns:a16="http://schemas.microsoft.com/office/drawing/2014/main" id="{4849D800-7D95-8C01-81A1-5123E168A2BF}"/>
              </a:ext>
            </a:extLst>
          </p:cNvPr>
          <p:cNvSpPr txBox="1"/>
          <p:nvPr/>
        </p:nvSpPr>
        <p:spPr>
          <a:xfrm>
            <a:off x="4207764" y="4636008"/>
            <a:ext cx="374904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your code,  decides what's allowed to run</a:t>
            </a:r>
            <a:endParaRPr kumimoji="0" lang="en-US" sz="105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7" name="Text 17">
            <a:extLst>
              <a:ext uri="{FF2B5EF4-FFF2-40B4-BE49-F238E27FC236}">
                <a16:creationId xmlns:a16="http://schemas.microsoft.com/office/drawing/2014/main" id="{BAF2CE16-DA38-DA98-06F9-933D600A17B2}"/>
              </a:ext>
            </a:extLst>
          </p:cNvPr>
          <p:cNvSpPr txBox="1"/>
          <p:nvPr/>
        </p:nvSpPr>
        <p:spPr>
          <a:xfrm>
            <a:off x="5908548" y="4956048"/>
            <a:ext cx="365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871E"/>
                </a:solidFill>
                <a:effectLst/>
                <a:uLnTx/>
                <a:uFillTx/>
                <a:latin typeface="Calibri" pitchFamily="34" charset="0"/>
                <a:ea typeface="Calibri" pitchFamily="34" charset="-122"/>
                <a:cs typeface="Calibri" pitchFamily="34" charset="-120"/>
              </a:rPr>
              <a:t>↓</a:t>
            </a: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8" name="Shape 18">
            <a:extLst>
              <a:ext uri="{FF2B5EF4-FFF2-40B4-BE49-F238E27FC236}">
                <a16:creationId xmlns:a16="http://schemas.microsoft.com/office/drawing/2014/main" id="{29520036-BC00-298C-A1DC-B02A1249EAB6}"/>
              </a:ext>
            </a:extLst>
          </p:cNvPr>
          <p:cNvSpPr/>
          <p:nvPr/>
        </p:nvSpPr>
        <p:spPr>
          <a:xfrm>
            <a:off x="4207764" y="5330952"/>
            <a:ext cx="3749040" cy="640080"/>
          </a:xfrm>
          <a:prstGeom prst="roundRect">
            <a:avLst>
              <a:gd name="adj" fmla="val 11429"/>
            </a:avLst>
          </a:prstGeom>
          <a:solidFill>
            <a:srgbClr val="1E2761"/>
          </a:solidFill>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99" name="Text 19">
            <a:extLst>
              <a:ext uri="{FF2B5EF4-FFF2-40B4-BE49-F238E27FC236}">
                <a16:creationId xmlns:a16="http://schemas.microsoft.com/office/drawing/2014/main" id="{B16793C4-434E-7E46-E459-F320589B1768}"/>
              </a:ext>
            </a:extLst>
          </p:cNvPr>
          <p:cNvSpPr txBox="1"/>
          <p:nvPr/>
        </p:nvSpPr>
        <p:spPr>
          <a:xfrm>
            <a:off x="4207764" y="5477256"/>
            <a:ext cx="3749040" cy="3657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Tools &amp; APIs: search, calendar, database, code…</a:t>
            </a:r>
            <a:endParaRPr kumimoji="0" lang="en-US" sz="125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0" name="Shape 20">
            <a:extLst>
              <a:ext uri="{FF2B5EF4-FFF2-40B4-BE49-F238E27FC236}">
                <a16:creationId xmlns:a16="http://schemas.microsoft.com/office/drawing/2014/main" id="{DDC44189-F99D-97E7-65B8-065A98997ABE}"/>
              </a:ext>
            </a:extLst>
          </p:cNvPr>
          <p:cNvSpPr/>
          <p:nvPr/>
        </p:nvSpPr>
        <p:spPr>
          <a:xfrm>
            <a:off x="8734044" y="5330952"/>
            <a:ext cx="2880360" cy="640080"/>
          </a:xfrm>
          <a:prstGeom prst="roundRect">
            <a:avLst>
              <a:gd name="adj" fmla="val 11429"/>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101" name="Text 21">
            <a:extLst>
              <a:ext uri="{FF2B5EF4-FFF2-40B4-BE49-F238E27FC236}">
                <a16:creationId xmlns:a16="http://schemas.microsoft.com/office/drawing/2014/main" id="{92BC7504-BCF3-1D0B-517B-4386AACC9A29}"/>
              </a:ext>
            </a:extLst>
          </p:cNvPr>
          <p:cNvSpPr txBox="1"/>
          <p:nvPr/>
        </p:nvSpPr>
        <p:spPr>
          <a:xfrm>
            <a:off x="8734044" y="5422392"/>
            <a:ext cx="288036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Environment</a:t>
            </a:r>
            <a:endParaRPr kumimoji="0" lang="en-US" sz="1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2" name="Text 22">
            <a:extLst>
              <a:ext uri="{FF2B5EF4-FFF2-40B4-BE49-F238E27FC236}">
                <a16:creationId xmlns:a16="http://schemas.microsoft.com/office/drawing/2014/main" id="{8FDF2071-016C-AA3E-6998-8BDE7D21CF29}"/>
              </a:ext>
            </a:extLst>
          </p:cNvPr>
          <p:cNvSpPr txBox="1"/>
          <p:nvPr/>
        </p:nvSpPr>
        <p:spPr>
          <a:xfrm>
            <a:off x="8734044" y="5715000"/>
            <a:ext cx="288036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the real world</a:t>
            </a:r>
            <a:endParaRPr kumimoji="0" lang="en-US" sz="105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3" name="Text 23">
            <a:extLst>
              <a:ext uri="{FF2B5EF4-FFF2-40B4-BE49-F238E27FC236}">
                <a16:creationId xmlns:a16="http://schemas.microsoft.com/office/drawing/2014/main" id="{11D9C96D-3789-61DF-027C-C5995D0B0E44}"/>
              </a:ext>
            </a:extLst>
          </p:cNvPr>
          <p:cNvSpPr txBox="1"/>
          <p:nvPr/>
        </p:nvSpPr>
        <p:spPr>
          <a:xfrm>
            <a:off x="7975092" y="5486400"/>
            <a:ext cx="50292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871E"/>
                </a:solidFill>
                <a:effectLst/>
                <a:uLnTx/>
                <a:uFillTx/>
                <a:latin typeface="Calibri"/>
                <a:ea typeface="+mn-ea"/>
                <a:cs typeface="+mn-cs"/>
              </a:rPr>
              <a:t>→</a:t>
            </a:r>
            <a:endParaRPr kumimoji="0" lang="en-US"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4" name="Shape 24">
            <a:extLst>
              <a:ext uri="{FF2B5EF4-FFF2-40B4-BE49-F238E27FC236}">
                <a16:creationId xmlns:a16="http://schemas.microsoft.com/office/drawing/2014/main" id="{33162ECA-BCFA-039F-199A-74BD505737AF}"/>
              </a:ext>
            </a:extLst>
          </p:cNvPr>
          <p:cNvSpPr/>
          <p:nvPr/>
        </p:nvSpPr>
        <p:spPr>
          <a:xfrm flipV="1">
            <a:off x="8185404" y="3840480"/>
            <a:ext cx="0" cy="1097280"/>
          </a:xfrm>
          <a:prstGeom prst="line">
            <a:avLst/>
          </a:prstGeom>
          <a:noFill/>
          <a:ln w="19050">
            <a:solidFill>
              <a:srgbClr val="E8871E"/>
            </a:solidFill>
            <a:prstDash val="dash"/>
            <a:tailEnd type="triangle"/>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endParaRPr>
          </a:p>
        </p:txBody>
      </p:sp>
      <p:sp>
        <p:nvSpPr>
          <p:cNvPr id="105" name="Text 25">
            <a:extLst>
              <a:ext uri="{FF2B5EF4-FFF2-40B4-BE49-F238E27FC236}">
                <a16:creationId xmlns:a16="http://schemas.microsoft.com/office/drawing/2014/main" id="{A96B33ED-00C0-8EE3-A879-2DBA654768BC}"/>
              </a:ext>
            </a:extLst>
          </p:cNvPr>
          <p:cNvSpPr txBox="1"/>
          <p:nvPr/>
        </p:nvSpPr>
        <p:spPr>
          <a:xfrm>
            <a:off x="8295132" y="4251960"/>
            <a:ext cx="1005840" cy="320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feedback</a:t>
            </a:r>
            <a:endParaRPr kumimoji="0" lang="en-US" sz="10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036028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677D3-33B9-614B-9482-3C3768A1ABD6}"/>
              </a:ext>
            </a:extLst>
          </p:cNvPr>
          <p:cNvSpPr>
            <a:spLocks noGrp="1"/>
          </p:cNvSpPr>
          <p:nvPr>
            <p:ph type="title"/>
          </p:nvPr>
        </p:nvSpPr>
        <p:spPr>
          <a:xfrm>
            <a:off x="731195" y="1151895"/>
            <a:ext cx="10515600" cy="442269"/>
          </a:xfrm>
        </p:spPr>
        <p:txBody>
          <a:bodyPr>
            <a:normAutofit/>
          </a:bodyPr>
          <a:lstStyle/>
          <a:p>
            <a:pPr algn="ctr"/>
            <a:r>
              <a:rPr lang="en-IN" sz="1600" b="1" dirty="0"/>
              <a:t>How it runs</a:t>
            </a:r>
          </a:p>
        </p:txBody>
      </p:sp>
      <p:sp>
        <p:nvSpPr>
          <p:cNvPr id="3" name="Content Placeholder 2">
            <a:extLst>
              <a:ext uri="{FF2B5EF4-FFF2-40B4-BE49-F238E27FC236}">
                <a16:creationId xmlns:a16="http://schemas.microsoft.com/office/drawing/2014/main" id="{5B8AD056-76AC-9F15-267B-E35035D80466}"/>
              </a:ext>
            </a:extLst>
          </p:cNvPr>
          <p:cNvSpPr>
            <a:spLocks noGrp="1"/>
          </p:cNvSpPr>
          <p:nvPr>
            <p:ph idx="1"/>
          </p:nvPr>
        </p:nvSpPr>
        <p:spPr>
          <a:xfrm>
            <a:off x="838200" y="2905851"/>
            <a:ext cx="10515600" cy="3854872"/>
          </a:xfrm>
        </p:spPr>
        <p:txBody>
          <a:bodyPr>
            <a:normAutofit fontScale="92500"/>
          </a:bodyPr>
          <a:lstStyle/>
          <a:p>
            <a:pPr marL="0" indent="0">
              <a:buNone/>
            </a:pPr>
            <a:r>
              <a:rPr lang="en-US" sz="1600" b="1" kern="0" spc="100" dirty="0">
                <a:solidFill>
                  <a:srgbClr val="FF0000"/>
                </a:solidFill>
                <a:latin typeface="Calibri" pitchFamily="34" charset="0"/>
                <a:ea typeface="Calibri" pitchFamily="34" charset="-122"/>
                <a:cs typeface="Calibri" pitchFamily="34" charset="-120"/>
              </a:rPr>
              <a:t>WALKTHROUGH of how an Agentic AI loop works</a:t>
            </a:r>
          </a:p>
          <a:p>
            <a:pPr marL="0" indent="0">
              <a:buNone/>
            </a:pPr>
            <a:r>
              <a:rPr lang="en-US" sz="1600" b="1" kern="0" spc="100" dirty="0">
                <a:solidFill>
                  <a:srgbClr val="FF0000"/>
                </a:solidFill>
                <a:latin typeface="Calibri" pitchFamily="34" charset="0"/>
                <a:ea typeface="Calibri" pitchFamily="34" charset="-122"/>
                <a:cs typeface="Calibri" pitchFamily="34" charset="-120"/>
              </a:rPr>
              <a:t>ex: booking a flight</a:t>
            </a:r>
            <a:endParaRPr lang="en-US" sz="1600" dirty="0">
              <a:solidFill>
                <a:srgbClr val="FF0000"/>
              </a:solidFill>
            </a:endParaRPr>
          </a:p>
          <a:p>
            <a:pPr marL="0" indent="0">
              <a:buNone/>
            </a:pPr>
            <a:endParaRPr lang="en-US" sz="1600" dirty="0"/>
          </a:p>
          <a:p>
            <a:pPr marL="342900" indent="-342900">
              <a:buFont typeface="+mj-lt"/>
              <a:buAutoNum type="arabicPeriod"/>
            </a:pPr>
            <a:r>
              <a:rPr lang="en-US" sz="1600" dirty="0"/>
              <a:t>Observe: goal is to book a cheapest and fastest flight to Goa under ₹5,000, plus today's search results of all flights details</a:t>
            </a:r>
          </a:p>
          <a:p>
            <a:pPr marL="342900" indent="-342900">
              <a:buFont typeface="+mj-lt"/>
              <a:buAutoNum type="arabicPeriod"/>
            </a:pPr>
            <a:r>
              <a:rPr lang="en-US" sz="1600" dirty="0"/>
              <a:t>Think: the ₹4,200 IndiGo flight is the cheapest and fastest one that fits. If one flight is cheap but not fast or vice versa, the </a:t>
            </a:r>
          </a:p>
          <a:p>
            <a:pPr marL="0" indent="0">
              <a:buNone/>
            </a:pPr>
            <a:r>
              <a:rPr lang="en-US" sz="1600" dirty="0"/>
              <a:t>          agent decides/thinks what to do and takes most optimal flight which keep both time and cost in mind</a:t>
            </a:r>
          </a:p>
          <a:p>
            <a:pPr marL="342900" indent="-342900">
              <a:buFont typeface="+mj-lt"/>
              <a:buAutoNum type="arabicPeriod"/>
            </a:pPr>
            <a:r>
              <a:rPr lang="en-US" sz="1600" dirty="0"/>
              <a:t>Act: call bookFlight(flight_id)</a:t>
            </a:r>
          </a:p>
          <a:p>
            <a:pPr marL="342900" indent="-342900">
              <a:buFont typeface="+mj-lt"/>
              <a:buAutoNum type="arabicPeriod"/>
            </a:pPr>
            <a:r>
              <a:rPr lang="en-US" sz="1600" dirty="0"/>
              <a:t>Observe: booking confirmed, ticket number returned</a:t>
            </a:r>
          </a:p>
          <a:p>
            <a:pPr marL="342900" indent="-342900">
              <a:buFont typeface="+mj-lt"/>
              <a:buAutoNum type="arabicPeriod"/>
            </a:pPr>
            <a:r>
              <a:rPr lang="en-US" sz="1600" dirty="0"/>
              <a:t>Think: booking done, now add it to the calendar</a:t>
            </a:r>
          </a:p>
          <a:p>
            <a:pPr marL="342900" indent="-342900">
              <a:buFont typeface="+mj-lt"/>
              <a:buAutoNum type="arabicPeriod"/>
            </a:pPr>
            <a:r>
              <a:rPr lang="en-US" sz="1600" dirty="0"/>
              <a:t>Act: call addCalendarEvent(details)</a:t>
            </a:r>
          </a:p>
          <a:p>
            <a:pPr marL="342900" indent="-342900">
              <a:buFont typeface="+mj-lt"/>
              <a:buAutoNum type="arabicPeriod"/>
            </a:pPr>
            <a:r>
              <a:rPr lang="en-US" sz="1600" dirty="0"/>
              <a:t>Observe: event created → goal fully met → stop</a:t>
            </a:r>
          </a:p>
          <a:p>
            <a:pPr marL="0" indent="0">
              <a:buNone/>
            </a:pPr>
            <a:endParaRPr lang="en-IN" dirty="0"/>
          </a:p>
        </p:txBody>
      </p:sp>
      <p:sp>
        <p:nvSpPr>
          <p:cNvPr id="4" name="TextBox 3">
            <a:extLst>
              <a:ext uri="{FF2B5EF4-FFF2-40B4-BE49-F238E27FC236}">
                <a16:creationId xmlns:a16="http://schemas.microsoft.com/office/drawing/2014/main" id="{F5374F56-9532-34E0-5B4D-E1BE46D86A5B}"/>
              </a:ext>
            </a:extLst>
          </p:cNvPr>
          <p:cNvSpPr txBox="1"/>
          <p:nvPr/>
        </p:nvSpPr>
        <p:spPr>
          <a:xfrm>
            <a:off x="838200" y="1705522"/>
            <a:ext cx="9570396" cy="923330"/>
          </a:xfrm>
          <a:prstGeom prst="rect">
            <a:avLst/>
          </a:prstGeom>
          <a:noFill/>
        </p:spPr>
        <p:txBody>
          <a:bodyPr wrap="square" rtlCol="0">
            <a:spAutoFit/>
          </a:bodyPr>
          <a:lstStyle/>
          <a:p>
            <a:pPr algn="ctr"/>
            <a:r>
              <a:rPr lang="en-US" b="1" dirty="0">
                <a:solidFill>
                  <a:srgbClr val="1E2761"/>
                </a:solidFill>
                <a:latin typeface="Cambria" pitchFamily="34" charset="0"/>
                <a:ea typeface="Cambria" pitchFamily="34" charset="-122"/>
                <a:cs typeface="Cambria" pitchFamily="34" charset="-120"/>
              </a:rPr>
              <a:t>               The agent loop:  observe --&gt; think/plan --&gt; act --&gt; observe result --&gt; repeat</a:t>
            </a:r>
          </a:p>
          <a:p>
            <a:endParaRPr lang="en-US" b="1" dirty="0">
              <a:solidFill>
                <a:srgbClr val="1E2761"/>
              </a:solidFill>
              <a:latin typeface="Cambria" pitchFamily="34" charset="0"/>
              <a:ea typeface="Cambria" pitchFamily="34" charset="-122"/>
            </a:endParaRPr>
          </a:p>
          <a:p>
            <a:pPr algn="ctr"/>
            <a:r>
              <a:rPr lang="en-US" i="1" dirty="0">
                <a:solidFill>
                  <a:srgbClr val="5B6B8C"/>
                </a:solidFill>
                <a:latin typeface="Calibri" pitchFamily="34" charset="0"/>
                <a:ea typeface="Calibri" pitchFamily="34" charset="-122"/>
                <a:cs typeface="Calibri" pitchFamily="34" charset="-120"/>
              </a:rPr>
              <a:t>       repeats until the goal is met, or a limit / human check-in is reached</a:t>
            </a:r>
            <a:endParaRPr lang="en-US" dirty="0"/>
          </a:p>
        </p:txBody>
      </p:sp>
      <p:sp>
        <p:nvSpPr>
          <p:cNvPr id="5" name="TextBox 4">
            <a:extLst>
              <a:ext uri="{FF2B5EF4-FFF2-40B4-BE49-F238E27FC236}">
                <a16:creationId xmlns:a16="http://schemas.microsoft.com/office/drawing/2014/main" id="{DE49D4FE-BC1B-BE8F-DC75-046349585C3F}"/>
              </a:ext>
            </a:extLst>
          </p:cNvPr>
          <p:cNvSpPr txBox="1"/>
          <p:nvPr/>
        </p:nvSpPr>
        <p:spPr>
          <a:xfrm>
            <a:off x="731195" y="455762"/>
            <a:ext cx="10515600" cy="584775"/>
          </a:xfrm>
          <a:prstGeom prst="rect">
            <a:avLst/>
          </a:prstGeom>
          <a:noFill/>
        </p:spPr>
        <p:txBody>
          <a:bodyPr wrap="square" rtlCol="0">
            <a:spAutoFit/>
          </a:bodyPr>
          <a:lstStyle/>
          <a:p>
            <a:r>
              <a:rPr lang="en-IN" sz="1600" b="1" dirty="0"/>
              <a:t>An agentic AI loop is a repeating control structure where a large language model reasons about a goal, executes an action using tools, observes the output, and repeats the cycle until a stopping condition is met</a:t>
            </a:r>
          </a:p>
        </p:txBody>
      </p:sp>
    </p:spTree>
    <p:extLst>
      <p:ext uri="{BB962C8B-B14F-4D97-AF65-F5344CB8AC3E}">
        <p14:creationId xmlns:p14="http://schemas.microsoft.com/office/powerpoint/2010/main" val="410808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45F31F-1268-A0F4-2627-EE3DE6C7B1C3}"/>
              </a:ext>
            </a:extLst>
          </p:cNvPr>
          <p:cNvSpPr txBox="1"/>
          <p:nvPr/>
        </p:nvSpPr>
        <p:spPr>
          <a:xfrm>
            <a:off x="0" y="0"/>
            <a:ext cx="4708187" cy="369332"/>
          </a:xfrm>
          <a:prstGeom prst="rect">
            <a:avLst/>
          </a:prstGeom>
          <a:noFill/>
        </p:spPr>
        <p:txBody>
          <a:bodyPr wrap="square" rtlCol="0">
            <a:spAutoFit/>
          </a:bodyPr>
          <a:lstStyle/>
          <a:p>
            <a:r>
              <a:rPr lang="en-IN" dirty="0">
                <a:solidFill>
                  <a:schemeClr val="tx2">
                    <a:lumMod val="50000"/>
                    <a:lumOff val="50000"/>
                  </a:schemeClr>
                </a:solidFill>
              </a:rPr>
              <a:t>Taking Action</a:t>
            </a:r>
          </a:p>
        </p:txBody>
      </p:sp>
      <p:sp>
        <p:nvSpPr>
          <p:cNvPr id="3" name="TextBox 2">
            <a:extLst>
              <a:ext uri="{FF2B5EF4-FFF2-40B4-BE49-F238E27FC236}">
                <a16:creationId xmlns:a16="http://schemas.microsoft.com/office/drawing/2014/main" id="{3BD08061-B446-4998-2EDE-C760117A6033}"/>
              </a:ext>
            </a:extLst>
          </p:cNvPr>
          <p:cNvSpPr txBox="1"/>
          <p:nvPr/>
        </p:nvSpPr>
        <p:spPr>
          <a:xfrm>
            <a:off x="-1" y="486383"/>
            <a:ext cx="9435831" cy="523220"/>
          </a:xfrm>
          <a:prstGeom prst="rect">
            <a:avLst/>
          </a:prstGeom>
          <a:noFill/>
        </p:spPr>
        <p:txBody>
          <a:bodyPr wrap="square" rtlCol="0">
            <a:spAutoFit/>
          </a:bodyPr>
          <a:lstStyle/>
          <a:p>
            <a:r>
              <a:rPr lang="en-US" sz="2800" b="1" dirty="0">
                <a:solidFill>
                  <a:srgbClr val="1E2761"/>
                </a:solidFill>
                <a:latin typeface="Cambria" pitchFamily="34" charset="0"/>
                <a:ea typeface="Cambria" pitchFamily="34" charset="-122"/>
                <a:cs typeface="Cambria" pitchFamily="34" charset="-120"/>
              </a:rPr>
              <a:t>Tool/Function calling: how an agent actually does things</a:t>
            </a:r>
            <a:endParaRPr lang="en-US" sz="2800" dirty="0"/>
          </a:p>
        </p:txBody>
      </p:sp>
      <p:sp>
        <p:nvSpPr>
          <p:cNvPr id="4" name="Text 3">
            <a:extLst>
              <a:ext uri="{FF2B5EF4-FFF2-40B4-BE49-F238E27FC236}">
                <a16:creationId xmlns:a16="http://schemas.microsoft.com/office/drawing/2014/main" id="{3690F7EE-DB11-FBB3-4C2B-815A4184F48B}"/>
              </a:ext>
            </a:extLst>
          </p:cNvPr>
          <p:cNvSpPr txBox="1"/>
          <p:nvPr/>
        </p:nvSpPr>
        <p:spPr>
          <a:xfrm>
            <a:off x="240922" y="1296697"/>
            <a:ext cx="5212080" cy="18550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0000"/>
              </a:lnSpc>
              <a:buNone/>
            </a:pPr>
            <a:r>
              <a:rPr lang="en-US" sz="1600" dirty="0">
                <a:solidFill>
                  <a:srgbClr val="1E2761"/>
                </a:solidFill>
                <a:latin typeface="Calibri" pitchFamily="34" charset="0"/>
                <a:ea typeface="Calibri" pitchFamily="34" charset="-122"/>
                <a:cs typeface="Calibri" pitchFamily="34" charset="-120"/>
              </a:rPr>
              <a:t>The model can't touch a database or hit an API directly. Instead, it outputs a structured request which contain a tool name and arguments in a fixed format. Your code reads that request, decides whether to run it, executes the real function, and feeds the result back into the conversation as new context.</a:t>
            </a:r>
            <a:endParaRPr lang="en-US" sz="1600" dirty="0"/>
          </a:p>
        </p:txBody>
      </p:sp>
      <p:sp>
        <p:nvSpPr>
          <p:cNvPr id="6" name="TextBox 5">
            <a:extLst>
              <a:ext uri="{FF2B5EF4-FFF2-40B4-BE49-F238E27FC236}">
                <a16:creationId xmlns:a16="http://schemas.microsoft.com/office/drawing/2014/main" id="{57BB164C-D395-15B4-F484-0C34AA7DD3CE}"/>
              </a:ext>
            </a:extLst>
          </p:cNvPr>
          <p:cNvSpPr txBox="1"/>
          <p:nvPr/>
        </p:nvSpPr>
        <p:spPr>
          <a:xfrm>
            <a:off x="240922" y="3429000"/>
            <a:ext cx="5212080" cy="1631216"/>
          </a:xfrm>
          <a:prstGeom prst="rect">
            <a:avLst/>
          </a:prstGeom>
          <a:noFill/>
        </p:spPr>
        <p:txBody>
          <a:bodyPr wrap="square">
            <a:spAutoFit/>
          </a:bodyPr>
          <a:lstStyle/>
          <a:p>
            <a:pPr marL="177800" indent="-177800">
              <a:spcAft>
                <a:spcPts val="800"/>
              </a:spcAft>
              <a:buSzPct val="100000"/>
              <a:buChar char="●"/>
            </a:pPr>
            <a:r>
              <a:rPr lang="en-US" sz="2000" dirty="0">
                <a:solidFill>
                  <a:srgbClr val="1E2761"/>
                </a:solidFill>
                <a:latin typeface="Calibri" pitchFamily="34" charset="0"/>
                <a:ea typeface="Calibri" pitchFamily="34" charset="-122"/>
                <a:cs typeface="Calibri" pitchFamily="34" charset="-120"/>
              </a:rPr>
              <a:t>Model decides: “I need flight prices”</a:t>
            </a:r>
            <a:endParaRPr lang="en-US" sz="2000" dirty="0"/>
          </a:p>
          <a:p>
            <a:pPr marL="177800" indent="-177800">
              <a:spcAft>
                <a:spcPts val="800"/>
              </a:spcAft>
              <a:buSzPct val="100000"/>
              <a:buChar char="●"/>
            </a:pPr>
            <a:r>
              <a:rPr lang="en-US" sz="2000" dirty="0">
                <a:solidFill>
                  <a:srgbClr val="1E2761"/>
                </a:solidFill>
                <a:latin typeface="Calibri" pitchFamily="34" charset="0"/>
                <a:ea typeface="Calibri" pitchFamily="34" charset="-122"/>
                <a:cs typeface="Calibri" pitchFamily="34" charset="-120"/>
              </a:rPr>
              <a:t>Model outputs a structured call, not free text</a:t>
            </a:r>
            <a:endParaRPr lang="en-US" sz="2000" dirty="0"/>
          </a:p>
          <a:p>
            <a:pPr marL="177800" indent="-177800">
              <a:spcAft>
                <a:spcPts val="800"/>
              </a:spcAft>
              <a:buSzPct val="100000"/>
              <a:buChar char="●"/>
            </a:pPr>
            <a:r>
              <a:rPr lang="en-US" sz="2000" dirty="0">
                <a:solidFill>
                  <a:srgbClr val="1E2761"/>
                </a:solidFill>
                <a:latin typeface="Calibri" pitchFamily="34" charset="0"/>
                <a:ea typeface="Calibri" pitchFamily="34" charset="-122"/>
                <a:cs typeface="Calibri" pitchFamily="34" charset="-120"/>
              </a:rPr>
              <a:t>Your code validates and executes it</a:t>
            </a:r>
            <a:endParaRPr lang="en-US" sz="2000" dirty="0"/>
          </a:p>
          <a:p>
            <a:pPr marL="177800" indent="-177800">
              <a:spcAft>
                <a:spcPts val="800"/>
              </a:spcAft>
              <a:buSzPct val="100000"/>
              <a:buChar char="●"/>
            </a:pPr>
            <a:r>
              <a:rPr lang="en-US" sz="2000" dirty="0">
                <a:solidFill>
                  <a:srgbClr val="1E2761"/>
                </a:solidFill>
                <a:latin typeface="Calibri" pitchFamily="34" charset="0"/>
                <a:ea typeface="Calibri" pitchFamily="34" charset="-122"/>
                <a:cs typeface="Calibri" pitchFamily="34" charset="-120"/>
              </a:rPr>
              <a:t>The real result goes back into context</a:t>
            </a:r>
            <a:endParaRPr lang="en-US" sz="2000" dirty="0"/>
          </a:p>
        </p:txBody>
      </p:sp>
      <p:sp>
        <p:nvSpPr>
          <p:cNvPr id="7" name="Shape 5">
            <a:extLst>
              <a:ext uri="{FF2B5EF4-FFF2-40B4-BE49-F238E27FC236}">
                <a16:creationId xmlns:a16="http://schemas.microsoft.com/office/drawing/2014/main" id="{E45BCC09-D2D4-6B28-1438-7DDFDA86770F}"/>
              </a:ext>
            </a:extLst>
          </p:cNvPr>
          <p:cNvSpPr/>
          <p:nvPr/>
        </p:nvSpPr>
        <p:spPr>
          <a:xfrm>
            <a:off x="6739000" y="1126654"/>
            <a:ext cx="4843400" cy="5561303"/>
          </a:xfrm>
          <a:prstGeom prst="roundRect">
            <a:avLst>
              <a:gd name="adj" fmla="val 2805"/>
            </a:avLst>
          </a:prstGeom>
          <a:solidFill>
            <a:srgbClr val="1B2A4A"/>
          </a:solidFill>
          <a:ln/>
          <a:effectLst>
            <a:outerShdw blurRad="76200" dist="25400" dir="5400000" algn="bl" rotWithShape="0">
              <a:srgbClr val="44546A">
                <a:alpha val="18000"/>
              </a:srgbClr>
            </a:outerShdw>
          </a:effectLst>
        </p:spPr>
        <p:txBody>
          <a:bodyPr/>
          <a:lstStyle/>
          <a:p>
            <a:r>
              <a:rPr lang="en-US" sz="1200" b="1" kern="0" spc="100" dirty="0">
                <a:solidFill>
                  <a:srgbClr val="CADCFC"/>
                </a:solidFill>
                <a:latin typeface="Calibri" pitchFamily="34" charset="0"/>
                <a:ea typeface="Calibri" pitchFamily="34" charset="-122"/>
                <a:cs typeface="Calibri" pitchFamily="34" charset="-120"/>
              </a:rPr>
              <a:t>MODEL'S TOOL REQUEST</a:t>
            </a:r>
          </a:p>
          <a:p>
            <a:endParaRPr lang="en-US" sz="1200" b="1" kern="0" spc="100" dirty="0">
              <a:solidFill>
                <a:srgbClr val="CADCFC"/>
              </a:solidFill>
              <a:latin typeface="Calibri" pitchFamily="34" charset="0"/>
              <a:cs typeface="Calibri" pitchFamily="34" charset="-120"/>
            </a:endParaRPr>
          </a:p>
          <a:p>
            <a:endParaRPr lang="en-IN" dirty="0"/>
          </a:p>
          <a:p>
            <a:endParaRPr lang="en-IN" dirty="0"/>
          </a:p>
        </p:txBody>
      </p:sp>
      <p:sp>
        <p:nvSpPr>
          <p:cNvPr id="8" name="TextBox 7">
            <a:extLst>
              <a:ext uri="{FF2B5EF4-FFF2-40B4-BE49-F238E27FC236}">
                <a16:creationId xmlns:a16="http://schemas.microsoft.com/office/drawing/2014/main" id="{39222196-F092-0A48-FFF6-84362EBDE07D}"/>
              </a:ext>
            </a:extLst>
          </p:cNvPr>
          <p:cNvSpPr txBox="1"/>
          <p:nvPr/>
        </p:nvSpPr>
        <p:spPr>
          <a:xfrm>
            <a:off x="6832546" y="1654523"/>
            <a:ext cx="4656308" cy="2123658"/>
          </a:xfrm>
          <a:prstGeom prst="rect">
            <a:avLst/>
          </a:prstGeom>
          <a:noFill/>
        </p:spPr>
        <p:txBody>
          <a:bodyPr wrap="square" rtlCol="0">
            <a:spAutoFit/>
          </a:bodyPr>
          <a:lstStyle/>
          <a:p>
            <a:r>
              <a:rPr lang="en-US" sz="1100" dirty="0">
                <a:solidFill>
                  <a:schemeClr val="accent4">
                    <a:lumMod val="60000"/>
                    <a:lumOff val="40000"/>
                  </a:schemeClr>
                </a:solidFill>
              </a:rPr>
              <a:t>{</a:t>
            </a:r>
          </a:p>
          <a:p>
            <a:r>
              <a:rPr lang="en-US" sz="1100" dirty="0">
                <a:solidFill>
                  <a:schemeClr val="accent4">
                    <a:lumMod val="60000"/>
                    <a:lumOff val="40000"/>
                  </a:schemeClr>
                </a:solidFill>
              </a:rPr>
              <a:t>  "tool": "search_flights",</a:t>
            </a:r>
          </a:p>
          <a:p>
            <a:r>
              <a:rPr lang="en-US" sz="1100" dirty="0">
                <a:solidFill>
                  <a:schemeClr val="accent4">
                    <a:lumMod val="60000"/>
                    <a:lumOff val="40000"/>
                  </a:schemeClr>
                </a:solidFill>
              </a:rPr>
              <a:t>  "args": {</a:t>
            </a:r>
          </a:p>
          <a:p>
            <a:r>
              <a:rPr lang="en-US" sz="1100" dirty="0">
                <a:solidFill>
                  <a:schemeClr val="accent4">
                    <a:lumMod val="60000"/>
                    <a:lumOff val="40000"/>
                  </a:schemeClr>
                </a:solidFill>
              </a:rPr>
              <a:t>    "to": "GOI",</a:t>
            </a:r>
          </a:p>
          <a:p>
            <a:r>
              <a:rPr lang="en-US" sz="1100" dirty="0">
                <a:solidFill>
                  <a:schemeClr val="accent4">
                    <a:lumMod val="60000"/>
                    <a:lumOff val="40000"/>
                  </a:schemeClr>
                </a:solidFill>
              </a:rPr>
              <a:t>    "date": "2026-09-26",</a:t>
            </a:r>
          </a:p>
          <a:p>
            <a:r>
              <a:rPr lang="en-US" sz="1100" dirty="0">
                <a:solidFill>
                  <a:schemeClr val="accent4">
                    <a:lumMod val="60000"/>
                    <a:lumOff val="40000"/>
                  </a:schemeClr>
                </a:solidFill>
              </a:rPr>
              <a:t>    "max_price": 5000</a:t>
            </a:r>
          </a:p>
          <a:p>
            <a:r>
              <a:rPr lang="en-US" sz="1100" dirty="0">
                <a:solidFill>
                  <a:schemeClr val="accent4">
                    <a:lumMod val="60000"/>
                    <a:lumOff val="40000"/>
                  </a:schemeClr>
                </a:solidFill>
              </a:rPr>
              <a:t>  }</a:t>
            </a:r>
          </a:p>
          <a:p>
            <a:r>
              <a:rPr lang="en-US" sz="1100" dirty="0">
                <a:solidFill>
                  <a:schemeClr val="accent4">
                    <a:lumMod val="60000"/>
                    <a:lumOff val="40000"/>
                  </a:schemeClr>
                </a:solidFill>
              </a:rPr>
              <a:t>}</a:t>
            </a:r>
          </a:p>
          <a:p>
            <a:endParaRPr lang="en-US" sz="1100" dirty="0">
              <a:solidFill>
                <a:schemeClr val="accent4">
                  <a:lumMod val="60000"/>
                  <a:lumOff val="40000"/>
                </a:schemeClr>
              </a:solidFill>
            </a:endParaRPr>
          </a:p>
          <a:p>
            <a:r>
              <a:rPr lang="en-US" sz="1100" b="1" kern="0" spc="100" dirty="0">
                <a:solidFill>
                  <a:srgbClr val="CADCFC"/>
                </a:solidFill>
                <a:latin typeface="Calibri" pitchFamily="34" charset="0"/>
                <a:ea typeface="Calibri" pitchFamily="34" charset="-122"/>
                <a:cs typeface="Calibri" pitchFamily="34" charset="-120"/>
              </a:rPr>
              <a:t>YOUR CODE RUNS IT AND RETURNS:</a:t>
            </a:r>
            <a:endParaRPr lang="en-US" sz="1100" dirty="0"/>
          </a:p>
          <a:p>
            <a:r>
              <a:rPr lang="en-US" sz="1100" dirty="0">
                <a:solidFill>
                  <a:srgbClr val="F5C97B"/>
                </a:solidFill>
                <a:latin typeface="Courier New" pitchFamily="34" charset="0"/>
                <a:ea typeface="Courier New" pitchFamily="34" charset="-122"/>
                <a:cs typeface="Courier New" pitchFamily="34" charset="-120"/>
              </a:rPr>
              <a:t>[{ "flight": "6E-204", "price": 4200 }]</a:t>
            </a:r>
            <a:endParaRPr lang="en-US" sz="1100" dirty="0"/>
          </a:p>
          <a:p>
            <a:endParaRPr lang="en-US" sz="1100" dirty="0">
              <a:solidFill>
                <a:schemeClr val="accent4">
                  <a:lumMod val="60000"/>
                  <a:lumOff val="40000"/>
                </a:schemeClr>
              </a:solidFill>
            </a:endParaRPr>
          </a:p>
        </p:txBody>
      </p:sp>
      <p:sp>
        <p:nvSpPr>
          <p:cNvPr id="10" name="TextBox 9">
            <a:extLst>
              <a:ext uri="{FF2B5EF4-FFF2-40B4-BE49-F238E27FC236}">
                <a16:creationId xmlns:a16="http://schemas.microsoft.com/office/drawing/2014/main" id="{D77A54A5-408E-DCB5-32BC-7E3A5C5D68B7}"/>
              </a:ext>
            </a:extLst>
          </p:cNvPr>
          <p:cNvSpPr txBox="1"/>
          <p:nvPr/>
        </p:nvSpPr>
        <p:spPr>
          <a:xfrm>
            <a:off x="240922" y="5561303"/>
            <a:ext cx="5535039" cy="737253"/>
          </a:xfrm>
          <a:prstGeom prst="rect">
            <a:avLst/>
          </a:prstGeom>
          <a:noFill/>
        </p:spPr>
        <p:txBody>
          <a:bodyPr wrap="square" rtlCol="0">
            <a:spAutoFit/>
          </a:bodyPr>
          <a:lstStyle/>
          <a:p>
            <a:pPr>
              <a:lnSpc>
                <a:spcPct val="120000"/>
              </a:lnSpc>
            </a:pPr>
            <a:r>
              <a:rPr lang="en-US" i="1" dirty="0">
                <a:solidFill>
                  <a:srgbClr val="C00000"/>
                </a:solidFill>
                <a:latin typeface="Calibri" pitchFamily="34" charset="0"/>
                <a:ea typeface="Calibri" pitchFamily="34" charset="-122"/>
                <a:cs typeface="Calibri" pitchFamily="34" charset="-120"/>
              </a:rPr>
              <a:t>The model never touches your database or API directly Your code decides what's allowed to run.</a:t>
            </a:r>
            <a:endParaRPr lang="en-US" dirty="0">
              <a:solidFill>
                <a:srgbClr val="C00000"/>
              </a:solidFill>
            </a:endParaRPr>
          </a:p>
        </p:txBody>
      </p:sp>
      <p:sp>
        <p:nvSpPr>
          <p:cNvPr id="12" name="TextBox 11">
            <a:extLst>
              <a:ext uri="{FF2B5EF4-FFF2-40B4-BE49-F238E27FC236}">
                <a16:creationId xmlns:a16="http://schemas.microsoft.com/office/drawing/2014/main" id="{3D080AA2-0C38-4C55-1ADD-80C5AC8F8F51}"/>
              </a:ext>
            </a:extLst>
          </p:cNvPr>
          <p:cNvSpPr txBox="1"/>
          <p:nvPr/>
        </p:nvSpPr>
        <p:spPr>
          <a:xfrm>
            <a:off x="6832546" y="3806271"/>
            <a:ext cx="4656308" cy="2816156"/>
          </a:xfrm>
          <a:prstGeom prst="rect">
            <a:avLst/>
          </a:prstGeom>
          <a:noFill/>
        </p:spPr>
        <p:txBody>
          <a:bodyPr wrap="square" rtlCol="0">
            <a:spAutoFit/>
          </a:bodyPr>
          <a:lstStyle/>
          <a:p>
            <a:r>
              <a:rPr lang="en-IN" sz="1100" dirty="0">
                <a:solidFill>
                  <a:schemeClr val="accent1">
                    <a:lumMod val="60000"/>
                    <a:lumOff val="40000"/>
                  </a:schemeClr>
                </a:solidFill>
              </a:rPr>
              <a:t>{</a:t>
            </a:r>
          </a:p>
          <a:p>
            <a:r>
              <a:rPr lang="en-IN" sz="1100" dirty="0">
                <a:solidFill>
                  <a:schemeClr val="accent1">
                    <a:lumMod val="60000"/>
                    <a:lumOff val="40000"/>
                  </a:schemeClr>
                </a:solidFill>
              </a:rPr>
              <a:t>  "tool_calls": [</a:t>
            </a:r>
          </a:p>
          <a:p>
            <a:r>
              <a:rPr lang="en-IN" sz="1100" dirty="0">
                <a:solidFill>
                  <a:schemeClr val="accent1">
                    <a:lumMod val="60000"/>
                    <a:lumOff val="40000"/>
                  </a:schemeClr>
                </a:solidFill>
              </a:rPr>
              <a:t>    {</a:t>
            </a:r>
          </a:p>
          <a:p>
            <a:r>
              <a:rPr lang="en-IN" sz="1100" dirty="0">
                <a:solidFill>
                  <a:schemeClr val="accent1">
                    <a:lumMod val="60000"/>
                    <a:lumOff val="40000"/>
                  </a:schemeClr>
                </a:solidFill>
              </a:rPr>
              <a:t>      "function": {</a:t>
            </a:r>
          </a:p>
          <a:p>
            <a:r>
              <a:rPr lang="en-IN" sz="1100" dirty="0">
                <a:solidFill>
                  <a:schemeClr val="accent1">
                    <a:lumMod val="60000"/>
                    <a:lumOff val="40000"/>
                  </a:schemeClr>
                </a:solidFill>
              </a:rPr>
              <a:t>        "name": "get_employee",</a:t>
            </a:r>
          </a:p>
          <a:p>
            <a:r>
              <a:rPr lang="en-IN" sz="1100" dirty="0">
                <a:solidFill>
                  <a:schemeClr val="accent1">
                    <a:lumMod val="60000"/>
                    <a:lumOff val="40000"/>
                  </a:schemeClr>
                </a:solidFill>
              </a:rPr>
              <a:t>        "arguments": {</a:t>
            </a:r>
          </a:p>
          <a:p>
            <a:r>
              <a:rPr lang="en-IN" sz="1100" dirty="0">
                <a:solidFill>
                  <a:schemeClr val="accent1">
                    <a:lumMod val="60000"/>
                    <a:lumOff val="40000"/>
                  </a:schemeClr>
                </a:solidFill>
              </a:rPr>
              <a:t>          "name": "John"</a:t>
            </a:r>
          </a:p>
          <a:p>
            <a:r>
              <a:rPr lang="en-IN" sz="1100" dirty="0">
                <a:solidFill>
                  <a:schemeClr val="accent1">
                    <a:lumMod val="60000"/>
                    <a:lumOff val="40000"/>
                  </a:schemeClr>
                </a:solidFill>
              </a:rPr>
              <a:t>        }</a:t>
            </a:r>
          </a:p>
          <a:p>
            <a:r>
              <a:rPr lang="en-IN" sz="1100" dirty="0">
                <a:solidFill>
                  <a:schemeClr val="accent1">
                    <a:lumMod val="60000"/>
                    <a:lumOff val="40000"/>
                  </a:schemeClr>
                </a:solidFill>
              </a:rPr>
              <a:t>      }</a:t>
            </a:r>
          </a:p>
          <a:p>
            <a:r>
              <a:rPr lang="en-IN" sz="1100" dirty="0">
                <a:solidFill>
                  <a:schemeClr val="accent1">
                    <a:lumMod val="60000"/>
                    <a:lumOff val="40000"/>
                  </a:schemeClr>
                </a:solidFill>
              </a:rPr>
              <a:t>    }</a:t>
            </a:r>
          </a:p>
          <a:p>
            <a:r>
              <a:rPr lang="en-IN" sz="1100" dirty="0">
                <a:solidFill>
                  <a:schemeClr val="accent1">
                    <a:lumMod val="60000"/>
                    <a:lumOff val="40000"/>
                  </a:schemeClr>
                </a:solidFill>
              </a:rPr>
              <a:t>  ]</a:t>
            </a:r>
          </a:p>
          <a:p>
            <a:r>
              <a:rPr lang="en-IN" sz="1200" dirty="0">
                <a:solidFill>
                  <a:schemeClr val="accent1">
                    <a:lumMod val="60000"/>
                    <a:lumOff val="40000"/>
                  </a:schemeClr>
                </a:solidFill>
              </a:rPr>
              <a:t>}</a:t>
            </a:r>
            <a:endParaRPr lang="en-US" sz="1100" dirty="0">
              <a:solidFill>
                <a:schemeClr val="accent4">
                  <a:lumMod val="60000"/>
                  <a:lumOff val="40000"/>
                </a:schemeClr>
              </a:solidFill>
            </a:endParaRPr>
          </a:p>
          <a:p>
            <a:r>
              <a:rPr lang="en-US" sz="1100" b="1" kern="0" spc="100" dirty="0">
                <a:solidFill>
                  <a:srgbClr val="CADCFC"/>
                </a:solidFill>
                <a:latin typeface="Calibri" pitchFamily="34" charset="0"/>
                <a:ea typeface="Calibri" pitchFamily="34" charset="-122"/>
                <a:cs typeface="Calibri" pitchFamily="34" charset="-120"/>
              </a:rPr>
              <a:t>YOUR CODE RUNS IT AND RETURNS:</a:t>
            </a:r>
            <a:endParaRPr lang="en-US" sz="1100" dirty="0"/>
          </a:p>
          <a:p>
            <a:r>
              <a:rPr lang="en-US" sz="1100" dirty="0">
                <a:solidFill>
                  <a:srgbClr val="F5C97B"/>
                </a:solidFill>
                <a:latin typeface="Courier New" pitchFamily="34" charset="0"/>
                <a:ea typeface="Courier New" pitchFamily="34" charset="-122"/>
                <a:cs typeface="Courier New" pitchFamily="34" charset="-120"/>
              </a:rPr>
              <a:t>[{ “id": “EMP1", “name":”john doe”, “role”:”Designer”, "department": "Operations",}]</a:t>
            </a:r>
            <a:endParaRPr lang="en-US" sz="1100" dirty="0"/>
          </a:p>
          <a:p>
            <a:endParaRPr lang="en-US" sz="1100" dirty="0">
              <a:solidFill>
                <a:schemeClr val="accent4">
                  <a:lumMod val="60000"/>
                  <a:lumOff val="40000"/>
                </a:schemeClr>
              </a:solidFill>
            </a:endParaRPr>
          </a:p>
        </p:txBody>
      </p:sp>
    </p:spTree>
    <p:extLst>
      <p:ext uri="{BB962C8B-B14F-4D97-AF65-F5344CB8AC3E}">
        <p14:creationId xmlns:p14="http://schemas.microsoft.com/office/powerpoint/2010/main" val="3882943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09B89255-E41D-77E2-E48E-FB8AA403CF91}"/>
              </a:ext>
            </a:extLst>
          </p:cNvPr>
          <p:cNvSpPr txBox="1"/>
          <p:nvPr/>
        </p:nvSpPr>
        <p:spPr>
          <a:xfrm>
            <a:off x="122147" y="122568"/>
            <a:ext cx="11091672" cy="63618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1E2761"/>
                </a:solidFill>
                <a:latin typeface="Cambria" pitchFamily="34" charset="0"/>
                <a:ea typeface="Cambria" pitchFamily="34" charset="-122"/>
                <a:cs typeface="Cambria" pitchFamily="34" charset="-120"/>
              </a:rPr>
              <a:t>Planning/Task Decomposition: breaking a goal into steps</a:t>
            </a:r>
            <a:endParaRPr lang="en-US" sz="3000" dirty="0"/>
          </a:p>
        </p:txBody>
      </p:sp>
      <p:sp>
        <p:nvSpPr>
          <p:cNvPr id="3" name="Shape 3">
            <a:extLst>
              <a:ext uri="{FF2B5EF4-FFF2-40B4-BE49-F238E27FC236}">
                <a16:creationId xmlns:a16="http://schemas.microsoft.com/office/drawing/2014/main" id="{70302DC8-D791-3D22-26FC-4A4A39C7D061}"/>
              </a:ext>
            </a:extLst>
          </p:cNvPr>
          <p:cNvSpPr/>
          <p:nvPr/>
        </p:nvSpPr>
        <p:spPr>
          <a:xfrm>
            <a:off x="2667000" y="1005840"/>
            <a:ext cx="6858000" cy="594360"/>
          </a:xfrm>
          <a:prstGeom prst="roundRect">
            <a:avLst>
              <a:gd name="adj" fmla="val 12308"/>
            </a:avLst>
          </a:prstGeom>
          <a:solidFill>
            <a:srgbClr val="1E2761"/>
          </a:solidFill>
          <a:ln/>
          <a:effectLst>
            <a:outerShdw blurRad="76200" dist="25400" dir="5400000" algn="bl" rotWithShape="0">
              <a:srgbClr val="44546A">
                <a:alpha val="18000"/>
              </a:srgbClr>
            </a:outerShdw>
          </a:effectLst>
        </p:spPr>
        <p:txBody>
          <a:bodyPr/>
          <a:lstStyle/>
          <a:p>
            <a:endParaRPr lang="en-IN"/>
          </a:p>
        </p:txBody>
      </p:sp>
      <p:sp>
        <p:nvSpPr>
          <p:cNvPr id="4" name="Text 4">
            <a:extLst>
              <a:ext uri="{FF2B5EF4-FFF2-40B4-BE49-F238E27FC236}">
                <a16:creationId xmlns:a16="http://schemas.microsoft.com/office/drawing/2014/main" id="{802B5C8E-D9F8-3517-F54E-473BC8395D93}"/>
              </a:ext>
            </a:extLst>
          </p:cNvPr>
          <p:cNvSpPr txBox="1"/>
          <p:nvPr/>
        </p:nvSpPr>
        <p:spPr>
          <a:xfrm>
            <a:off x="2667000" y="1143000"/>
            <a:ext cx="6858000" cy="3657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FFFFFF"/>
                </a:solidFill>
                <a:latin typeface="Calibri" pitchFamily="34" charset="0"/>
                <a:ea typeface="Calibri" pitchFamily="34" charset="-122"/>
                <a:cs typeface="Calibri" pitchFamily="34" charset="-120"/>
              </a:rPr>
              <a:t>Goal: book the cheapest and fastest flight under ₹5,000 and add it to the calendar</a:t>
            </a:r>
            <a:endParaRPr lang="en-US" sz="1300" dirty="0"/>
          </a:p>
        </p:txBody>
      </p:sp>
      <p:sp>
        <p:nvSpPr>
          <p:cNvPr id="5" name="Shape 5">
            <a:extLst>
              <a:ext uri="{FF2B5EF4-FFF2-40B4-BE49-F238E27FC236}">
                <a16:creationId xmlns:a16="http://schemas.microsoft.com/office/drawing/2014/main" id="{E2A831E0-9FAF-E76E-9195-4E2F9A36F9F9}"/>
              </a:ext>
            </a:extLst>
          </p:cNvPr>
          <p:cNvSpPr/>
          <p:nvPr/>
        </p:nvSpPr>
        <p:spPr>
          <a:xfrm>
            <a:off x="563880"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6" name="Text 6">
            <a:extLst>
              <a:ext uri="{FF2B5EF4-FFF2-40B4-BE49-F238E27FC236}">
                <a16:creationId xmlns:a16="http://schemas.microsoft.com/office/drawing/2014/main" id="{0F5A8BC5-E21B-B09A-C99F-6919B564479F}"/>
              </a:ext>
            </a:extLst>
          </p:cNvPr>
          <p:cNvSpPr txBox="1"/>
          <p:nvPr/>
        </p:nvSpPr>
        <p:spPr>
          <a:xfrm>
            <a:off x="655320"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1. Parse</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constraints</a:t>
            </a:r>
            <a:endParaRPr lang="en-US" sz="1150" dirty="0"/>
          </a:p>
        </p:txBody>
      </p:sp>
      <p:sp>
        <p:nvSpPr>
          <p:cNvPr id="7" name="Text 7">
            <a:extLst>
              <a:ext uri="{FF2B5EF4-FFF2-40B4-BE49-F238E27FC236}">
                <a16:creationId xmlns:a16="http://schemas.microsoft.com/office/drawing/2014/main" id="{8B66F65B-3D05-BFE6-6AB1-01F390C079A2}"/>
              </a:ext>
            </a:extLst>
          </p:cNvPr>
          <p:cNvSpPr txBox="1"/>
          <p:nvPr/>
        </p:nvSpPr>
        <p:spPr>
          <a:xfrm>
            <a:off x="2191512" y="2514600"/>
            <a:ext cx="237744"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E8871E"/>
                </a:solidFill>
                <a:latin typeface="Calibri" pitchFamily="34" charset="0"/>
                <a:ea typeface="Calibri" pitchFamily="34" charset="-122"/>
                <a:cs typeface="Calibri" pitchFamily="34" charset="-120"/>
              </a:rPr>
              <a:t>→</a:t>
            </a:r>
            <a:endParaRPr lang="en-US" sz="1500" dirty="0"/>
          </a:p>
        </p:txBody>
      </p:sp>
      <p:sp>
        <p:nvSpPr>
          <p:cNvPr id="8" name="Shape 8">
            <a:extLst>
              <a:ext uri="{FF2B5EF4-FFF2-40B4-BE49-F238E27FC236}">
                <a16:creationId xmlns:a16="http://schemas.microsoft.com/office/drawing/2014/main" id="{074EEC4B-077C-25B9-5217-2C90B3B30FA7}"/>
              </a:ext>
            </a:extLst>
          </p:cNvPr>
          <p:cNvSpPr/>
          <p:nvPr/>
        </p:nvSpPr>
        <p:spPr>
          <a:xfrm>
            <a:off x="2429256"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9" name="Text 9">
            <a:extLst>
              <a:ext uri="{FF2B5EF4-FFF2-40B4-BE49-F238E27FC236}">
                <a16:creationId xmlns:a16="http://schemas.microsoft.com/office/drawing/2014/main" id="{BE5A10AD-5044-A27B-80C5-37818D35AF9A}"/>
              </a:ext>
            </a:extLst>
          </p:cNvPr>
          <p:cNvSpPr txBox="1"/>
          <p:nvPr/>
        </p:nvSpPr>
        <p:spPr>
          <a:xfrm>
            <a:off x="2520696"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2. Search</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flights</a:t>
            </a:r>
            <a:endParaRPr lang="en-US" sz="1150" dirty="0"/>
          </a:p>
        </p:txBody>
      </p:sp>
      <p:sp>
        <p:nvSpPr>
          <p:cNvPr id="10" name="Text 10">
            <a:extLst>
              <a:ext uri="{FF2B5EF4-FFF2-40B4-BE49-F238E27FC236}">
                <a16:creationId xmlns:a16="http://schemas.microsoft.com/office/drawing/2014/main" id="{0DE9333C-14A0-A47F-9A13-C5AA4BBC31CC}"/>
              </a:ext>
            </a:extLst>
          </p:cNvPr>
          <p:cNvSpPr txBox="1"/>
          <p:nvPr/>
        </p:nvSpPr>
        <p:spPr>
          <a:xfrm>
            <a:off x="4056888" y="2514600"/>
            <a:ext cx="237744"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E8871E"/>
                </a:solidFill>
                <a:latin typeface="Calibri" pitchFamily="34" charset="0"/>
                <a:ea typeface="Calibri" pitchFamily="34" charset="-122"/>
                <a:cs typeface="Calibri" pitchFamily="34" charset="-120"/>
              </a:rPr>
              <a:t>→</a:t>
            </a:r>
            <a:endParaRPr lang="en-US" sz="1500" dirty="0"/>
          </a:p>
        </p:txBody>
      </p:sp>
      <p:sp>
        <p:nvSpPr>
          <p:cNvPr id="11" name="Shape 11">
            <a:extLst>
              <a:ext uri="{FF2B5EF4-FFF2-40B4-BE49-F238E27FC236}">
                <a16:creationId xmlns:a16="http://schemas.microsoft.com/office/drawing/2014/main" id="{76F25AF6-83C8-C6AE-FEEC-5A5F0ACD80C2}"/>
              </a:ext>
            </a:extLst>
          </p:cNvPr>
          <p:cNvSpPr/>
          <p:nvPr/>
        </p:nvSpPr>
        <p:spPr>
          <a:xfrm>
            <a:off x="4294632"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12" name="Text 12">
            <a:extLst>
              <a:ext uri="{FF2B5EF4-FFF2-40B4-BE49-F238E27FC236}">
                <a16:creationId xmlns:a16="http://schemas.microsoft.com/office/drawing/2014/main" id="{BE7590E4-B1EE-91D3-1AF4-714CB6EB734A}"/>
              </a:ext>
            </a:extLst>
          </p:cNvPr>
          <p:cNvSpPr txBox="1"/>
          <p:nvPr/>
        </p:nvSpPr>
        <p:spPr>
          <a:xfrm>
            <a:off x="4386072"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3. Filter &amp;</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sort by price</a:t>
            </a:r>
            <a:endParaRPr lang="en-US" sz="1150" dirty="0"/>
          </a:p>
        </p:txBody>
      </p:sp>
      <p:sp>
        <p:nvSpPr>
          <p:cNvPr id="13" name="Text 13">
            <a:extLst>
              <a:ext uri="{FF2B5EF4-FFF2-40B4-BE49-F238E27FC236}">
                <a16:creationId xmlns:a16="http://schemas.microsoft.com/office/drawing/2014/main" id="{CDCAEE7B-14F2-E847-1734-5A165D566C5E}"/>
              </a:ext>
            </a:extLst>
          </p:cNvPr>
          <p:cNvSpPr txBox="1"/>
          <p:nvPr/>
        </p:nvSpPr>
        <p:spPr>
          <a:xfrm>
            <a:off x="5922264" y="2514600"/>
            <a:ext cx="237744"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E8871E"/>
                </a:solidFill>
                <a:latin typeface="Calibri" pitchFamily="34" charset="0"/>
                <a:ea typeface="Calibri" pitchFamily="34" charset="-122"/>
                <a:cs typeface="Calibri" pitchFamily="34" charset="-120"/>
              </a:rPr>
              <a:t>→</a:t>
            </a:r>
            <a:endParaRPr lang="en-US" sz="1500" dirty="0"/>
          </a:p>
        </p:txBody>
      </p:sp>
      <p:sp>
        <p:nvSpPr>
          <p:cNvPr id="14" name="Shape 14">
            <a:extLst>
              <a:ext uri="{FF2B5EF4-FFF2-40B4-BE49-F238E27FC236}">
                <a16:creationId xmlns:a16="http://schemas.microsoft.com/office/drawing/2014/main" id="{1E65E2CC-D6D2-1B6B-80EB-3D0D96142D3C}"/>
              </a:ext>
            </a:extLst>
          </p:cNvPr>
          <p:cNvSpPr/>
          <p:nvPr/>
        </p:nvSpPr>
        <p:spPr>
          <a:xfrm>
            <a:off x="6160008"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15" name="Text 15">
            <a:extLst>
              <a:ext uri="{FF2B5EF4-FFF2-40B4-BE49-F238E27FC236}">
                <a16:creationId xmlns:a16="http://schemas.microsoft.com/office/drawing/2014/main" id="{E3C2985C-E41A-52DB-AB13-BBC79049CB52}"/>
              </a:ext>
            </a:extLst>
          </p:cNvPr>
          <p:cNvSpPr txBox="1"/>
          <p:nvPr/>
        </p:nvSpPr>
        <p:spPr>
          <a:xfrm>
            <a:off x="6251448"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4. Pick cheapest/fastest</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valid option</a:t>
            </a:r>
            <a:endParaRPr lang="en-US" sz="1150" dirty="0"/>
          </a:p>
        </p:txBody>
      </p:sp>
      <p:sp>
        <p:nvSpPr>
          <p:cNvPr id="16" name="Text 16">
            <a:extLst>
              <a:ext uri="{FF2B5EF4-FFF2-40B4-BE49-F238E27FC236}">
                <a16:creationId xmlns:a16="http://schemas.microsoft.com/office/drawing/2014/main" id="{43D64E0C-3EBF-3923-BE65-D0FB80388442}"/>
              </a:ext>
            </a:extLst>
          </p:cNvPr>
          <p:cNvSpPr txBox="1"/>
          <p:nvPr/>
        </p:nvSpPr>
        <p:spPr>
          <a:xfrm>
            <a:off x="7787640" y="2514600"/>
            <a:ext cx="237744"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E8871E"/>
                </a:solidFill>
                <a:latin typeface="Calibri" pitchFamily="34" charset="0"/>
                <a:ea typeface="Calibri" pitchFamily="34" charset="-122"/>
                <a:cs typeface="Calibri" pitchFamily="34" charset="-120"/>
              </a:rPr>
              <a:t>→</a:t>
            </a:r>
            <a:endParaRPr lang="en-US" sz="1500" dirty="0"/>
          </a:p>
        </p:txBody>
      </p:sp>
      <p:sp>
        <p:nvSpPr>
          <p:cNvPr id="17" name="Shape 17">
            <a:extLst>
              <a:ext uri="{FF2B5EF4-FFF2-40B4-BE49-F238E27FC236}">
                <a16:creationId xmlns:a16="http://schemas.microsoft.com/office/drawing/2014/main" id="{97EE929B-82C9-DBBF-1A6E-C4DA7D459445}"/>
              </a:ext>
            </a:extLst>
          </p:cNvPr>
          <p:cNvSpPr/>
          <p:nvPr/>
        </p:nvSpPr>
        <p:spPr>
          <a:xfrm>
            <a:off x="8025384"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18" name="Text 18">
            <a:extLst>
              <a:ext uri="{FF2B5EF4-FFF2-40B4-BE49-F238E27FC236}">
                <a16:creationId xmlns:a16="http://schemas.microsoft.com/office/drawing/2014/main" id="{2BDF0D26-D3E1-2176-07C2-A1FE29C89F1C}"/>
              </a:ext>
            </a:extLst>
          </p:cNvPr>
          <p:cNvSpPr txBox="1"/>
          <p:nvPr/>
        </p:nvSpPr>
        <p:spPr>
          <a:xfrm>
            <a:off x="8116824"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5. Book</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flight</a:t>
            </a:r>
            <a:endParaRPr lang="en-US" sz="1150" dirty="0"/>
          </a:p>
        </p:txBody>
      </p:sp>
      <p:sp>
        <p:nvSpPr>
          <p:cNvPr id="19" name="Text 19">
            <a:extLst>
              <a:ext uri="{FF2B5EF4-FFF2-40B4-BE49-F238E27FC236}">
                <a16:creationId xmlns:a16="http://schemas.microsoft.com/office/drawing/2014/main" id="{28B738AE-4AC5-8441-E17B-72DFDF34CD2F}"/>
              </a:ext>
            </a:extLst>
          </p:cNvPr>
          <p:cNvSpPr txBox="1"/>
          <p:nvPr/>
        </p:nvSpPr>
        <p:spPr>
          <a:xfrm>
            <a:off x="9653016" y="2514600"/>
            <a:ext cx="237744"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E8871E"/>
                </a:solidFill>
                <a:latin typeface="Calibri" pitchFamily="34" charset="0"/>
                <a:ea typeface="Calibri" pitchFamily="34" charset="-122"/>
                <a:cs typeface="Calibri" pitchFamily="34" charset="-120"/>
              </a:rPr>
              <a:t>→</a:t>
            </a:r>
            <a:endParaRPr lang="en-US" sz="1500" dirty="0"/>
          </a:p>
        </p:txBody>
      </p:sp>
      <p:sp>
        <p:nvSpPr>
          <p:cNvPr id="20" name="Shape 20">
            <a:extLst>
              <a:ext uri="{FF2B5EF4-FFF2-40B4-BE49-F238E27FC236}">
                <a16:creationId xmlns:a16="http://schemas.microsoft.com/office/drawing/2014/main" id="{3447BCBC-ED1A-92D0-F454-DF23336B6A8E}"/>
              </a:ext>
            </a:extLst>
          </p:cNvPr>
          <p:cNvSpPr/>
          <p:nvPr/>
        </p:nvSpPr>
        <p:spPr>
          <a:xfrm>
            <a:off x="9890760" y="2148840"/>
            <a:ext cx="1627632" cy="1005840"/>
          </a:xfrm>
          <a:prstGeom prst="roundRect">
            <a:avLst>
              <a:gd name="adj" fmla="val 7273"/>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21" name="Text 21">
            <a:extLst>
              <a:ext uri="{FF2B5EF4-FFF2-40B4-BE49-F238E27FC236}">
                <a16:creationId xmlns:a16="http://schemas.microsoft.com/office/drawing/2014/main" id="{300A19F8-9528-A9FC-56A2-B40307E9661C}"/>
              </a:ext>
            </a:extLst>
          </p:cNvPr>
          <p:cNvSpPr txBox="1"/>
          <p:nvPr/>
        </p:nvSpPr>
        <p:spPr>
          <a:xfrm>
            <a:off x="9982200" y="2313432"/>
            <a:ext cx="1444752"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6. Add to</a:t>
            </a:r>
            <a:endParaRPr lang="en-US" sz="1150" dirty="0"/>
          </a:p>
          <a:p>
            <a:pPr marL="0" indent="0" algn="ctr">
              <a:lnSpc>
                <a:spcPct val="110000"/>
              </a:lnSpc>
              <a:buNone/>
            </a:pPr>
            <a:r>
              <a:rPr lang="en-US" sz="1150" b="1" dirty="0">
                <a:solidFill>
                  <a:srgbClr val="1E2761"/>
                </a:solidFill>
                <a:latin typeface="Calibri" pitchFamily="34" charset="0"/>
                <a:ea typeface="Calibri" pitchFamily="34" charset="-122"/>
                <a:cs typeface="Calibri" pitchFamily="34" charset="-120"/>
              </a:rPr>
              <a:t>calendar</a:t>
            </a:r>
            <a:endParaRPr lang="en-US" sz="1150" dirty="0"/>
          </a:p>
        </p:txBody>
      </p:sp>
      <p:sp>
        <p:nvSpPr>
          <p:cNvPr id="22" name="Shape 22">
            <a:extLst>
              <a:ext uri="{FF2B5EF4-FFF2-40B4-BE49-F238E27FC236}">
                <a16:creationId xmlns:a16="http://schemas.microsoft.com/office/drawing/2014/main" id="{85CF49C6-B391-CB8F-7D47-AF51AD8A773E}"/>
              </a:ext>
            </a:extLst>
          </p:cNvPr>
          <p:cNvSpPr/>
          <p:nvPr/>
        </p:nvSpPr>
        <p:spPr>
          <a:xfrm>
            <a:off x="563880" y="3566160"/>
            <a:ext cx="11064240" cy="2286000"/>
          </a:xfrm>
          <a:prstGeom prst="roundRect">
            <a:avLst>
              <a:gd name="adj" fmla="val 3200"/>
            </a:avLst>
          </a:prstGeom>
          <a:solidFill>
            <a:srgbClr val="FFF3E6"/>
          </a:solidFill>
          <a:ln w="12700">
            <a:solidFill>
              <a:srgbClr val="E8871E"/>
            </a:solidFill>
            <a:prstDash val="solid"/>
          </a:ln>
          <a:effectLst>
            <a:outerShdw blurRad="76200" dist="25400" dir="5400000" algn="bl" rotWithShape="0">
              <a:srgbClr val="44546A">
                <a:alpha val="18000"/>
              </a:srgbClr>
            </a:outerShdw>
          </a:effectLst>
        </p:spPr>
        <p:txBody>
          <a:bodyPr/>
          <a:lstStyle/>
          <a:p>
            <a:endParaRPr lang="en-IN"/>
          </a:p>
        </p:txBody>
      </p:sp>
      <p:sp>
        <p:nvSpPr>
          <p:cNvPr id="23" name="Text 23">
            <a:extLst>
              <a:ext uri="{FF2B5EF4-FFF2-40B4-BE49-F238E27FC236}">
                <a16:creationId xmlns:a16="http://schemas.microsoft.com/office/drawing/2014/main" id="{CC5EFC78-2894-D94B-1342-30496B494F64}"/>
              </a:ext>
            </a:extLst>
          </p:cNvPr>
          <p:cNvSpPr txBox="1"/>
          <p:nvPr/>
        </p:nvSpPr>
        <p:spPr>
          <a:xfrm>
            <a:off x="929640" y="3794760"/>
            <a:ext cx="54864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100" dirty="0">
                <a:solidFill>
                  <a:srgbClr val="E8871E"/>
                </a:solidFill>
                <a:latin typeface="Calibri" pitchFamily="34" charset="0"/>
                <a:ea typeface="Calibri" pitchFamily="34" charset="-122"/>
                <a:cs typeface="Calibri" pitchFamily="34" charset="-120"/>
              </a:rPr>
              <a:t>WHEN A STEP FAILS: RE-PLANNING</a:t>
            </a:r>
            <a:endParaRPr lang="en-US" sz="1200" dirty="0"/>
          </a:p>
        </p:txBody>
      </p:sp>
      <p:sp>
        <p:nvSpPr>
          <p:cNvPr id="24" name="Text 24">
            <a:extLst>
              <a:ext uri="{FF2B5EF4-FFF2-40B4-BE49-F238E27FC236}">
                <a16:creationId xmlns:a16="http://schemas.microsoft.com/office/drawing/2014/main" id="{ED2FBE34-E993-50C8-97DF-A1259388DF38}"/>
              </a:ext>
            </a:extLst>
          </p:cNvPr>
          <p:cNvSpPr txBox="1"/>
          <p:nvPr/>
        </p:nvSpPr>
        <p:spPr>
          <a:xfrm>
            <a:off x="929640" y="4160520"/>
            <a:ext cx="10332720" cy="14630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0000"/>
              </a:lnSpc>
              <a:buNone/>
            </a:pPr>
            <a:r>
              <a:rPr lang="en-US" sz="1400" dirty="0">
                <a:solidFill>
                  <a:srgbClr val="1E2761"/>
                </a:solidFill>
                <a:latin typeface="Calibri" pitchFamily="34" charset="0"/>
                <a:ea typeface="Calibri" pitchFamily="34" charset="-122"/>
                <a:cs typeface="Calibri" pitchFamily="34" charset="-120"/>
              </a:rPr>
              <a:t>A good AI agent doesn't just fail when step 2 finds nothing under budget, or when it couldn’t find a flight which is both cheap and fast. </a:t>
            </a:r>
          </a:p>
          <a:p>
            <a:pPr marL="0" indent="0">
              <a:lnSpc>
                <a:spcPct val="130000"/>
              </a:lnSpc>
              <a:buNone/>
            </a:pPr>
            <a:r>
              <a:rPr lang="en-US" sz="1400" dirty="0">
                <a:solidFill>
                  <a:srgbClr val="1E2761"/>
                </a:solidFill>
                <a:latin typeface="Calibri" pitchFamily="34" charset="0"/>
                <a:ea typeface="Calibri" pitchFamily="34" charset="-122"/>
                <a:cs typeface="Calibri" pitchFamily="34" charset="-120"/>
              </a:rPr>
              <a:t>It re-plans, makes a few compromises, relaxing the budget and timings slightly, trying nearby dates, checking a different airport, or asking the user what to do, and then continues the same loop from wherever it left off to find the optimal answer.</a:t>
            </a:r>
            <a:endParaRPr lang="en-US" sz="1400" dirty="0"/>
          </a:p>
        </p:txBody>
      </p:sp>
    </p:spTree>
    <p:extLst>
      <p:ext uri="{BB962C8B-B14F-4D97-AF65-F5344CB8AC3E}">
        <p14:creationId xmlns:p14="http://schemas.microsoft.com/office/powerpoint/2010/main" val="206320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CD6509DE-0E29-28BB-2B86-4994D93DF8A1}"/>
              </a:ext>
            </a:extLst>
          </p:cNvPr>
          <p:cNvSpPr txBox="1"/>
          <p:nvPr/>
        </p:nvSpPr>
        <p:spPr>
          <a:xfrm>
            <a:off x="141602" y="0"/>
            <a:ext cx="11091672"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1E2761"/>
                </a:solidFill>
                <a:latin typeface="Cambria" pitchFamily="34" charset="0"/>
                <a:ea typeface="Cambria" pitchFamily="34" charset="-122"/>
                <a:cs typeface="Cambria" pitchFamily="34" charset="-120"/>
              </a:rPr>
              <a:t>Memory and state</a:t>
            </a:r>
            <a:endParaRPr lang="en-US" sz="3000" dirty="0"/>
          </a:p>
        </p:txBody>
      </p:sp>
      <p:sp>
        <p:nvSpPr>
          <p:cNvPr id="3" name="TextBox 2">
            <a:extLst>
              <a:ext uri="{FF2B5EF4-FFF2-40B4-BE49-F238E27FC236}">
                <a16:creationId xmlns:a16="http://schemas.microsoft.com/office/drawing/2014/main" id="{267A2399-23BF-EA66-7EC1-2BB47B32BA97}"/>
              </a:ext>
            </a:extLst>
          </p:cNvPr>
          <p:cNvSpPr txBox="1"/>
          <p:nvPr/>
        </p:nvSpPr>
        <p:spPr>
          <a:xfrm>
            <a:off x="141601" y="719847"/>
            <a:ext cx="11249487" cy="1685077"/>
          </a:xfrm>
          <a:prstGeom prst="rect">
            <a:avLst/>
          </a:prstGeom>
          <a:noFill/>
        </p:spPr>
        <p:txBody>
          <a:bodyPr wrap="square" rtlCol="0">
            <a:spAutoFit/>
          </a:bodyPr>
          <a:lstStyle/>
          <a:p>
            <a:r>
              <a:rPr lang="en-IN" sz="1600" dirty="0"/>
              <a:t>Memory and state in agentic AI provide the continuous context, persistence, and self-improvement mechanisms that separate autonomous agents from stateless chatbots.</a:t>
            </a:r>
          </a:p>
          <a:p>
            <a:endParaRPr lang="en-IN" sz="1600" dirty="0"/>
          </a:p>
          <a:p>
            <a:pPr marR="0" lvl="0">
              <a:spcAft>
                <a:spcPts val="900"/>
              </a:spcAft>
            </a:pPr>
            <a:r>
              <a:rPr lang="en-IN" sz="1600" b="1" u="none" strike="noStrike" dirty="0">
                <a:effectLst/>
                <a:latin typeface="Google Sans"/>
              </a:rPr>
              <a:t>State:</a:t>
            </a:r>
            <a:r>
              <a:rPr lang="en-IN" sz="1600" b="0" u="none" strike="noStrike" dirty="0">
                <a:effectLst/>
                <a:latin typeface="Google Sans"/>
              </a:rPr>
              <a:t> The external or internal data container (such as conversation history, active variables, or tool outputs) that an agent reads and modifies during a live execution step.</a:t>
            </a:r>
          </a:p>
          <a:p>
            <a:pPr marR="0" lvl="0">
              <a:spcAft>
                <a:spcPts val="900"/>
              </a:spcAft>
            </a:pPr>
            <a:r>
              <a:rPr lang="en-IN" sz="1600" b="1" u="none" strike="noStrike" dirty="0">
                <a:effectLst/>
                <a:latin typeface="Google Sans"/>
              </a:rPr>
              <a:t>Memory:</a:t>
            </a:r>
            <a:r>
              <a:rPr lang="en-IN" sz="1600" b="0" u="none" strike="noStrike" dirty="0">
                <a:effectLst/>
                <a:latin typeface="Google Sans"/>
              </a:rPr>
              <a:t> The storage, retrieval, and update system that allows an agent to retain and evolve context across time, tasks, and sessions</a:t>
            </a:r>
          </a:p>
        </p:txBody>
      </p:sp>
      <p:sp>
        <p:nvSpPr>
          <p:cNvPr id="4" name="Shape 3">
            <a:extLst>
              <a:ext uri="{FF2B5EF4-FFF2-40B4-BE49-F238E27FC236}">
                <a16:creationId xmlns:a16="http://schemas.microsoft.com/office/drawing/2014/main" id="{F9F660A2-EDE5-A52B-D9F8-D2933CF99D88}"/>
              </a:ext>
            </a:extLst>
          </p:cNvPr>
          <p:cNvSpPr/>
          <p:nvPr/>
        </p:nvSpPr>
        <p:spPr>
          <a:xfrm>
            <a:off x="443354" y="2761437"/>
            <a:ext cx="5349240" cy="3383280"/>
          </a:xfrm>
          <a:prstGeom prst="roundRect">
            <a:avLst>
              <a:gd name="adj" fmla="val 2162"/>
            </a:avLst>
          </a:prstGeom>
          <a:solidFill>
            <a:srgbClr val="EAF1FB"/>
          </a:solidFill>
          <a:ln w="12700">
            <a:solidFill>
              <a:srgbClr val="CADCFC"/>
            </a:solidFill>
            <a:prstDash val="solid"/>
          </a:ln>
          <a:effectLst>
            <a:outerShdw blurRad="76200" dist="25400" dir="5400000" algn="bl" rotWithShape="0">
              <a:srgbClr val="44546A">
                <a:alpha val="18000"/>
              </a:srgbClr>
            </a:outerShdw>
          </a:effectLst>
        </p:spPr>
        <p:txBody>
          <a:bodyPr/>
          <a:lstStyle/>
          <a:p>
            <a:endParaRPr lang="en-IN"/>
          </a:p>
        </p:txBody>
      </p:sp>
      <p:sp>
        <p:nvSpPr>
          <p:cNvPr id="5" name="Text 4">
            <a:extLst>
              <a:ext uri="{FF2B5EF4-FFF2-40B4-BE49-F238E27FC236}">
                <a16:creationId xmlns:a16="http://schemas.microsoft.com/office/drawing/2014/main" id="{D9020390-62BD-9349-F174-145DDD370AC6}"/>
              </a:ext>
            </a:extLst>
          </p:cNvPr>
          <p:cNvSpPr txBox="1"/>
          <p:nvPr/>
        </p:nvSpPr>
        <p:spPr>
          <a:xfrm>
            <a:off x="717674" y="3035757"/>
            <a:ext cx="48006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50" dirty="0">
                <a:solidFill>
                  <a:srgbClr val="1E2761"/>
                </a:solidFill>
                <a:latin typeface="Calibri" pitchFamily="34" charset="0"/>
                <a:ea typeface="Calibri" pitchFamily="34" charset="-122"/>
                <a:cs typeface="Calibri" pitchFamily="34" charset="-120"/>
              </a:rPr>
              <a:t>SHORT-TERM (working memory)</a:t>
            </a:r>
            <a:endParaRPr lang="en-US" sz="1200" dirty="0"/>
          </a:p>
        </p:txBody>
      </p:sp>
      <p:sp>
        <p:nvSpPr>
          <p:cNvPr id="6" name="Text 5">
            <a:extLst>
              <a:ext uri="{FF2B5EF4-FFF2-40B4-BE49-F238E27FC236}">
                <a16:creationId xmlns:a16="http://schemas.microsoft.com/office/drawing/2014/main" id="{ED5C540C-7B4B-7F50-653C-581AE745FB2C}"/>
              </a:ext>
            </a:extLst>
          </p:cNvPr>
          <p:cNvSpPr txBox="1"/>
          <p:nvPr/>
        </p:nvSpPr>
        <p:spPr>
          <a:xfrm>
            <a:off x="717674" y="3447237"/>
            <a:ext cx="4800600" cy="12801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0000"/>
              </a:lnSpc>
              <a:buNone/>
            </a:pPr>
            <a:r>
              <a:rPr lang="en-US" sz="1350" dirty="0">
                <a:solidFill>
                  <a:srgbClr val="1E2761"/>
                </a:solidFill>
                <a:latin typeface="Calibri" pitchFamily="34" charset="0"/>
                <a:ea typeface="Calibri" pitchFamily="34" charset="-122"/>
                <a:cs typeface="Calibri" pitchFamily="34" charset="-120"/>
              </a:rPr>
              <a:t>What's happening right now: the current step, the conversation so far, intermediate results. It is cleared once the task ends.</a:t>
            </a:r>
            <a:endParaRPr lang="en-US" sz="1350" dirty="0"/>
          </a:p>
        </p:txBody>
      </p:sp>
      <p:sp>
        <p:nvSpPr>
          <p:cNvPr id="7" name="Shape 6">
            <a:extLst>
              <a:ext uri="{FF2B5EF4-FFF2-40B4-BE49-F238E27FC236}">
                <a16:creationId xmlns:a16="http://schemas.microsoft.com/office/drawing/2014/main" id="{CDBC417E-E887-6C20-5B47-E58C4400B5F5}"/>
              </a:ext>
            </a:extLst>
          </p:cNvPr>
          <p:cNvSpPr/>
          <p:nvPr/>
        </p:nvSpPr>
        <p:spPr>
          <a:xfrm>
            <a:off x="717674" y="4910277"/>
            <a:ext cx="4800600" cy="914400"/>
          </a:xfrm>
          <a:prstGeom prst="roundRect">
            <a:avLst>
              <a:gd name="adj" fmla="val 8000"/>
            </a:avLst>
          </a:prstGeom>
          <a:solidFill>
            <a:srgbClr val="FFFFFF"/>
          </a:solidFill>
          <a:ln w="12700">
            <a:solidFill>
              <a:srgbClr val="CADCFC"/>
            </a:solidFill>
            <a:prstDash val="solid"/>
          </a:ln>
        </p:spPr>
        <p:txBody>
          <a:bodyPr/>
          <a:lstStyle/>
          <a:p>
            <a:endParaRPr lang="en-IN"/>
          </a:p>
        </p:txBody>
      </p:sp>
      <p:sp>
        <p:nvSpPr>
          <p:cNvPr id="8" name="Text 7">
            <a:extLst>
              <a:ext uri="{FF2B5EF4-FFF2-40B4-BE49-F238E27FC236}">
                <a16:creationId xmlns:a16="http://schemas.microsoft.com/office/drawing/2014/main" id="{16260DE7-A3D3-8FBA-9D56-10FE00133015}"/>
              </a:ext>
            </a:extLst>
          </p:cNvPr>
          <p:cNvSpPr txBox="1"/>
          <p:nvPr/>
        </p:nvSpPr>
        <p:spPr>
          <a:xfrm>
            <a:off x="946274" y="5047437"/>
            <a:ext cx="4343400" cy="6858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i="1" dirty="0">
                <a:solidFill>
                  <a:srgbClr val="5B6B8C"/>
                </a:solidFill>
                <a:latin typeface="Calibri" pitchFamily="34" charset="0"/>
                <a:ea typeface="Calibri" pitchFamily="34" charset="-122"/>
                <a:cs typeface="Calibri" pitchFamily="34" charset="-120"/>
              </a:rPr>
              <a:t>“Currently on step 4 of the booking task, flight is booked, calendar event is next.”</a:t>
            </a:r>
            <a:endParaRPr lang="en-US" sz="1250" dirty="0"/>
          </a:p>
        </p:txBody>
      </p:sp>
      <p:sp>
        <p:nvSpPr>
          <p:cNvPr id="18" name="Shape 8">
            <a:extLst>
              <a:ext uri="{FF2B5EF4-FFF2-40B4-BE49-F238E27FC236}">
                <a16:creationId xmlns:a16="http://schemas.microsoft.com/office/drawing/2014/main" id="{2AC823AE-BB25-D928-D4D2-1B1407F8E0AA}"/>
              </a:ext>
            </a:extLst>
          </p:cNvPr>
          <p:cNvSpPr/>
          <p:nvPr/>
        </p:nvSpPr>
        <p:spPr>
          <a:xfrm>
            <a:off x="6125086" y="2761437"/>
            <a:ext cx="5349240" cy="3383280"/>
          </a:xfrm>
          <a:prstGeom prst="roundRect">
            <a:avLst>
              <a:gd name="adj" fmla="val 2162"/>
            </a:avLst>
          </a:prstGeom>
          <a:solidFill>
            <a:srgbClr val="FFF3E6"/>
          </a:solidFill>
          <a:ln w="12700">
            <a:solidFill>
              <a:srgbClr val="E8871E"/>
            </a:solidFill>
            <a:prstDash val="solid"/>
          </a:ln>
          <a:effectLst>
            <a:outerShdw blurRad="76200" dist="25400" dir="5400000" algn="bl" rotWithShape="0">
              <a:srgbClr val="44546A">
                <a:alpha val="18000"/>
              </a:srgbClr>
            </a:outerShdw>
          </a:effectLst>
        </p:spPr>
        <p:txBody>
          <a:bodyPr/>
          <a:lstStyle/>
          <a:p>
            <a:endParaRPr lang="en-IN"/>
          </a:p>
        </p:txBody>
      </p:sp>
      <p:sp>
        <p:nvSpPr>
          <p:cNvPr id="21" name="Text 9">
            <a:extLst>
              <a:ext uri="{FF2B5EF4-FFF2-40B4-BE49-F238E27FC236}">
                <a16:creationId xmlns:a16="http://schemas.microsoft.com/office/drawing/2014/main" id="{93B3F49B-715B-3EEB-FC6A-43E64FDE8559}"/>
              </a:ext>
            </a:extLst>
          </p:cNvPr>
          <p:cNvSpPr txBox="1"/>
          <p:nvPr/>
        </p:nvSpPr>
        <p:spPr>
          <a:xfrm>
            <a:off x="6432674" y="3027976"/>
            <a:ext cx="48006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50" dirty="0">
                <a:solidFill>
                  <a:srgbClr val="E8871E"/>
                </a:solidFill>
                <a:latin typeface="Calibri" pitchFamily="34" charset="0"/>
                <a:ea typeface="Calibri" pitchFamily="34" charset="-122"/>
                <a:cs typeface="Calibri" pitchFamily="34" charset="-120"/>
              </a:rPr>
              <a:t>LONG-TERM MEMORY</a:t>
            </a:r>
            <a:endParaRPr lang="en-US" sz="1200" dirty="0"/>
          </a:p>
        </p:txBody>
      </p:sp>
      <p:sp>
        <p:nvSpPr>
          <p:cNvPr id="22" name="Text 10">
            <a:extLst>
              <a:ext uri="{FF2B5EF4-FFF2-40B4-BE49-F238E27FC236}">
                <a16:creationId xmlns:a16="http://schemas.microsoft.com/office/drawing/2014/main" id="{54D0A775-2264-085E-A784-576AFBD6A006}"/>
              </a:ext>
            </a:extLst>
          </p:cNvPr>
          <p:cNvSpPr txBox="1"/>
          <p:nvPr/>
        </p:nvSpPr>
        <p:spPr>
          <a:xfrm>
            <a:off x="6432674" y="3456966"/>
            <a:ext cx="4800600" cy="996111"/>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0000"/>
              </a:lnSpc>
              <a:buNone/>
            </a:pPr>
            <a:r>
              <a:rPr lang="en-US" sz="1350" dirty="0">
                <a:solidFill>
                  <a:srgbClr val="1E2761"/>
                </a:solidFill>
                <a:latin typeface="Calibri" pitchFamily="34" charset="0"/>
                <a:ea typeface="Calibri" pitchFamily="34" charset="-122"/>
                <a:cs typeface="Calibri" pitchFamily="34" charset="-120"/>
              </a:rPr>
              <a:t>Persists across sessions: user preferences, past interactions, facts. Usually kept in a database or vector store and pulled in only when relevant. In my project I stored it in a memory.json file</a:t>
            </a:r>
            <a:endParaRPr lang="en-US" sz="1350" dirty="0"/>
          </a:p>
        </p:txBody>
      </p:sp>
      <p:sp>
        <p:nvSpPr>
          <p:cNvPr id="23" name="Shape 11">
            <a:extLst>
              <a:ext uri="{FF2B5EF4-FFF2-40B4-BE49-F238E27FC236}">
                <a16:creationId xmlns:a16="http://schemas.microsoft.com/office/drawing/2014/main" id="{B1796B35-B94B-209E-02A4-87B2A79BE206}"/>
              </a:ext>
            </a:extLst>
          </p:cNvPr>
          <p:cNvSpPr/>
          <p:nvPr/>
        </p:nvSpPr>
        <p:spPr>
          <a:xfrm>
            <a:off x="6445126" y="4910277"/>
            <a:ext cx="4800600" cy="914400"/>
          </a:xfrm>
          <a:prstGeom prst="roundRect">
            <a:avLst>
              <a:gd name="adj" fmla="val 8000"/>
            </a:avLst>
          </a:prstGeom>
          <a:solidFill>
            <a:srgbClr val="FFFFFF"/>
          </a:solidFill>
          <a:ln w="12700">
            <a:solidFill>
              <a:srgbClr val="CADCFC"/>
            </a:solidFill>
            <a:prstDash val="solid"/>
          </a:ln>
        </p:spPr>
        <p:txBody>
          <a:bodyPr/>
          <a:lstStyle/>
          <a:p>
            <a:r>
              <a:rPr lang="en-US" sz="1200" i="1" dirty="0">
                <a:solidFill>
                  <a:srgbClr val="5B6B8C"/>
                </a:solidFill>
                <a:latin typeface="Calibri" pitchFamily="34" charset="0"/>
                <a:ea typeface="Calibri" pitchFamily="34" charset="-122"/>
                <a:cs typeface="Calibri" pitchFamily="34" charset="-120"/>
              </a:rPr>
              <a:t>“Remembers you always pick a window seat, from a booking three trips ago.”</a:t>
            </a:r>
            <a:endParaRPr lang="en-US" sz="1200" dirty="0"/>
          </a:p>
        </p:txBody>
      </p:sp>
    </p:spTree>
    <p:extLst>
      <p:ext uri="{BB962C8B-B14F-4D97-AF65-F5344CB8AC3E}">
        <p14:creationId xmlns:p14="http://schemas.microsoft.com/office/powerpoint/2010/main" val="293636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E5887AD3-13A3-6C10-177D-9EDC51DA89B2}"/>
              </a:ext>
            </a:extLst>
          </p:cNvPr>
          <p:cNvSpPr txBox="1"/>
          <p:nvPr/>
        </p:nvSpPr>
        <p:spPr>
          <a:xfrm>
            <a:off x="229151" y="93386"/>
            <a:ext cx="11091672"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1E2761"/>
                </a:solidFill>
                <a:latin typeface="Cambria" pitchFamily="34" charset="0"/>
                <a:ea typeface="Cambria" pitchFamily="34" charset="-122"/>
                <a:cs typeface="Cambria" pitchFamily="34" charset="-120"/>
              </a:rPr>
              <a:t>Reliability, guardrails, and security</a:t>
            </a:r>
            <a:endParaRPr lang="en-US" sz="3000" dirty="0"/>
          </a:p>
        </p:txBody>
      </p:sp>
      <p:sp>
        <p:nvSpPr>
          <p:cNvPr id="4" name="TextBox 3">
            <a:extLst>
              <a:ext uri="{FF2B5EF4-FFF2-40B4-BE49-F238E27FC236}">
                <a16:creationId xmlns:a16="http://schemas.microsoft.com/office/drawing/2014/main" id="{F7DFA02C-9F3D-8426-2029-4A509CEFD5EC}"/>
              </a:ext>
            </a:extLst>
          </p:cNvPr>
          <p:cNvSpPr txBox="1"/>
          <p:nvPr/>
        </p:nvSpPr>
        <p:spPr>
          <a:xfrm>
            <a:off x="229151" y="817123"/>
            <a:ext cx="11653736" cy="646331"/>
          </a:xfrm>
          <a:prstGeom prst="rect">
            <a:avLst/>
          </a:prstGeom>
          <a:noFill/>
        </p:spPr>
        <p:txBody>
          <a:bodyPr wrap="square" rtlCol="0">
            <a:spAutoFit/>
          </a:bodyPr>
          <a:lstStyle/>
          <a:p>
            <a:r>
              <a:rPr lang="en-IN" dirty="0"/>
              <a:t>Unlike traditional large language models (LLMs) that only respond to text, AI agents take real-world actions, use external tools, call APIs, and modify data. Because autonomy also increases risk, safety controls are essential</a:t>
            </a:r>
          </a:p>
        </p:txBody>
      </p:sp>
      <p:sp>
        <p:nvSpPr>
          <p:cNvPr id="5" name="TextBox 4">
            <a:extLst>
              <a:ext uri="{FF2B5EF4-FFF2-40B4-BE49-F238E27FC236}">
                <a16:creationId xmlns:a16="http://schemas.microsoft.com/office/drawing/2014/main" id="{44D3689B-E023-4300-CCC4-6F4A1217B138}"/>
              </a:ext>
            </a:extLst>
          </p:cNvPr>
          <p:cNvSpPr txBox="1"/>
          <p:nvPr/>
        </p:nvSpPr>
        <p:spPr>
          <a:xfrm>
            <a:off x="398834" y="1780162"/>
            <a:ext cx="10921989" cy="4821833"/>
          </a:xfrm>
          <a:prstGeom prst="rect">
            <a:avLst/>
          </a:prstGeom>
          <a:noFill/>
        </p:spPr>
        <p:txBody>
          <a:bodyPr wrap="square" rtlCol="0">
            <a:spAutoFit/>
          </a:bodyPr>
          <a:lstStyle/>
          <a:p>
            <a:r>
              <a:rPr lang="en-IN" b="1" dirty="0">
                <a:solidFill>
                  <a:srgbClr val="FF0000"/>
                </a:solidFill>
              </a:rPr>
              <a:t>What can go wrong in this Agentic Ai architecture?</a:t>
            </a:r>
          </a:p>
          <a:p>
            <a:endParaRPr lang="en-IN" dirty="0"/>
          </a:p>
          <a:p>
            <a:pPr marL="177800" indent="-177800">
              <a:spcAft>
                <a:spcPts val="1200"/>
              </a:spcAft>
              <a:buSzPct val="100000"/>
              <a:buChar char="●"/>
            </a:pPr>
            <a:r>
              <a:rPr lang="en-US" dirty="0">
                <a:solidFill>
                  <a:srgbClr val="1E2761"/>
                </a:solidFill>
                <a:latin typeface="Calibri" pitchFamily="34" charset="0"/>
                <a:ea typeface="Calibri" pitchFamily="34" charset="-122"/>
                <a:cs typeface="Calibri" pitchFamily="34" charset="-120"/>
              </a:rPr>
              <a:t>Hallucinated or malformed tool calls</a:t>
            </a:r>
            <a:endParaRPr lang="en-US" dirty="0"/>
          </a:p>
          <a:p>
            <a:pPr marL="177800" indent="-177800">
              <a:spcAft>
                <a:spcPts val="1200"/>
              </a:spcAft>
              <a:buSzPct val="100000"/>
              <a:buChar char="●"/>
            </a:pPr>
            <a:r>
              <a:rPr lang="en-US" dirty="0">
                <a:solidFill>
                  <a:srgbClr val="1E2761"/>
                </a:solidFill>
                <a:latin typeface="Calibri" pitchFamily="34" charset="0"/>
                <a:ea typeface="Calibri" pitchFamily="34" charset="-122"/>
                <a:cs typeface="Calibri" pitchFamily="34" charset="-120"/>
              </a:rPr>
              <a:t>Infinite loops and runaway API costs</a:t>
            </a:r>
            <a:endParaRPr lang="en-US" dirty="0"/>
          </a:p>
          <a:p>
            <a:pPr marL="177800" indent="-177800">
              <a:spcAft>
                <a:spcPts val="1200"/>
              </a:spcAft>
              <a:buSzPct val="100000"/>
              <a:buChar char="●"/>
            </a:pPr>
            <a:r>
              <a:rPr lang="en-US" dirty="0">
                <a:solidFill>
                  <a:srgbClr val="1E2761"/>
                </a:solidFill>
                <a:latin typeface="Calibri" pitchFamily="34" charset="0"/>
                <a:ea typeface="Calibri" pitchFamily="34" charset="-122"/>
                <a:cs typeface="Calibri" pitchFamily="34" charset="-120"/>
              </a:rPr>
              <a:t>Wrong or irreversible actions, ex: booking the wrong flight, deleting real data</a:t>
            </a:r>
            <a:endParaRPr lang="en-US" dirty="0"/>
          </a:p>
          <a:p>
            <a:pPr marL="177800" indent="-177800">
              <a:spcAft>
                <a:spcPts val="1200"/>
              </a:spcAft>
              <a:buSzPct val="100000"/>
              <a:buChar char="●"/>
            </a:pPr>
            <a:r>
              <a:rPr lang="en-US" dirty="0">
                <a:solidFill>
                  <a:srgbClr val="1E2761"/>
                </a:solidFill>
                <a:latin typeface="Calibri" pitchFamily="34" charset="0"/>
                <a:ea typeface="Calibri" pitchFamily="34" charset="-122"/>
                <a:cs typeface="Calibri" pitchFamily="34" charset="-120"/>
              </a:rPr>
              <a:t>Prompt injection, </a:t>
            </a:r>
            <a:r>
              <a:rPr lang="en-US" dirty="0" err="1">
                <a:solidFill>
                  <a:srgbClr val="1E2761"/>
                </a:solidFill>
                <a:latin typeface="Calibri" pitchFamily="34" charset="0"/>
                <a:ea typeface="Calibri" pitchFamily="34" charset="-122"/>
                <a:cs typeface="Calibri" pitchFamily="34" charset="-120"/>
              </a:rPr>
              <a:t>eg</a:t>
            </a:r>
            <a:r>
              <a:rPr lang="en-US" dirty="0">
                <a:solidFill>
                  <a:srgbClr val="1E2761"/>
                </a:solidFill>
                <a:latin typeface="Calibri" pitchFamily="34" charset="0"/>
                <a:ea typeface="Calibri" pitchFamily="34" charset="-122"/>
                <a:cs typeface="Calibri" pitchFamily="34" charset="-120"/>
              </a:rPr>
              <a:t>: hidden instructions in a webpage or email the agent reads</a:t>
            </a:r>
            <a:endParaRPr lang="en-US" dirty="0"/>
          </a:p>
          <a:p>
            <a:r>
              <a:rPr lang="en-IN" b="1" dirty="0">
                <a:solidFill>
                  <a:srgbClr val="FF0000"/>
                </a:solidFill>
              </a:rPr>
              <a:t>How good agents guardrail against it?</a:t>
            </a:r>
          </a:p>
          <a:p>
            <a:endParaRPr lang="en-IN" b="1" dirty="0">
              <a:solidFill>
                <a:srgbClr val="FF0000"/>
              </a:solidFill>
            </a:endParaRPr>
          </a:p>
          <a:p>
            <a:pPr marL="177800" indent="-177800">
              <a:spcAft>
                <a:spcPts val="1000"/>
              </a:spcAft>
              <a:buSzPct val="100000"/>
              <a:buChar char="●"/>
            </a:pPr>
            <a:r>
              <a:rPr lang="en-US" dirty="0">
                <a:solidFill>
                  <a:srgbClr val="1E2761"/>
                </a:solidFill>
                <a:latin typeface="Calibri" pitchFamily="34" charset="0"/>
                <a:ea typeface="Calibri" pitchFamily="34" charset="-122"/>
                <a:cs typeface="Calibri" pitchFamily="34" charset="-120"/>
              </a:rPr>
              <a:t>Validate every tool call's arguments against a schema before running it</a:t>
            </a:r>
            <a:endParaRPr lang="en-US" dirty="0"/>
          </a:p>
          <a:p>
            <a:pPr marL="177800" indent="-177800">
              <a:spcAft>
                <a:spcPts val="1000"/>
              </a:spcAft>
              <a:buSzPct val="100000"/>
              <a:buChar char="●"/>
            </a:pPr>
            <a:r>
              <a:rPr lang="en-US" dirty="0">
                <a:solidFill>
                  <a:srgbClr val="1E2761"/>
                </a:solidFill>
                <a:latin typeface="Calibri" pitchFamily="34" charset="0"/>
                <a:ea typeface="Calibri" pitchFamily="34" charset="-122"/>
                <a:cs typeface="Calibri" pitchFamily="34" charset="-120"/>
              </a:rPr>
              <a:t>Limit the number of loop iterations and set a cost/time budget (in our code we capped it to 8/15)</a:t>
            </a:r>
            <a:endParaRPr lang="en-US" dirty="0"/>
          </a:p>
          <a:p>
            <a:pPr marL="177800" indent="-177800">
              <a:spcAft>
                <a:spcPts val="1000"/>
              </a:spcAft>
              <a:buSzPct val="100000"/>
              <a:buChar char="●"/>
            </a:pPr>
            <a:r>
              <a:rPr lang="en-US" dirty="0">
                <a:solidFill>
                  <a:srgbClr val="1E2761"/>
                </a:solidFill>
                <a:latin typeface="Calibri" pitchFamily="34" charset="0"/>
                <a:ea typeface="Calibri" pitchFamily="34" charset="-122"/>
                <a:cs typeface="Calibri" pitchFamily="34" charset="-120"/>
              </a:rPr>
              <a:t>Require human approval for risky or irreversible actions, </a:t>
            </a:r>
            <a:r>
              <a:rPr lang="en-US" dirty="0" err="1">
                <a:solidFill>
                  <a:srgbClr val="1E2761"/>
                </a:solidFill>
                <a:latin typeface="Calibri" pitchFamily="34" charset="0"/>
                <a:ea typeface="Calibri" pitchFamily="34" charset="-122"/>
                <a:cs typeface="Calibri" pitchFamily="34" charset="-120"/>
              </a:rPr>
              <a:t>eg</a:t>
            </a:r>
            <a:r>
              <a:rPr lang="en-US" dirty="0">
                <a:solidFill>
                  <a:srgbClr val="1E2761"/>
                </a:solidFill>
                <a:latin typeface="Calibri" pitchFamily="34" charset="0"/>
                <a:ea typeface="Calibri" pitchFamily="34" charset="-122"/>
                <a:cs typeface="Calibri" pitchFamily="34" charset="-120"/>
              </a:rPr>
              <a:t>: payments, deletions, sending messages</a:t>
            </a:r>
            <a:endParaRPr lang="en-US" dirty="0"/>
          </a:p>
          <a:p>
            <a:pPr marL="177800" indent="-177800">
              <a:spcAft>
                <a:spcPts val="1000"/>
              </a:spcAft>
              <a:buSzPct val="100000"/>
              <a:buChar char="●"/>
            </a:pPr>
            <a:r>
              <a:rPr lang="en-US" dirty="0">
                <a:solidFill>
                  <a:srgbClr val="1E2761"/>
                </a:solidFill>
                <a:latin typeface="Calibri" pitchFamily="34" charset="0"/>
                <a:ea typeface="Calibri" pitchFamily="34" charset="-122"/>
                <a:cs typeface="Calibri" pitchFamily="34" charset="-120"/>
              </a:rPr>
              <a:t>Restrict which tools and data an agent can reach, means implement scoped permissions, allow lists/</a:t>
            </a:r>
            <a:r>
              <a:rPr lang="en-US" dirty="0" err="1">
                <a:solidFill>
                  <a:srgbClr val="1E2761"/>
                </a:solidFill>
                <a:latin typeface="Calibri" pitchFamily="34" charset="0"/>
                <a:ea typeface="Calibri" pitchFamily="34" charset="-122"/>
                <a:cs typeface="Calibri" pitchFamily="34" charset="-120"/>
              </a:rPr>
              <a:t>enums</a:t>
            </a:r>
            <a:endParaRPr lang="en-US" dirty="0"/>
          </a:p>
          <a:p>
            <a:pPr marL="177800" indent="-177800">
              <a:spcAft>
                <a:spcPts val="1000"/>
              </a:spcAft>
              <a:buSzPct val="100000"/>
              <a:buChar char="●"/>
            </a:pPr>
            <a:r>
              <a:rPr lang="en-US" dirty="0">
                <a:solidFill>
                  <a:srgbClr val="1E2761"/>
                </a:solidFill>
                <a:latin typeface="Calibri" pitchFamily="34" charset="0"/>
                <a:ea typeface="Calibri" pitchFamily="34" charset="-122"/>
                <a:cs typeface="Calibri" pitchFamily="34" charset="-120"/>
              </a:rPr>
              <a:t>Always log every action taken, for an audit trail</a:t>
            </a:r>
            <a:endParaRPr lang="en-IN" dirty="0"/>
          </a:p>
        </p:txBody>
      </p:sp>
    </p:spTree>
    <p:extLst>
      <p:ext uri="{BB962C8B-B14F-4D97-AF65-F5344CB8AC3E}">
        <p14:creationId xmlns:p14="http://schemas.microsoft.com/office/powerpoint/2010/main" val="242365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C1E900-7130-94A2-3874-2931F45C242A}"/>
              </a:ext>
            </a:extLst>
          </p:cNvPr>
          <p:cNvSpPr txBox="1"/>
          <p:nvPr/>
        </p:nvSpPr>
        <p:spPr>
          <a:xfrm>
            <a:off x="145915" y="291829"/>
            <a:ext cx="11780195" cy="6063198"/>
          </a:xfrm>
          <a:prstGeom prst="rect">
            <a:avLst/>
          </a:prstGeom>
          <a:noFill/>
        </p:spPr>
        <p:txBody>
          <a:bodyPr wrap="square" rtlCol="0">
            <a:spAutoFit/>
          </a:bodyPr>
          <a:lstStyle/>
          <a:p>
            <a:r>
              <a:rPr lang="en-IN" sz="2800" b="1" dirty="0">
                <a:solidFill>
                  <a:srgbClr val="00B050"/>
                </a:solidFill>
              </a:rPr>
              <a:t>Types and Layers of Guardrails and Security</a:t>
            </a:r>
          </a:p>
          <a:p>
            <a:endParaRPr lang="en-IN" b="1" dirty="0"/>
          </a:p>
          <a:p>
            <a:pPr lvl="0"/>
            <a:r>
              <a:rPr lang="en-IN" b="1" dirty="0"/>
              <a:t>Input Guardrails (Pre-processing):</a:t>
            </a:r>
            <a:r>
              <a:rPr lang="en-IN" dirty="0"/>
              <a:t> </a:t>
            </a:r>
            <a:r>
              <a:rPr lang="en-US" dirty="0"/>
              <a:t> Validate and sanitize user requests before the agent's reasoning engine processes them. They block prompt injection attacks, redact Personally Identifiable Information (PII), and reject out-of-scope or malformed commands</a:t>
            </a:r>
          </a:p>
          <a:p>
            <a:pPr lvl="0"/>
            <a:endParaRPr lang="en-US" dirty="0"/>
          </a:p>
          <a:p>
            <a:pPr lvl="0"/>
            <a:r>
              <a:rPr lang="en-IN" b="1" dirty="0"/>
              <a:t>Action &amp; Tool Guardrails (Execution):</a:t>
            </a:r>
            <a:r>
              <a:rPr lang="en-IN" dirty="0"/>
              <a:t> Restrict what an agent is allowed to do. They enforce structured schemas for tool parameters, limit function calls, set rate caps, and enforce permission boundaries (such as read-only database access) directly at the system level rather than relying on prompts. </a:t>
            </a:r>
          </a:p>
          <a:p>
            <a:pPr lvl="0"/>
            <a:endParaRPr lang="en-IN" dirty="0"/>
          </a:p>
          <a:p>
            <a:pPr lvl="0"/>
            <a:r>
              <a:rPr lang="en-IN" b="1" dirty="0"/>
              <a:t>Output Guardrails (Post-processing):</a:t>
            </a:r>
            <a:r>
              <a:rPr lang="en-IN" dirty="0"/>
              <a:t> Inspect the final results before they reach a user or external system. Always check for hallucinations, filter toxic content, and prevent data leakage.</a:t>
            </a:r>
          </a:p>
          <a:p>
            <a:pPr lvl="0"/>
            <a:endParaRPr lang="en-IN" dirty="0"/>
          </a:p>
          <a:p>
            <a:pPr lvl="0"/>
            <a:r>
              <a:rPr lang="en-IN" b="1" dirty="0"/>
              <a:t>Circuit Breakers &amp; Rate Limits:</a:t>
            </a:r>
            <a:r>
              <a:rPr lang="en-IN" dirty="0"/>
              <a:t> Automatically halt execution or cap actions if error rates spike or resource limits cross a certain limit during extended operations. </a:t>
            </a:r>
          </a:p>
          <a:p>
            <a:pPr lvl="0"/>
            <a:endParaRPr lang="en-IN" dirty="0"/>
          </a:p>
          <a:p>
            <a:pPr lvl="0"/>
            <a:r>
              <a:rPr lang="en-IN" b="1" dirty="0"/>
              <a:t>Human-in-the-Loop (HITL):</a:t>
            </a:r>
            <a:r>
              <a:rPr lang="en-IN" dirty="0"/>
              <a:t> Require manual human approval before the agent executes high-impact or irreversible actions, such as sending money or deleting files.</a:t>
            </a:r>
          </a:p>
          <a:p>
            <a:pPr lvl="0"/>
            <a:endParaRPr lang="en-IN" dirty="0"/>
          </a:p>
          <a:p>
            <a:pPr lvl="0"/>
            <a:r>
              <a:rPr lang="en-IN" b="1" dirty="0"/>
              <a:t>Audit Trails:</a:t>
            </a:r>
            <a:r>
              <a:rPr lang="en-IN" dirty="0"/>
              <a:t> Always log all actions, authentication events, tool access patterns, and agent decisions. Also capture agent’s chain of thought to better understand what’s going on and what went wrong</a:t>
            </a:r>
          </a:p>
        </p:txBody>
      </p:sp>
    </p:spTree>
    <p:extLst>
      <p:ext uri="{BB962C8B-B14F-4D97-AF65-F5344CB8AC3E}">
        <p14:creationId xmlns:p14="http://schemas.microsoft.com/office/powerpoint/2010/main" val="3650022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945181E7-ADCD-189E-8B38-6F0C3791B4C4}"/>
              </a:ext>
            </a:extLst>
          </p:cNvPr>
          <p:cNvSpPr txBox="1"/>
          <p:nvPr/>
        </p:nvSpPr>
        <p:spPr>
          <a:xfrm>
            <a:off x="219424" y="93386"/>
            <a:ext cx="11091672"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1E2761"/>
                </a:solidFill>
                <a:latin typeface="Cambria" pitchFamily="34" charset="0"/>
                <a:ea typeface="Cambria" pitchFamily="34" charset="-122"/>
                <a:cs typeface="Cambria" pitchFamily="34" charset="-120"/>
              </a:rPr>
              <a:t>Real-world use case: An AI coding agent</a:t>
            </a:r>
            <a:endParaRPr lang="en-US" sz="3000" dirty="0"/>
          </a:p>
        </p:txBody>
      </p:sp>
      <p:sp>
        <p:nvSpPr>
          <p:cNvPr id="4" name="Shape 3">
            <a:extLst>
              <a:ext uri="{FF2B5EF4-FFF2-40B4-BE49-F238E27FC236}">
                <a16:creationId xmlns:a16="http://schemas.microsoft.com/office/drawing/2014/main" id="{6FC5A125-23EF-E7CC-D18F-DE87A95E50D4}"/>
              </a:ext>
            </a:extLst>
          </p:cNvPr>
          <p:cNvSpPr/>
          <p:nvPr/>
        </p:nvSpPr>
        <p:spPr>
          <a:xfrm>
            <a:off x="246856" y="1069556"/>
            <a:ext cx="11064240" cy="594360"/>
          </a:xfrm>
          <a:prstGeom prst="roundRect">
            <a:avLst>
              <a:gd name="adj" fmla="val 12308"/>
            </a:avLst>
          </a:prstGeom>
          <a:solidFill>
            <a:srgbClr val="1E2761"/>
          </a:solidFill>
          <a:ln/>
          <a:effectLst>
            <a:outerShdw blurRad="76200" dist="25400" dir="5400000" algn="bl" rotWithShape="0">
              <a:srgbClr val="44546A">
                <a:alpha val="18000"/>
              </a:srgbClr>
            </a:outerShdw>
          </a:effectLst>
        </p:spPr>
        <p:txBody>
          <a:bodyPr/>
          <a:lstStyle/>
          <a:p>
            <a:endParaRPr lang="en-IN"/>
          </a:p>
        </p:txBody>
      </p:sp>
      <p:sp>
        <p:nvSpPr>
          <p:cNvPr id="5" name="Text 4">
            <a:extLst>
              <a:ext uri="{FF2B5EF4-FFF2-40B4-BE49-F238E27FC236}">
                <a16:creationId xmlns:a16="http://schemas.microsoft.com/office/drawing/2014/main" id="{6CFE21A7-2A18-E66F-8F46-7276BCE21E8C}"/>
              </a:ext>
            </a:extLst>
          </p:cNvPr>
          <p:cNvSpPr txBox="1"/>
          <p:nvPr/>
        </p:nvSpPr>
        <p:spPr>
          <a:xfrm>
            <a:off x="246856" y="1206716"/>
            <a:ext cx="11064240" cy="3657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Calibri" pitchFamily="34" charset="0"/>
                <a:ea typeface="Calibri" pitchFamily="34" charset="-122"/>
                <a:cs typeface="Calibri" pitchFamily="34" charset="-120"/>
              </a:rPr>
              <a:t>Scenario: a test is failing in our project, Ex: “test_login fails: KeyError ‘token’”</a:t>
            </a:r>
            <a:endParaRPr lang="en-US" sz="1400" dirty="0"/>
          </a:p>
        </p:txBody>
      </p:sp>
      <p:sp>
        <p:nvSpPr>
          <p:cNvPr id="6" name="TextBox 5">
            <a:extLst>
              <a:ext uri="{FF2B5EF4-FFF2-40B4-BE49-F238E27FC236}">
                <a16:creationId xmlns:a16="http://schemas.microsoft.com/office/drawing/2014/main" id="{07600E3B-7972-8331-F41E-4FFEF383BE2B}"/>
              </a:ext>
            </a:extLst>
          </p:cNvPr>
          <p:cNvSpPr txBox="1"/>
          <p:nvPr/>
        </p:nvSpPr>
        <p:spPr>
          <a:xfrm>
            <a:off x="6450930" y="1964166"/>
            <a:ext cx="4792072" cy="3816429"/>
          </a:xfrm>
          <a:prstGeom prst="rect">
            <a:avLst/>
          </a:prstGeom>
          <a:solidFill>
            <a:schemeClr val="accent1">
              <a:lumMod val="20000"/>
              <a:lumOff val="80000"/>
            </a:schemeClr>
          </a:solidFill>
        </p:spPr>
        <p:txBody>
          <a:bodyPr wrap="square" rtlCol="0">
            <a:spAutoFit/>
          </a:bodyPr>
          <a:lstStyle/>
          <a:p>
            <a:r>
              <a:rPr lang="en-IN" sz="1600" b="1" dirty="0"/>
              <a:t>Cycle 2: Resolution &amp; Closeout</a:t>
            </a:r>
          </a:p>
          <a:p>
            <a:endParaRPr lang="en-IN" sz="1600" b="1" dirty="0"/>
          </a:p>
          <a:p>
            <a:pPr lvl="0"/>
            <a:r>
              <a:rPr lang="en-IN" sz="1600" b="1" dirty="0"/>
              <a:t>Step 5: Observe</a:t>
            </a:r>
            <a:endParaRPr lang="en-IN" sz="1600" dirty="0"/>
          </a:p>
          <a:p>
            <a:pPr lvl="1"/>
            <a:r>
              <a:rPr lang="en-IN" sz="1600" dirty="0"/>
              <a:t>Test still fails with a different error; troubleshooting loop continues.</a:t>
            </a:r>
          </a:p>
          <a:p>
            <a:pPr lvl="0"/>
            <a:r>
              <a:rPr lang="en-IN" sz="1600" b="1" dirty="0"/>
              <a:t>Step 6: Think</a:t>
            </a:r>
            <a:endParaRPr lang="en-IN" sz="1600" dirty="0"/>
          </a:p>
          <a:p>
            <a:pPr lvl="1"/>
            <a:r>
              <a:rPr lang="en-IN" sz="1600" dirty="0"/>
              <a:t>Discovers the root cause: token is generated after the response is built.</a:t>
            </a:r>
          </a:p>
          <a:p>
            <a:pPr lvl="0"/>
            <a:r>
              <a:rPr lang="en-IN" sz="1600" b="1" dirty="0"/>
              <a:t>Step 7: Act</a:t>
            </a:r>
            <a:endParaRPr lang="en-IN" sz="1600" dirty="0"/>
          </a:p>
          <a:p>
            <a:pPr lvl="1"/>
            <a:r>
              <a:rPr lang="en-IN" sz="1600" dirty="0"/>
              <a:t>Fixes the ordering and reruns the tests, all tests now pass.</a:t>
            </a:r>
          </a:p>
          <a:p>
            <a:pPr lvl="0"/>
            <a:r>
              <a:rPr lang="en-IN" sz="1600" b="1" dirty="0"/>
              <a:t>Step 8: Done</a:t>
            </a:r>
            <a:endParaRPr lang="en-IN" sz="1600" dirty="0"/>
          </a:p>
          <a:p>
            <a:pPr lvl="1"/>
            <a:r>
              <a:rPr lang="en-IN" sz="1600" dirty="0"/>
              <a:t>Reports the fix and diff; strictly avoids auto-merging to main.</a:t>
            </a:r>
          </a:p>
          <a:p>
            <a:endParaRPr lang="en-IN" dirty="0"/>
          </a:p>
        </p:txBody>
      </p:sp>
      <p:sp>
        <p:nvSpPr>
          <p:cNvPr id="8" name="TextBox 7">
            <a:extLst>
              <a:ext uri="{FF2B5EF4-FFF2-40B4-BE49-F238E27FC236}">
                <a16:creationId xmlns:a16="http://schemas.microsoft.com/office/drawing/2014/main" id="{DFE1001F-3659-5F1F-FC25-E9736D0F5812}"/>
              </a:ext>
            </a:extLst>
          </p:cNvPr>
          <p:cNvSpPr txBox="1"/>
          <p:nvPr/>
        </p:nvSpPr>
        <p:spPr>
          <a:xfrm>
            <a:off x="399255" y="1964167"/>
            <a:ext cx="4792073" cy="3816429"/>
          </a:xfrm>
          <a:prstGeom prst="rect">
            <a:avLst/>
          </a:prstGeom>
          <a:solidFill>
            <a:schemeClr val="accent1">
              <a:lumMod val="20000"/>
              <a:lumOff val="80000"/>
            </a:schemeClr>
          </a:solidFill>
        </p:spPr>
        <p:txBody>
          <a:bodyPr wrap="square" rtlCol="0">
            <a:spAutoFit/>
          </a:bodyPr>
          <a:lstStyle/>
          <a:p>
            <a:r>
              <a:rPr lang="en-IN" sz="1600" b="1" dirty="0"/>
              <a:t>Cycle 1: Initial Troubleshooting</a:t>
            </a:r>
          </a:p>
          <a:p>
            <a:endParaRPr lang="en-IN" sz="1600" b="1" dirty="0"/>
          </a:p>
          <a:p>
            <a:pPr lvl="0"/>
            <a:r>
              <a:rPr lang="en-IN" sz="1600" b="1" dirty="0"/>
              <a:t>Step 1: Observe</a:t>
            </a:r>
            <a:endParaRPr lang="en-IN" sz="1600" dirty="0"/>
          </a:p>
          <a:p>
            <a:pPr lvl="1"/>
            <a:r>
              <a:rPr lang="en-IN" sz="1600" dirty="0"/>
              <a:t>Reads the failing test's error and stack trace.</a:t>
            </a:r>
          </a:p>
          <a:p>
            <a:pPr lvl="0"/>
            <a:r>
              <a:rPr lang="en-IN" sz="1600" b="1" dirty="0"/>
              <a:t>Step 2: Think</a:t>
            </a:r>
            <a:endParaRPr lang="en-IN" sz="1600" dirty="0"/>
          </a:p>
          <a:p>
            <a:pPr lvl="1"/>
            <a:r>
              <a:rPr lang="en-IN" sz="1600" dirty="0"/>
              <a:t>Identifies that the missing key likely comes from auth.js.</a:t>
            </a:r>
          </a:p>
          <a:p>
            <a:pPr lvl="0"/>
            <a:r>
              <a:rPr lang="en-IN" sz="1600" b="1" dirty="0"/>
              <a:t>Step 3: Act</a:t>
            </a:r>
            <a:endParaRPr lang="en-IN" sz="1600" dirty="0"/>
          </a:p>
          <a:p>
            <a:pPr lvl="1"/>
            <a:r>
              <a:rPr lang="en-IN" sz="1600" dirty="0"/>
              <a:t>Uses edit_file() tool to modify the response to include the token.</a:t>
            </a:r>
          </a:p>
          <a:p>
            <a:pPr lvl="0"/>
            <a:r>
              <a:rPr lang="en-IN" sz="1600" b="1" dirty="0"/>
              <a:t>Step 4: Act</a:t>
            </a:r>
            <a:endParaRPr lang="en-IN" sz="1600" dirty="0"/>
          </a:p>
          <a:p>
            <a:pPr lvl="1"/>
            <a:r>
              <a:rPr lang="en-IN" sz="1600" dirty="0"/>
              <a:t>Uses run_tests() tool to rerun the test suite.</a:t>
            </a:r>
          </a:p>
          <a:p>
            <a:pPr lvl="1"/>
            <a:r>
              <a:rPr lang="en-IN" sz="1600" dirty="0"/>
              <a:t>But same error still occurs</a:t>
            </a:r>
          </a:p>
          <a:p>
            <a:pPr lvl="1"/>
            <a:endParaRPr lang="en-IN" sz="1600" dirty="0"/>
          </a:p>
          <a:p>
            <a:endParaRPr lang="en-IN" dirty="0"/>
          </a:p>
        </p:txBody>
      </p:sp>
      <p:sp>
        <p:nvSpPr>
          <p:cNvPr id="9" name="TextBox 8">
            <a:extLst>
              <a:ext uri="{FF2B5EF4-FFF2-40B4-BE49-F238E27FC236}">
                <a16:creationId xmlns:a16="http://schemas.microsoft.com/office/drawing/2014/main" id="{534CD09B-68C1-930C-1EA8-DFBACE8C3519}"/>
              </a:ext>
            </a:extLst>
          </p:cNvPr>
          <p:cNvSpPr txBox="1"/>
          <p:nvPr/>
        </p:nvSpPr>
        <p:spPr>
          <a:xfrm>
            <a:off x="399255" y="6080845"/>
            <a:ext cx="11653314" cy="369332"/>
          </a:xfrm>
          <a:prstGeom prst="rect">
            <a:avLst/>
          </a:prstGeom>
          <a:noFill/>
        </p:spPr>
        <p:txBody>
          <a:bodyPr wrap="square" rtlCol="0">
            <a:spAutoFit/>
          </a:bodyPr>
          <a:lstStyle/>
          <a:p>
            <a:r>
              <a:rPr lang="en-US" dirty="0">
                <a:solidFill>
                  <a:srgbClr val="5B6B8C"/>
                </a:solidFill>
                <a:latin typeface="Calibri" pitchFamily="34" charset="0"/>
                <a:ea typeface="Calibri" pitchFamily="34" charset="-122"/>
                <a:cs typeface="Calibri" pitchFamily="34" charset="-120"/>
              </a:rPr>
              <a:t>Guardrail in action: the agent can read, edit, and test code freely, but merging to main still needs a human conformation</a:t>
            </a:r>
            <a:endParaRPr lang="en-IN" dirty="0"/>
          </a:p>
        </p:txBody>
      </p:sp>
    </p:spTree>
    <p:extLst>
      <p:ext uri="{BB962C8B-B14F-4D97-AF65-F5344CB8AC3E}">
        <p14:creationId xmlns:p14="http://schemas.microsoft.com/office/powerpoint/2010/main" val="3133486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2C353F6B-7873-4E16-1C44-81D62D8DF798}"/>
              </a:ext>
            </a:extLst>
          </p:cNvPr>
          <p:cNvSpPr txBox="1"/>
          <p:nvPr/>
        </p:nvSpPr>
        <p:spPr>
          <a:xfrm>
            <a:off x="219424" y="93386"/>
            <a:ext cx="11091672" cy="6400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000" b="1" dirty="0">
                <a:solidFill>
                  <a:srgbClr val="1E2761"/>
                </a:solidFill>
                <a:latin typeface="Cambria" pitchFamily="34" charset="0"/>
                <a:ea typeface="Cambria" pitchFamily="34" charset="-122"/>
                <a:cs typeface="Cambria" pitchFamily="34" charset="-120"/>
              </a:rPr>
              <a:t>Real-world use case: Automated Project Management Agent</a:t>
            </a:r>
            <a:endParaRPr lang="en-US" sz="3000" dirty="0"/>
          </a:p>
        </p:txBody>
      </p:sp>
      <p:sp>
        <p:nvSpPr>
          <p:cNvPr id="4" name="Rectangle: Rounded Corners 3">
            <a:extLst>
              <a:ext uri="{FF2B5EF4-FFF2-40B4-BE49-F238E27FC236}">
                <a16:creationId xmlns:a16="http://schemas.microsoft.com/office/drawing/2014/main" id="{236C9623-807A-6A7F-0CB2-D0AB4B471FFF}"/>
              </a:ext>
            </a:extLst>
          </p:cNvPr>
          <p:cNvSpPr/>
          <p:nvPr/>
        </p:nvSpPr>
        <p:spPr>
          <a:xfrm>
            <a:off x="437745" y="1196502"/>
            <a:ext cx="4182893" cy="4659549"/>
          </a:xfrm>
          <a:prstGeom prst="roundRect">
            <a:avLst>
              <a:gd name="adj" fmla="val 573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defRPr sz="1500" b="1">
                <a:solidFill>
                  <a:srgbClr val="0F172A"/>
                </a:solidFill>
                <a:latin typeface="Arial"/>
              </a:defRPr>
            </a:pPr>
            <a:r>
              <a:rPr lang="en-US" dirty="0"/>
              <a:t>The Problem</a:t>
            </a:r>
          </a:p>
          <a:p>
            <a:pPr algn="ctr">
              <a:defRPr sz="1500" b="1">
                <a:solidFill>
                  <a:srgbClr val="0F172A"/>
                </a:solidFill>
                <a:latin typeface="Arial"/>
              </a:defRPr>
            </a:pPr>
            <a:endParaRPr lang="en-US" dirty="0"/>
          </a:p>
          <a:p>
            <a:pPr>
              <a:spcBef>
                <a:spcPts val="600"/>
              </a:spcBef>
              <a:defRPr sz="1200">
                <a:solidFill>
                  <a:srgbClr val="334155"/>
                </a:solidFill>
                <a:latin typeface="Arial"/>
              </a:defRPr>
            </a:pPr>
            <a:r>
              <a:rPr lang="en-US" b="1" dirty="0">
                <a:solidFill>
                  <a:srgbClr val="0F172A"/>
                </a:solidFill>
              </a:rPr>
              <a:t>• </a:t>
            </a:r>
            <a:r>
              <a:rPr lang="en-US" sz="1600" b="1" dirty="0">
                <a:solidFill>
                  <a:srgbClr val="0F172A"/>
                </a:solidFill>
              </a:rPr>
              <a:t>Information Fragmentation: </a:t>
            </a:r>
            <a:r>
              <a:rPr lang="en-US" sz="1600" dirty="0"/>
              <a:t>Project data is scattered across task trackers, employee databases, and status update reports.</a:t>
            </a:r>
          </a:p>
          <a:p>
            <a:pPr>
              <a:spcBef>
                <a:spcPts val="600"/>
              </a:spcBef>
              <a:defRPr sz="1200">
                <a:solidFill>
                  <a:srgbClr val="334155"/>
                </a:solidFill>
                <a:latin typeface="Arial"/>
              </a:defRPr>
            </a:pPr>
            <a:endParaRPr lang="en-US" sz="1600" dirty="0"/>
          </a:p>
          <a:p>
            <a:pPr>
              <a:spcBef>
                <a:spcPts val="600"/>
              </a:spcBef>
              <a:defRPr sz="1200">
                <a:solidFill>
                  <a:srgbClr val="334155"/>
                </a:solidFill>
                <a:latin typeface="Arial"/>
              </a:defRPr>
            </a:pPr>
            <a:r>
              <a:rPr lang="en-US" b="1" dirty="0">
                <a:solidFill>
                  <a:srgbClr val="0F172A"/>
                </a:solidFill>
              </a:rPr>
              <a:t>• </a:t>
            </a:r>
            <a:r>
              <a:rPr lang="en-US" sz="1600" b="1" dirty="0">
                <a:solidFill>
                  <a:srgbClr val="0F172A"/>
                </a:solidFill>
              </a:rPr>
              <a:t>Manual Audit Bottlenecks: </a:t>
            </a:r>
            <a:r>
              <a:rPr lang="en-US" sz="1600" dirty="0"/>
              <a:t>Engineering managers waste hours checking overdue tasks, detecting resource bottlenecks, and spotting conflicting status updates</a:t>
            </a:r>
            <a:r>
              <a:rPr lang="en-US" dirty="0"/>
              <a:t>.</a:t>
            </a:r>
          </a:p>
          <a:p>
            <a:pPr>
              <a:spcBef>
                <a:spcPts val="600"/>
              </a:spcBef>
              <a:defRPr sz="1200">
                <a:solidFill>
                  <a:srgbClr val="334155"/>
                </a:solidFill>
                <a:latin typeface="Arial"/>
              </a:defRPr>
            </a:pPr>
            <a:endParaRPr lang="en-US" dirty="0"/>
          </a:p>
          <a:p>
            <a:pPr>
              <a:spcBef>
                <a:spcPts val="600"/>
              </a:spcBef>
              <a:defRPr sz="1200">
                <a:solidFill>
                  <a:srgbClr val="334155"/>
                </a:solidFill>
                <a:latin typeface="Arial"/>
              </a:defRPr>
            </a:pPr>
            <a:r>
              <a:rPr lang="en-US" b="1" dirty="0">
                <a:solidFill>
                  <a:srgbClr val="0F172A"/>
                </a:solidFill>
              </a:rPr>
              <a:t>• </a:t>
            </a:r>
            <a:r>
              <a:rPr lang="en-US" sz="1600" b="1" dirty="0">
                <a:solidFill>
                  <a:srgbClr val="0F172A"/>
                </a:solidFill>
              </a:rPr>
              <a:t>Human Error in Risk Analysis: </a:t>
            </a:r>
            <a:r>
              <a:rPr lang="en-US" sz="1600" dirty="0"/>
              <a:t>Stale updates and missing task coverage are easily overlooked in large multi-project organizations.</a:t>
            </a:r>
          </a:p>
        </p:txBody>
      </p:sp>
      <p:sp>
        <p:nvSpPr>
          <p:cNvPr id="7" name="Rectangle: Rounded Corners 6">
            <a:extLst>
              <a:ext uri="{FF2B5EF4-FFF2-40B4-BE49-F238E27FC236}">
                <a16:creationId xmlns:a16="http://schemas.microsoft.com/office/drawing/2014/main" id="{24D80C58-C88A-83B1-D05D-61FA8A4DA98A}"/>
              </a:ext>
            </a:extLst>
          </p:cNvPr>
          <p:cNvSpPr/>
          <p:nvPr/>
        </p:nvSpPr>
        <p:spPr>
          <a:xfrm>
            <a:off x="6981218" y="1196502"/>
            <a:ext cx="4182893" cy="4659549"/>
          </a:xfrm>
          <a:prstGeom prst="roundRect">
            <a:avLst>
              <a:gd name="adj" fmla="val 573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defRPr sz="1500" b="1">
                <a:solidFill>
                  <a:srgbClr val="0F172A"/>
                </a:solidFill>
                <a:latin typeface="Arial"/>
              </a:defRPr>
            </a:pPr>
            <a:r>
              <a:rPr lang="en-IN" dirty="0"/>
              <a:t>The Agentic AI Solution</a:t>
            </a:r>
          </a:p>
          <a:p>
            <a:pPr algn="ctr">
              <a:defRPr sz="1500" b="1">
                <a:solidFill>
                  <a:srgbClr val="0F172A"/>
                </a:solidFill>
                <a:latin typeface="Arial"/>
              </a:defRPr>
            </a:pPr>
            <a:endParaRPr lang="en-IN" dirty="0"/>
          </a:p>
          <a:p>
            <a:pPr>
              <a:spcBef>
                <a:spcPts val="600"/>
              </a:spcBef>
              <a:defRPr sz="1200">
                <a:solidFill>
                  <a:srgbClr val="334155"/>
                </a:solidFill>
                <a:latin typeface="Arial"/>
              </a:defRPr>
            </a:pPr>
            <a:r>
              <a:rPr lang="en-IN" b="1" dirty="0">
                <a:solidFill>
                  <a:srgbClr val="0F172A"/>
                </a:solidFill>
              </a:rPr>
              <a:t>• </a:t>
            </a:r>
            <a:r>
              <a:rPr lang="en-IN" sz="1600" b="1" dirty="0">
                <a:solidFill>
                  <a:srgbClr val="0F172A"/>
                </a:solidFill>
              </a:rPr>
              <a:t>Autonomous Goal </a:t>
            </a:r>
            <a:r>
              <a:rPr lang="en-IN" sz="1600" b="1" dirty="0" err="1">
                <a:solidFill>
                  <a:srgbClr val="0F172A"/>
                </a:solidFill>
              </a:rPr>
              <a:t>Fulfillment</a:t>
            </a:r>
            <a:r>
              <a:rPr lang="en-IN" sz="1600" b="1" dirty="0">
                <a:solidFill>
                  <a:srgbClr val="0F172A"/>
                </a:solidFill>
              </a:rPr>
              <a:t>: </a:t>
            </a:r>
            <a:r>
              <a:rPr lang="en-IN" sz="1600" dirty="0"/>
              <a:t>A single prompt ('</a:t>
            </a:r>
            <a:r>
              <a:rPr lang="en-IN" sz="1600" dirty="0" err="1"/>
              <a:t>Analyze</a:t>
            </a:r>
            <a:r>
              <a:rPr lang="en-IN" sz="1600" dirty="0"/>
              <a:t> all active projects and generate risk report’) does cross-system analysis and gives all info.</a:t>
            </a:r>
          </a:p>
          <a:p>
            <a:pPr>
              <a:spcBef>
                <a:spcPts val="600"/>
              </a:spcBef>
              <a:defRPr sz="1200">
                <a:solidFill>
                  <a:srgbClr val="334155"/>
                </a:solidFill>
                <a:latin typeface="Arial"/>
              </a:defRPr>
            </a:pPr>
            <a:r>
              <a:rPr lang="en-IN" sz="1600" b="1" dirty="0">
                <a:solidFill>
                  <a:srgbClr val="0F172A"/>
                </a:solidFill>
              </a:rPr>
              <a:t>• Automated audits: </a:t>
            </a:r>
            <a:r>
              <a:rPr lang="en-IN" sz="1600" dirty="0"/>
              <a:t>Agent autonomously queries projects, calculates metrics, inspects task statuses, and reads update logs.</a:t>
            </a:r>
          </a:p>
          <a:p>
            <a:pPr>
              <a:spcBef>
                <a:spcPts val="600"/>
              </a:spcBef>
              <a:defRPr sz="1200">
                <a:solidFill>
                  <a:srgbClr val="334155"/>
                </a:solidFill>
                <a:latin typeface="Arial"/>
              </a:defRPr>
            </a:pPr>
            <a:r>
              <a:rPr lang="en-IN" sz="1600" b="1" dirty="0">
                <a:solidFill>
                  <a:srgbClr val="0F172A"/>
                </a:solidFill>
              </a:rPr>
              <a:t>• Deterministic Risk Calculations: </a:t>
            </a:r>
            <a:r>
              <a:rPr lang="en-IN" sz="1600" dirty="0"/>
              <a:t>Identifies overdue work, assignee overload, taskless projects, stale reports, and conflicting risk levels without manual effort.</a:t>
            </a:r>
          </a:p>
        </p:txBody>
      </p:sp>
    </p:spTree>
    <p:extLst>
      <p:ext uri="{BB962C8B-B14F-4D97-AF65-F5344CB8AC3E}">
        <p14:creationId xmlns:p14="http://schemas.microsoft.com/office/powerpoint/2010/main" val="2016349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4A916-E558-C1BC-420E-3B0F7B2C5A6B}"/>
              </a:ext>
            </a:extLst>
          </p:cNvPr>
          <p:cNvSpPr>
            <a:spLocks noGrp="1"/>
          </p:cNvSpPr>
          <p:nvPr>
            <p:ph type="title"/>
          </p:nvPr>
        </p:nvSpPr>
        <p:spPr>
          <a:xfrm>
            <a:off x="838200" y="365127"/>
            <a:ext cx="10515600" cy="957835"/>
          </a:xfrm>
        </p:spPr>
        <p:txBody>
          <a:bodyPr>
            <a:normAutofit/>
          </a:bodyPr>
          <a:lstStyle/>
          <a:p>
            <a:r>
              <a:rPr lang="en-IN" sz="3200" dirty="0"/>
              <a:t>How my own AI Agent works ?</a:t>
            </a:r>
          </a:p>
        </p:txBody>
      </p:sp>
      <p:sp>
        <p:nvSpPr>
          <p:cNvPr id="3" name="Content Placeholder 2">
            <a:extLst>
              <a:ext uri="{FF2B5EF4-FFF2-40B4-BE49-F238E27FC236}">
                <a16:creationId xmlns:a16="http://schemas.microsoft.com/office/drawing/2014/main" id="{CAF17583-1B6E-E6D8-F714-7E92843A119A}"/>
              </a:ext>
            </a:extLst>
          </p:cNvPr>
          <p:cNvSpPr>
            <a:spLocks noGrp="1"/>
          </p:cNvSpPr>
          <p:nvPr>
            <p:ph idx="1"/>
          </p:nvPr>
        </p:nvSpPr>
        <p:spPr>
          <a:xfrm>
            <a:off x="838199" y="1517516"/>
            <a:ext cx="10961451" cy="5048654"/>
          </a:xfrm>
        </p:spPr>
        <p:txBody>
          <a:bodyPr>
            <a:normAutofit/>
          </a:bodyPr>
          <a:lstStyle/>
          <a:p>
            <a:pPr marL="0" indent="0">
              <a:buNone/>
            </a:pPr>
            <a:r>
              <a:rPr lang="en-IN" sz="1800" dirty="0"/>
              <a:t>Code structure</a:t>
            </a:r>
          </a:p>
          <a:p>
            <a:r>
              <a:rPr lang="en-IN" sz="1800" dirty="0"/>
              <a:t>data/pm-</a:t>
            </a:r>
            <a:r>
              <a:rPr lang="en-IN" sz="1800" dirty="0" err="1"/>
              <a:t>data.json</a:t>
            </a:r>
            <a:r>
              <a:rPr lang="en-IN" sz="1800" dirty="0"/>
              <a:t> – contains our original data which is an array containing employees, projects, tasks, </a:t>
            </a:r>
            <a:r>
              <a:rPr lang="en-IN" sz="1800" dirty="0" err="1"/>
              <a:t>project_updates</a:t>
            </a:r>
            <a:endParaRPr lang="en-IN" sz="1800" dirty="0"/>
          </a:p>
          <a:p>
            <a:pPr marL="0" indent="0">
              <a:buNone/>
            </a:pPr>
            <a:r>
              <a:rPr lang="en-IN" sz="1800" dirty="0"/>
              <a:t>Sample data in my file</a:t>
            </a:r>
          </a:p>
          <a:p>
            <a:pPr marL="0" indent="0">
              <a:buNone/>
            </a:pPr>
            <a:endParaRPr lang="en-IN" sz="1800" dirty="0"/>
          </a:p>
        </p:txBody>
      </p:sp>
      <p:sp>
        <p:nvSpPr>
          <p:cNvPr id="4" name="Rectangle: Top Corners Rounded 3">
            <a:extLst>
              <a:ext uri="{FF2B5EF4-FFF2-40B4-BE49-F238E27FC236}">
                <a16:creationId xmlns:a16="http://schemas.microsoft.com/office/drawing/2014/main" id="{DCC14324-0433-7C52-F3B0-0B08C7B08459}"/>
              </a:ext>
            </a:extLst>
          </p:cNvPr>
          <p:cNvSpPr/>
          <p:nvPr/>
        </p:nvSpPr>
        <p:spPr>
          <a:xfrm>
            <a:off x="1089498" y="3356043"/>
            <a:ext cx="2305456" cy="2558374"/>
          </a:xfrm>
          <a:prstGeom prst="round2Same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solidFill>
              </a:rPr>
              <a:t>Employee</a:t>
            </a:r>
          </a:p>
          <a:p>
            <a:r>
              <a:rPr lang="en-US" dirty="0">
                <a:solidFill>
                  <a:schemeClr val="tx1"/>
                </a:solidFill>
              </a:rPr>
              <a:t> </a:t>
            </a:r>
            <a:r>
              <a:rPr lang="en-US" sz="1400" dirty="0">
                <a:solidFill>
                  <a:schemeClr val="tx1"/>
                </a:solidFill>
              </a:rPr>
              <a:t>{</a:t>
            </a:r>
          </a:p>
          <a:p>
            <a:r>
              <a:rPr lang="en-US" sz="1400" dirty="0">
                <a:solidFill>
                  <a:schemeClr val="tx1"/>
                </a:solidFill>
              </a:rPr>
              <a:t>      "id": "EMP1",</a:t>
            </a:r>
          </a:p>
          <a:p>
            <a:r>
              <a:rPr lang="en-US" sz="1400" dirty="0">
                <a:solidFill>
                  <a:schemeClr val="tx1"/>
                </a:solidFill>
              </a:rPr>
              <a:t>      "name": "John Smith",</a:t>
            </a:r>
          </a:p>
          <a:p>
            <a:r>
              <a:rPr lang="en-US" sz="1400" dirty="0">
                <a:solidFill>
                  <a:schemeClr val="tx1"/>
                </a:solidFill>
              </a:rPr>
              <a:t>      "department": "Engineering",</a:t>
            </a:r>
          </a:p>
          <a:p>
            <a:r>
              <a:rPr lang="en-US" sz="1400" dirty="0">
                <a:solidFill>
                  <a:schemeClr val="tx1"/>
                </a:solidFill>
              </a:rPr>
              <a:t>      "role": "Engineer"</a:t>
            </a:r>
          </a:p>
          <a:p>
            <a:r>
              <a:rPr lang="en-US" sz="1400" dirty="0">
                <a:solidFill>
                  <a:schemeClr val="tx1"/>
                </a:solidFill>
              </a:rPr>
              <a:t>    },</a:t>
            </a:r>
            <a:endParaRPr lang="en-IN" sz="1400" dirty="0">
              <a:solidFill>
                <a:schemeClr val="tx1"/>
              </a:solidFill>
            </a:endParaRPr>
          </a:p>
        </p:txBody>
      </p:sp>
      <p:sp>
        <p:nvSpPr>
          <p:cNvPr id="6" name="Rectangle: Top Corners Rounded 5">
            <a:extLst>
              <a:ext uri="{FF2B5EF4-FFF2-40B4-BE49-F238E27FC236}">
                <a16:creationId xmlns:a16="http://schemas.microsoft.com/office/drawing/2014/main" id="{5999E8EC-5F45-0CF3-D539-88E5624376F5}"/>
              </a:ext>
            </a:extLst>
          </p:cNvPr>
          <p:cNvSpPr/>
          <p:nvPr/>
        </p:nvSpPr>
        <p:spPr>
          <a:xfrm>
            <a:off x="3790544" y="3356043"/>
            <a:ext cx="2305456" cy="2558374"/>
          </a:xfrm>
          <a:prstGeom prst="round2Same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dirty="0">
                <a:solidFill>
                  <a:schemeClr val="tx1"/>
                </a:solidFill>
              </a:rPr>
              <a:t>Project</a:t>
            </a:r>
            <a:r>
              <a:rPr lang="en-IN" dirty="0"/>
              <a:t> </a:t>
            </a:r>
          </a:p>
          <a:p>
            <a:r>
              <a:rPr lang="en-IN" sz="1200" dirty="0">
                <a:solidFill>
                  <a:schemeClr val="tx1"/>
                </a:solidFill>
              </a:rPr>
              <a:t>{</a:t>
            </a:r>
          </a:p>
          <a:p>
            <a:r>
              <a:rPr lang="en-IN" sz="1200" dirty="0">
                <a:solidFill>
                  <a:schemeClr val="tx1"/>
                </a:solidFill>
              </a:rPr>
              <a:t>      "id": "PROJ_ALPHA",</a:t>
            </a:r>
          </a:p>
          <a:p>
            <a:r>
              <a:rPr lang="en-IN" sz="1200" dirty="0">
                <a:solidFill>
                  <a:schemeClr val="tx1"/>
                </a:solidFill>
              </a:rPr>
              <a:t>      "name": "Project Alpha",</a:t>
            </a:r>
          </a:p>
          <a:p>
            <a:r>
              <a:rPr lang="en-IN" sz="1200" dirty="0">
                <a:solidFill>
                  <a:schemeClr val="tx1"/>
                </a:solidFill>
              </a:rPr>
              <a:t>      "status": "active",</a:t>
            </a:r>
          </a:p>
          <a:p>
            <a:r>
              <a:rPr lang="en-IN" sz="1200" dirty="0">
                <a:solidFill>
                  <a:schemeClr val="tx1"/>
                </a:solidFill>
              </a:rPr>
              <a:t>      "</a:t>
            </a:r>
            <a:r>
              <a:rPr lang="en-IN" sz="1200" dirty="0" err="1">
                <a:solidFill>
                  <a:schemeClr val="tx1"/>
                </a:solidFill>
              </a:rPr>
              <a:t>ownerId</a:t>
            </a:r>
            <a:r>
              <a:rPr lang="en-IN" sz="1200" dirty="0">
                <a:solidFill>
                  <a:schemeClr val="tx1"/>
                </a:solidFill>
              </a:rPr>
              <a:t>": "EMP3",</a:t>
            </a:r>
          </a:p>
          <a:p>
            <a:r>
              <a:rPr lang="en-IN" sz="1200" dirty="0">
                <a:solidFill>
                  <a:schemeClr val="tx1"/>
                </a:solidFill>
              </a:rPr>
              <a:t>      "</a:t>
            </a:r>
            <a:r>
              <a:rPr lang="en-IN" sz="1200" dirty="0" err="1">
                <a:solidFill>
                  <a:schemeClr val="tx1"/>
                </a:solidFill>
              </a:rPr>
              <a:t>startDate</a:t>
            </a:r>
            <a:r>
              <a:rPr lang="en-IN" sz="1200" dirty="0">
                <a:solidFill>
                  <a:schemeClr val="tx1"/>
                </a:solidFill>
              </a:rPr>
              <a:t>": "2026-01-01",</a:t>
            </a:r>
          </a:p>
          <a:p>
            <a:r>
              <a:rPr lang="en-IN" sz="1200" dirty="0">
                <a:solidFill>
                  <a:schemeClr val="tx1"/>
                </a:solidFill>
              </a:rPr>
              <a:t>      "deadline": "2026-09-30",</a:t>
            </a:r>
          </a:p>
          <a:p>
            <a:r>
              <a:rPr lang="en-IN" sz="1200" dirty="0">
                <a:solidFill>
                  <a:schemeClr val="tx1"/>
                </a:solidFill>
              </a:rPr>
              <a:t>      "budget": 250000</a:t>
            </a:r>
          </a:p>
          <a:p>
            <a:r>
              <a:rPr lang="en-IN" sz="1200" dirty="0">
                <a:solidFill>
                  <a:schemeClr val="tx1"/>
                </a:solidFill>
              </a:rPr>
              <a:t>    },</a:t>
            </a:r>
          </a:p>
        </p:txBody>
      </p:sp>
      <p:sp>
        <p:nvSpPr>
          <p:cNvPr id="8" name="Rectangle: Top Corners Rounded 7">
            <a:extLst>
              <a:ext uri="{FF2B5EF4-FFF2-40B4-BE49-F238E27FC236}">
                <a16:creationId xmlns:a16="http://schemas.microsoft.com/office/drawing/2014/main" id="{ED87FCD3-34A7-526B-F7D4-2B69F5D6D320}"/>
              </a:ext>
            </a:extLst>
          </p:cNvPr>
          <p:cNvSpPr/>
          <p:nvPr/>
        </p:nvSpPr>
        <p:spPr>
          <a:xfrm>
            <a:off x="6419444" y="3356043"/>
            <a:ext cx="2305456" cy="2558374"/>
          </a:xfrm>
          <a:prstGeom prst="round2Same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dirty="0">
                <a:solidFill>
                  <a:schemeClr val="tx1"/>
                </a:solidFill>
              </a:rPr>
              <a:t>Task</a:t>
            </a:r>
            <a:r>
              <a:rPr lang="en-IN" dirty="0"/>
              <a:t> </a:t>
            </a:r>
          </a:p>
          <a:p>
            <a:r>
              <a:rPr lang="en-IN" sz="1200" dirty="0">
                <a:solidFill>
                  <a:schemeClr val="tx1"/>
                </a:solidFill>
              </a:rPr>
              <a:t>{</a:t>
            </a:r>
          </a:p>
          <a:p>
            <a:r>
              <a:rPr lang="en-IN" sz="1200" dirty="0">
                <a:solidFill>
                  <a:schemeClr val="tx1"/>
                </a:solidFill>
              </a:rPr>
              <a:t>      "id": "TASK1",</a:t>
            </a:r>
          </a:p>
          <a:p>
            <a:r>
              <a:rPr lang="en-IN" sz="1200" dirty="0">
                <a:solidFill>
                  <a:schemeClr val="tx1"/>
                </a:solidFill>
              </a:rPr>
              <a:t>    "</a:t>
            </a:r>
            <a:r>
              <a:rPr lang="en-IN" sz="1200" dirty="0" err="1">
                <a:solidFill>
                  <a:schemeClr val="tx1"/>
                </a:solidFill>
              </a:rPr>
              <a:t>projectId</a:t>
            </a:r>
            <a:r>
              <a:rPr lang="en-IN" sz="1200" dirty="0">
                <a:solidFill>
                  <a:schemeClr val="tx1"/>
                </a:solidFill>
              </a:rPr>
              <a:t>":"PROJ_ALPHA“,    </a:t>
            </a:r>
          </a:p>
          <a:p>
            <a:r>
              <a:rPr lang="en-IN" sz="1200" dirty="0">
                <a:solidFill>
                  <a:schemeClr val="tx1"/>
                </a:solidFill>
              </a:rPr>
              <a:t>      title": "Fix login bug",</a:t>
            </a:r>
          </a:p>
          <a:p>
            <a:r>
              <a:rPr lang="en-IN" sz="1200" dirty="0">
                <a:solidFill>
                  <a:schemeClr val="tx1"/>
                </a:solidFill>
              </a:rPr>
              <a:t>      "</a:t>
            </a:r>
            <a:r>
              <a:rPr lang="en-IN" sz="1200" dirty="0" err="1">
                <a:solidFill>
                  <a:schemeClr val="tx1"/>
                </a:solidFill>
              </a:rPr>
              <a:t>assigneeId</a:t>
            </a:r>
            <a:r>
              <a:rPr lang="en-IN" sz="1200" dirty="0">
                <a:solidFill>
                  <a:schemeClr val="tx1"/>
                </a:solidFill>
              </a:rPr>
              <a:t>": "EMP1",</a:t>
            </a:r>
          </a:p>
          <a:p>
            <a:r>
              <a:rPr lang="en-IN" sz="1200" dirty="0">
                <a:solidFill>
                  <a:schemeClr val="tx1"/>
                </a:solidFill>
              </a:rPr>
              <a:t>      "</a:t>
            </a:r>
            <a:r>
              <a:rPr lang="en-IN" sz="1200" dirty="0" err="1">
                <a:solidFill>
                  <a:schemeClr val="tx1"/>
                </a:solidFill>
              </a:rPr>
              <a:t>dueDate</a:t>
            </a:r>
            <a:r>
              <a:rPr lang="en-IN" sz="1200" dirty="0">
                <a:solidFill>
                  <a:schemeClr val="tx1"/>
                </a:solidFill>
              </a:rPr>
              <a:t>": "2026-08-01",</a:t>
            </a:r>
          </a:p>
          <a:p>
            <a:r>
              <a:rPr lang="en-IN" sz="1200" dirty="0">
                <a:solidFill>
                  <a:schemeClr val="tx1"/>
                </a:solidFill>
              </a:rPr>
              <a:t>      "status": "</a:t>
            </a:r>
            <a:r>
              <a:rPr lang="en-IN" sz="1200" dirty="0" err="1">
                <a:solidFill>
                  <a:schemeClr val="tx1"/>
                </a:solidFill>
              </a:rPr>
              <a:t>in_progress</a:t>
            </a:r>
            <a:r>
              <a:rPr lang="en-IN" sz="1200" dirty="0">
                <a:solidFill>
                  <a:schemeClr val="tx1"/>
                </a:solidFill>
              </a:rPr>
              <a:t>"</a:t>
            </a:r>
          </a:p>
          <a:p>
            <a:r>
              <a:rPr lang="en-IN" sz="1200" dirty="0">
                <a:solidFill>
                  <a:schemeClr val="tx1"/>
                </a:solidFill>
              </a:rPr>
              <a:t>    },</a:t>
            </a:r>
          </a:p>
        </p:txBody>
      </p:sp>
      <p:sp>
        <p:nvSpPr>
          <p:cNvPr id="10" name="Rectangle: Top Corners Rounded 9">
            <a:extLst>
              <a:ext uri="{FF2B5EF4-FFF2-40B4-BE49-F238E27FC236}">
                <a16:creationId xmlns:a16="http://schemas.microsoft.com/office/drawing/2014/main" id="{51442F9E-5092-AF56-B561-F4C5FEFDAC52}"/>
              </a:ext>
            </a:extLst>
          </p:cNvPr>
          <p:cNvSpPr/>
          <p:nvPr/>
        </p:nvSpPr>
        <p:spPr>
          <a:xfrm>
            <a:off x="9210066" y="3356043"/>
            <a:ext cx="2305456" cy="2558374"/>
          </a:xfrm>
          <a:prstGeom prst="round2Same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dirty="0">
                <a:solidFill>
                  <a:schemeClr val="tx1"/>
                </a:solidFill>
              </a:rPr>
              <a:t>Project Update </a:t>
            </a:r>
          </a:p>
          <a:p>
            <a:r>
              <a:rPr lang="en-IN" sz="1200" dirty="0">
                <a:solidFill>
                  <a:schemeClr val="tx1"/>
                </a:solidFill>
              </a:rPr>
              <a:t>{</a:t>
            </a:r>
          </a:p>
          <a:p>
            <a:r>
              <a:rPr lang="en-IN" sz="1200" dirty="0">
                <a:solidFill>
                  <a:schemeClr val="tx1"/>
                </a:solidFill>
              </a:rPr>
              <a:t>      "id": "UPD1",</a:t>
            </a:r>
          </a:p>
          <a:p>
            <a:r>
              <a:rPr lang="en-IN" sz="1200" dirty="0">
                <a:solidFill>
                  <a:schemeClr val="tx1"/>
                </a:solidFill>
              </a:rPr>
              <a:t>    "</a:t>
            </a:r>
            <a:r>
              <a:rPr lang="en-IN" sz="1200" dirty="0" err="1">
                <a:solidFill>
                  <a:schemeClr val="tx1"/>
                </a:solidFill>
              </a:rPr>
              <a:t>projectId</a:t>
            </a:r>
            <a:r>
              <a:rPr lang="en-IN" sz="1200" dirty="0">
                <a:solidFill>
                  <a:schemeClr val="tx1"/>
                </a:solidFill>
              </a:rPr>
              <a:t>": "PROJ_ALPHA",</a:t>
            </a:r>
          </a:p>
          <a:p>
            <a:r>
              <a:rPr lang="en-IN" sz="1200" dirty="0">
                <a:solidFill>
                  <a:schemeClr val="tx1"/>
                </a:solidFill>
              </a:rPr>
              <a:t> "</a:t>
            </a:r>
            <a:r>
              <a:rPr lang="en-IN" sz="1200" dirty="0" err="1">
                <a:solidFill>
                  <a:schemeClr val="tx1"/>
                </a:solidFill>
              </a:rPr>
              <a:t>updateDate</a:t>
            </a:r>
            <a:r>
              <a:rPr lang="en-IN" sz="1200" dirty="0">
                <a:solidFill>
                  <a:schemeClr val="tx1"/>
                </a:solidFill>
              </a:rPr>
              <a:t>": "2026-09-10",</a:t>
            </a:r>
          </a:p>
          <a:p>
            <a:r>
              <a:rPr lang="en-IN" sz="1200" dirty="0">
                <a:solidFill>
                  <a:schemeClr val="tx1"/>
                </a:solidFill>
              </a:rPr>
              <a:t>  "description": "Weekly delivery update",</a:t>
            </a:r>
          </a:p>
          <a:p>
            <a:r>
              <a:rPr lang="en-IN" sz="1200" dirty="0">
                <a:solidFill>
                  <a:schemeClr val="tx1"/>
                </a:solidFill>
              </a:rPr>
              <a:t>     "</a:t>
            </a:r>
            <a:r>
              <a:rPr lang="en-IN" sz="1200" dirty="0" err="1">
                <a:solidFill>
                  <a:schemeClr val="tx1"/>
                </a:solidFill>
              </a:rPr>
              <a:t>riskLevel</a:t>
            </a:r>
            <a:r>
              <a:rPr lang="en-IN" sz="1200" dirty="0">
                <a:solidFill>
                  <a:schemeClr val="tx1"/>
                </a:solidFill>
              </a:rPr>
              <a:t>": "high"</a:t>
            </a:r>
          </a:p>
          <a:p>
            <a:r>
              <a:rPr lang="en-IN" sz="1200" dirty="0">
                <a:solidFill>
                  <a:schemeClr val="tx1"/>
                </a:solidFill>
              </a:rPr>
              <a:t>    },</a:t>
            </a:r>
          </a:p>
        </p:txBody>
      </p:sp>
    </p:spTree>
    <p:extLst>
      <p:ext uri="{BB962C8B-B14F-4D97-AF65-F5344CB8AC3E}">
        <p14:creationId xmlns:p14="http://schemas.microsoft.com/office/powerpoint/2010/main" val="2397870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279"/>
            <a:ext cx="10515600" cy="2342371"/>
          </a:xfrm>
        </p:spPr>
        <p:txBody>
          <a:bodyPr>
            <a:normAutofit/>
          </a:bodyPr>
          <a:lstStyle/>
          <a:p>
            <a:r>
              <a:rPr lang="en-IN" sz="1600" dirty="0" err="1"/>
              <a:t>src</a:t>
            </a:r>
            <a:r>
              <a:rPr lang="en-IN" sz="1600" dirty="0"/>
              <a:t>/app.js -- Express node.js server at port 3000, </a:t>
            </a:r>
            <a:r>
              <a:rPr lang="en-US" sz="1600" dirty="0" err="1"/>
              <a:t>dotenv</a:t>
            </a:r>
            <a:r>
              <a:rPr lang="en-US" sz="1600" dirty="0"/>
              <a:t> configuration, middleware mounting, and a sample health check route.</a:t>
            </a:r>
            <a:endParaRPr lang="en-IN" sz="1600" dirty="0"/>
          </a:p>
          <a:p>
            <a:r>
              <a:rPr lang="en-IN" sz="1600" dirty="0" err="1"/>
              <a:t>src</a:t>
            </a:r>
            <a:r>
              <a:rPr lang="en-IN" sz="1600" dirty="0"/>
              <a:t>/routes/agent.js -- </a:t>
            </a:r>
            <a:r>
              <a:rPr lang="en-US" sz="1600" dirty="0"/>
              <a:t>HTTP POST /agent endpoint, request payload validation, and HTTP response formatting.</a:t>
            </a:r>
          </a:p>
          <a:p>
            <a:r>
              <a:rPr lang="en-US" sz="1600" dirty="0" err="1"/>
              <a:t>src</a:t>
            </a:r>
            <a:r>
              <a:rPr lang="en-US" sz="1600" dirty="0"/>
              <a:t>/agent.js --  Contains main </a:t>
            </a:r>
            <a:r>
              <a:rPr lang="en-US" sz="1600" dirty="0" err="1"/>
              <a:t>agentic</a:t>
            </a:r>
            <a:r>
              <a:rPr lang="en-US" sz="1600" dirty="0"/>
              <a:t> execution logic and loop, </a:t>
            </a:r>
            <a:r>
              <a:rPr lang="en-US" sz="1600" dirty="0" err="1"/>
              <a:t>Ollama</a:t>
            </a:r>
            <a:r>
              <a:rPr lang="en-US" sz="1600" dirty="0"/>
              <a:t> &amp; Gemini model adapters, </a:t>
            </a:r>
            <a:r>
              <a:rPr lang="en-US" sz="1600" dirty="0" err="1"/>
              <a:t>urls</a:t>
            </a:r>
            <a:r>
              <a:rPr lang="en-US" sz="1600" dirty="0"/>
              <a:t>, argument validation, and call caching.</a:t>
            </a:r>
          </a:p>
          <a:p>
            <a:r>
              <a:rPr lang="en-US" sz="1600" dirty="0" err="1"/>
              <a:t>src</a:t>
            </a:r>
            <a:r>
              <a:rPr lang="en-US" sz="1600" dirty="0"/>
              <a:t>/tools.js: Declarative JSON schema definitions for all 18 agent tools.</a:t>
            </a:r>
          </a:p>
          <a:p>
            <a:r>
              <a:rPr lang="en-US" sz="1600" dirty="0" err="1"/>
              <a:t>src</a:t>
            </a:r>
            <a:r>
              <a:rPr lang="en-US" sz="1600" dirty="0"/>
              <a:t>/toolImpl.js: JavaScript implementation of data/function tools, dataset expander, and request context factory.</a:t>
            </a:r>
          </a:p>
          <a:p>
            <a:endParaRPr lang="en-US" sz="1800" dirty="0"/>
          </a:p>
          <a:p>
            <a:pPr marL="0" indent="0">
              <a:buNone/>
            </a:pPr>
            <a:endParaRPr lang="en-US" sz="1800" dirty="0"/>
          </a:p>
        </p:txBody>
      </p:sp>
      <p:sp>
        <p:nvSpPr>
          <p:cNvPr id="4" name="TextBox 3">
            <a:extLst>
              <a:ext uri="{FF2B5EF4-FFF2-40B4-BE49-F238E27FC236}">
                <a16:creationId xmlns:a16="http://schemas.microsoft.com/office/drawing/2014/main" id="{693007DF-372F-801F-6A4F-C9AE36DFFEBA}"/>
              </a:ext>
            </a:extLst>
          </p:cNvPr>
          <p:cNvSpPr txBox="1"/>
          <p:nvPr/>
        </p:nvSpPr>
        <p:spPr>
          <a:xfrm>
            <a:off x="1011677" y="2762656"/>
            <a:ext cx="4435813" cy="3247043"/>
          </a:xfrm>
          <a:prstGeom prst="rect">
            <a:avLst/>
          </a:prstGeom>
          <a:noFill/>
        </p:spPr>
        <p:txBody>
          <a:bodyPr wrap="square" rtlCol="0">
            <a:spAutoFit/>
          </a:bodyPr>
          <a:lstStyle/>
          <a:p>
            <a:r>
              <a:rPr lang="en-US" sz="1100" dirty="0"/>
              <a:t>{</a:t>
            </a:r>
          </a:p>
          <a:p>
            <a:r>
              <a:rPr lang="en-US" sz="1100" dirty="0"/>
              <a:t>    type: 'function',</a:t>
            </a:r>
          </a:p>
          <a:p>
            <a:r>
              <a:rPr lang="en-US" sz="1100" dirty="0"/>
              <a:t>    function: {</a:t>
            </a:r>
          </a:p>
          <a:p>
            <a:r>
              <a:rPr lang="en-US" sz="1100" dirty="0"/>
              <a:t>      name: '</a:t>
            </a:r>
            <a:r>
              <a:rPr lang="en-US" sz="1100" dirty="0" err="1"/>
              <a:t>get_employee</a:t>
            </a:r>
            <a:r>
              <a:rPr lang="en-US" sz="1100" dirty="0"/>
              <a:t>',</a:t>
            </a:r>
          </a:p>
          <a:p>
            <a:r>
              <a:rPr lang="en-US" sz="1100" dirty="0"/>
              <a:t>      description: 'Find an employee by exact ID or partial name, or list all employees when no ID or name is provided. Return ambiguous matches instead of guessing when multiple employees match.',</a:t>
            </a:r>
          </a:p>
          <a:p>
            <a:r>
              <a:rPr lang="en-US" sz="1100" dirty="0"/>
              <a:t>      parameters: {</a:t>
            </a:r>
          </a:p>
          <a:p>
            <a:r>
              <a:rPr lang="en-US" sz="1100" dirty="0"/>
              <a:t>        type: 'object',</a:t>
            </a:r>
          </a:p>
          <a:p>
            <a:r>
              <a:rPr lang="en-US" sz="1100" dirty="0"/>
              <a:t>        properties: {</a:t>
            </a:r>
          </a:p>
          <a:p>
            <a:r>
              <a:rPr lang="en-US" sz="1100" dirty="0"/>
              <a:t>          id: { type: 'string', description: 'Employee ID, for example EMP1' },</a:t>
            </a:r>
          </a:p>
          <a:p>
            <a:r>
              <a:rPr lang="en-US" sz="1100" dirty="0"/>
              <a:t>          name: { type: 'string', description: 'Employee name or first name' }</a:t>
            </a:r>
          </a:p>
          <a:p>
            <a:r>
              <a:rPr lang="en-US" sz="1100" dirty="0"/>
              <a:t>        },</a:t>
            </a:r>
          </a:p>
          <a:p>
            <a:r>
              <a:rPr lang="en-US" sz="1100" dirty="0"/>
              <a:t>        </a:t>
            </a:r>
            <a:r>
              <a:rPr lang="en-US" sz="1100" dirty="0" err="1"/>
              <a:t>additionalProperties</a:t>
            </a:r>
            <a:r>
              <a:rPr lang="en-US" sz="1100" dirty="0"/>
              <a:t>: false</a:t>
            </a:r>
          </a:p>
          <a:p>
            <a:r>
              <a:rPr lang="en-US" sz="1100" dirty="0"/>
              <a:t>      }</a:t>
            </a:r>
          </a:p>
          <a:p>
            <a:r>
              <a:rPr lang="en-US" sz="1100" dirty="0"/>
              <a:t>    }</a:t>
            </a:r>
          </a:p>
          <a:p>
            <a:r>
              <a:rPr lang="en-US" sz="1100" dirty="0"/>
              <a:t>  }</a:t>
            </a:r>
          </a:p>
          <a:p>
            <a:endParaRPr lang="en-IN" dirty="0"/>
          </a:p>
        </p:txBody>
      </p:sp>
      <p:sp>
        <p:nvSpPr>
          <p:cNvPr id="6" name="TextBox 5">
            <a:extLst>
              <a:ext uri="{FF2B5EF4-FFF2-40B4-BE49-F238E27FC236}">
                <a16:creationId xmlns:a16="http://schemas.microsoft.com/office/drawing/2014/main" id="{FEB07983-8BED-4629-F526-08D6E85C5452}"/>
              </a:ext>
            </a:extLst>
          </p:cNvPr>
          <p:cNvSpPr txBox="1"/>
          <p:nvPr/>
        </p:nvSpPr>
        <p:spPr>
          <a:xfrm>
            <a:off x="6647237" y="2655650"/>
            <a:ext cx="4435813" cy="3970318"/>
          </a:xfrm>
          <a:prstGeom prst="rect">
            <a:avLst/>
          </a:prstGeom>
          <a:noFill/>
        </p:spPr>
        <p:txBody>
          <a:bodyPr wrap="square" rtlCol="0">
            <a:spAutoFit/>
          </a:bodyPr>
          <a:lstStyle/>
          <a:p>
            <a:r>
              <a:rPr lang="en-US" sz="1050" dirty="0"/>
              <a:t>function </a:t>
            </a:r>
            <a:r>
              <a:rPr lang="en-US" sz="1050" dirty="0" err="1"/>
              <a:t>get_employee</a:t>
            </a:r>
            <a:r>
              <a:rPr lang="en-US" sz="1050" dirty="0"/>
              <a:t>({ id, name } = {}, context) {</a:t>
            </a:r>
          </a:p>
          <a:p>
            <a:r>
              <a:rPr lang="en-US" sz="1050" dirty="0"/>
              <a:t>  const </a:t>
            </a:r>
            <a:r>
              <a:rPr lang="en-US" sz="1050" dirty="0" err="1"/>
              <a:t>contextData</a:t>
            </a:r>
            <a:r>
              <a:rPr lang="en-US" sz="1050" dirty="0"/>
              <a:t> = </a:t>
            </a:r>
            <a:r>
              <a:rPr lang="en-US" sz="1050" dirty="0" err="1"/>
              <a:t>getContextData</a:t>
            </a:r>
            <a:r>
              <a:rPr lang="en-US" sz="1050" dirty="0"/>
              <a:t>(context);</a:t>
            </a:r>
          </a:p>
          <a:p>
            <a:r>
              <a:rPr lang="en-US" sz="1050" dirty="0"/>
              <a:t>  if (!id &amp;&amp; !name)</a:t>
            </a:r>
          </a:p>
          <a:p>
            <a:r>
              <a:rPr lang="en-US" sz="1050" dirty="0"/>
              <a:t>    return {</a:t>
            </a:r>
          </a:p>
          <a:p>
            <a:r>
              <a:rPr lang="en-US" sz="1050" dirty="0"/>
              <a:t>      count: </a:t>
            </a:r>
            <a:r>
              <a:rPr lang="en-US" sz="1050" dirty="0" err="1"/>
              <a:t>contextData.employees.length</a:t>
            </a:r>
            <a:r>
              <a:rPr lang="en-US" sz="1050" dirty="0"/>
              <a:t>,</a:t>
            </a:r>
          </a:p>
          <a:p>
            <a:r>
              <a:rPr lang="en-US" sz="1050" dirty="0"/>
              <a:t>      employees: </a:t>
            </a:r>
            <a:r>
              <a:rPr lang="en-US" sz="1050" dirty="0" err="1"/>
              <a:t>contextData.employees</a:t>
            </a:r>
            <a:r>
              <a:rPr lang="en-US" sz="1050" dirty="0"/>
              <a:t>,</a:t>
            </a:r>
          </a:p>
          <a:p>
            <a:r>
              <a:rPr lang="en-US" sz="1050" dirty="0"/>
              <a:t>    };</a:t>
            </a:r>
          </a:p>
          <a:p>
            <a:endParaRPr lang="en-US" sz="1050" dirty="0"/>
          </a:p>
          <a:p>
            <a:r>
              <a:rPr lang="en-US" sz="1050" dirty="0"/>
              <a:t>  const matches = </a:t>
            </a:r>
            <a:r>
              <a:rPr lang="en-US" sz="1050" dirty="0" err="1"/>
              <a:t>contextData.employees.filter</a:t>
            </a:r>
            <a:r>
              <a:rPr lang="en-US" sz="1050" dirty="0"/>
              <a:t>(</a:t>
            </a:r>
          </a:p>
          <a:p>
            <a:r>
              <a:rPr lang="en-US" sz="1050" dirty="0"/>
              <a:t>    (employee) =&gt;</a:t>
            </a:r>
          </a:p>
          <a:p>
            <a:r>
              <a:rPr lang="en-US" sz="1050" dirty="0"/>
              <a:t>      (id &amp;&amp; </a:t>
            </a:r>
            <a:r>
              <a:rPr lang="en-US" sz="1050" dirty="0" err="1"/>
              <a:t>employee.id.toLowerCase</a:t>
            </a:r>
            <a:r>
              <a:rPr lang="en-US" sz="1050" dirty="0"/>
              <a:t>() === String(id).</a:t>
            </a:r>
            <a:r>
              <a:rPr lang="en-US" sz="1050" dirty="0" err="1"/>
              <a:t>toLowerCase</a:t>
            </a:r>
            <a:r>
              <a:rPr lang="en-US" sz="1050" dirty="0"/>
              <a:t>()) ||</a:t>
            </a:r>
          </a:p>
          <a:p>
            <a:r>
              <a:rPr lang="en-US" sz="1050" dirty="0"/>
              <a:t>      (name &amp;&amp; </a:t>
            </a:r>
            <a:r>
              <a:rPr lang="en-US" sz="1050" dirty="0" err="1"/>
              <a:t>employee.name.toLowerCase</a:t>
            </a:r>
            <a:r>
              <a:rPr lang="en-US" sz="1050" dirty="0"/>
              <a:t>().includes(</a:t>
            </a:r>
            <a:r>
              <a:rPr lang="en-US" sz="1050" dirty="0" err="1"/>
              <a:t>name.toLowerCase</a:t>
            </a:r>
            <a:r>
              <a:rPr lang="en-US" sz="1050" dirty="0"/>
              <a:t>())),</a:t>
            </a:r>
          </a:p>
          <a:p>
            <a:r>
              <a:rPr lang="en-US" sz="1050" dirty="0"/>
              <a:t>  );</a:t>
            </a:r>
          </a:p>
          <a:p>
            <a:r>
              <a:rPr lang="en-US" sz="1050" dirty="0"/>
              <a:t>  if (</a:t>
            </a:r>
            <a:r>
              <a:rPr lang="en-US" sz="1050" dirty="0" err="1"/>
              <a:t>matches.length</a:t>
            </a:r>
            <a:r>
              <a:rPr lang="en-US" sz="1050" dirty="0"/>
              <a:t> === 0)</a:t>
            </a:r>
          </a:p>
          <a:p>
            <a:r>
              <a:rPr lang="en-US" sz="1050" dirty="0"/>
              <a:t>    return { error: "No employee found", query: { id, name } };</a:t>
            </a:r>
          </a:p>
          <a:p>
            <a:r>
              <a:rPr lang="en-US" sz="1050" dirty="0"/>
              <a:t>  if (</a:t>
            </a:r>
            <a:r>
              <a:rPr lang="en-US" sz="1050" dirty="0" err="1"/>
              <a:t>matches.length</a:t>
            </a:r>
            <a:r>
              <a:rPr lang="en-US" sz="1050" dirty="0"/>
              <a:t> &gt; 1)</a:t>
            </a:r>
          </a:p>
          <a:p>
            <a:r>
              <a:rPr lang="en-US" sz="1050" dirty="0"/>
              <a:t>    return {</a:t>
            </a:r>
          </a:p>
          <a:p>
            <a:r>
              <a:rPr lang="en-US" sz="1050" dirty="0"/>
              <a:t>      ambiguous: true,</a:t>
            </a:r>
          </a:p>
          <a:p>
            <a:r>
              <a:rPr lang="en-US" sz="1050" dirty="0"/>
              <a:t>      message: "Multiple employees matched; ask the user to clarify.",</a:t>
            </a:r>
          </a:p>
          <a:p>
            <a:r>
              <a:rPr lang="en-US" sz="1050" dirty="0"/>
              <a:t>      matches,</a:t>
            </a:r>
          </a:p>
          <a:p>
            <a:r>
              <a:rPr lang="en-US" sz="1050" dirty="0"/>
              <a:t>    };</a:t>
            </a:r>
          </a:p>
          <a:p>
            <a:r>
              <a:rPr lang="en-US" sz="1050" dirty="0"/>
              <a:t>  return matches[0];</a:t>
            </a:r>
          </a:p>
          <a:p>
            <a:r>
              <a:rPr lang="en-US" sz="1050" dirty="0"/>
              <a:t>}</a:t>
            </a:r>
            <a:endParaRPr lang="en-IN" sz="1050" dirty="0"/>
          </a:p>
        </p:txBody>
      </p:sp>
    </p:spTree>
    <p:extLst>
      <p:ext uri="{BB962C8B-B14F-4D97-AF65-F5344CB8AC3E}">
        <p14:creationId xmlns:p14="http://schemas.microsoft.com/office/powerpoint/2010/main" val="181559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F86748-7FB7-085C-1EC1-0A2FA3F3D555}"/>
              </a:ext>
            </a:extLst>
          </p:cNvPr>
          <p:cNvSpPr>
            <a:spLocks noGrp="1"/>
          </p:cNvSpPr>
          <p:nvPr>
            <p:ph idx="1"/>
          </p:nvPr>
        </p:nvSpPr>
        <p:spPr>
          <a:xfrm>
            <a:off x="838200" y="515565"/>
            <a:ext cx="10515600" cy="5554493"/>
          </a:xfrm>
        </p:spPr>
        <p:txBody>
          <a:bodyPr>
            <a:normAutofit/>
          </a:bodyPr>
          <a:lstStyle/>
          <a:p>
            <a:pPr marL="0" indent="0">
              <a:buNone/>
            </a:pPr>
            <a:r>
              <a:rPr lang="en-IN" sz="1600" dirty="0"/>
              <a:t>• </a:t>
            </a:r>
            <a:r>
              <a:rPr lang="en-IN" sz="1600" dirty="0" err="1"/>
              <a:t>src</a:t>
            </a:r>
            <a:r>
              <a:rPr lang="en-IN" sz="1600" dirty="0"/>
              <a:t>/memory.js: Per-user long-term memory engine and short-term conversation turn store.</a:t>
            </a:r>
          </a:p>
          <a:p>
            <a:pPr marL="0" indent="0">
              <a:buNone/>
            </a:pPr>
            <a:r>
              <a:rPr lang="en-IN" sz="1600" dirty="0"/>
              <a:t>• data/</a:t>
            </a:r>
            <a:r>
              <a:rPr lang="en-IN" sz="1600" dirty="0" err="1"/>
              <a:t>memory.json</a:t>
            </a:r>
            <a:r>
              <a:rPr lang="en-IN" sz="1600" dirty="0"/>
              <a:t>: Persistent user memory storage file on disk.</a:t>
            </a:r>
          </a:p>
          <a:p>
            <a:pPr marL="0" indent="0">
              <a:buNone/>
            </a:pPr>
            <a:r>
              <a:rPr lang="en-IN" sz="1600" dirty="0"/>
              <a:t>• test/: Automated test suite covering tools, goal-agent execution, planning risks, and memory isolation. </a:t>
            </a:r>
          </a:p>
          <a:p>
            <a:r>
              <a:rPr lang="en-IN" sz="1600" dirty="0"/>
              <a:t>report.txt: Contains the detailed explanation of how the code works, sample test cases, system responses, errors etc</a:t>
            </a:r>
          </a:p>
          <a:p>
            <a:r>
              <a:rPr lang="en-IN" sz="1600" dirty="0" err="1"/>
              <a:t>package.json</a:t>
            </a:r>
            <a:r>
              <a:rPr lang="en-IN" sz="1600" dirty="0"/>
              <a:t>: File containing the configuration of </a:t>
            </a:r>
            <a:r>
              <a:rPr lang="en-IN" sz="1600" dirty="0" err="1"/>
              <a:t>nodejs</a:t>
            </a:r>
            <a:r>
              <a:rPr lang="en-IN" sz="1600" dirty="0"/>
              <a:t> server.</a:t>
            </a:r>
          </a:p>
          <a:p>
            <a:pPr marL="0" indent="0">
              <a:buNone/>
            </a:pPr>
            <a:endParaRPr lang="en-IN" sz="1600" dirty="0"/>
          </a:p>
          <a:p>
            <a:r>
              <a:rPr lang="en-IN" sz="1600" dirty="0"/>
              <a:t>Dependencies used:</a:t>
            </a:r>
          </a:p>
          <a:p>
            <a:pPr marL="0" indent="0">
              <a:buNone/>
            </a:pPr>
            <a:r>
              <a:rPr lang="en-IN" sz="1600" dirty="0"/>
              <a:t> "dependencies": {</a:t>
            </a:r>
          </a:p>
          <a:p>
            <a:pPr marL="0" indent="0">
              <a:buNone/>
            </a:pPr>
            <a:r>
              <a:rPr lang="en-IN" sz="1600" dirty="0"/>
              <a:t>    "</a:t>
            </a:r>
            <a:r>
              <a:rPr lang="en-IN" sz="1600" dirty="0" err="1"/>
              <a:t>axios</a:t>
            </a:r>
            <a:r>
              <a:rPr lang="en-IN" sz="1600" dirty="0"/>
              <a:t>": "^1.7.7",</a:t>
            </a:r>
          </a:p>
          <a:p>
            <a:pPr marL="0" indent="0">
              <a:buNone/>
            </a:pPr>
            <a:r>
              <a:rPr lang="en-IN" sz="1600" dirty="0"/>
              <a:t>    "</a:t>
            </a:r>
            <a:r>
              <a:rPr lang="en-IN" sz="1600" dirty="0" err="1"/>
              <a:t>dotenv</a:t>
            </a:r>
            <a:r>
              <a:rPr lang="en-IN" sz="1600" dirty="0"/>
              <a:t>": "^16.4.5",</a:t>
            </a:r>
          </a:p>
          <a:p>
            <a:pPr marL="0" indent="0">
              <a:buNone/>
            </a:pPr>
            <a:r>
              <a:rPr lang="en-IN" sz="1600" dirty="0"/>
              <a:t>    "express": "^4.19.2"</a:t>
            </a:r>
          </a:p>
          <a:p>
            <a:pPr marL="0" indent="0">
              <a:buNone/>
            </a:pPr>
            <a:r>
              <a:rPr lang="en-IN" sz="1600" dirty="0"/>
              <a:t>  }</a:t>
            </a:r>
          </a:p>
          <a:p>
            <a:pPr marL="0" indent="0">
              <a:buNone/>
            </a:pPr>
            <a:endParaRPr lang="en-IN" sz="1600" dirty="0"/>
          </a:p>
        </p:txBody>
      </p:sp>
    </p:spTree>
    <p:extLst>
      <p:ext uri="{BB962C8B-B14F-4D97-AF65-F5344CB8AC3E}">
        <p14:creationId xmlns:p14="http://schemas.microsoft.com/office/powerpoint/2010/main" val="1777690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3255-E41D-DA06-9102-069290B03462}"/>
              </a:ext>
            </a:extLst>
          </p:cNvPr>
          <p:cNvSpPr>
            <a:spLocks noGrp="1"/>
          </p:cNvSpPr>
          <p:nvPr>
            <p:ph type="title"/>
          </p:nvPr>
        </p:nvSpPr>
        <p:spPr>
          <a:xfrm>
            <a:off x="838200" y="365128"/>
            <a:ext cx="10515600" cy="666004"/>
          </a:xfrm>
        </p:spPr>
        <p:txBody>
          <a:bodyPr>
            <a:normAutofit/>
          </a:bodyPr>
          <a:lstStyle/>
          <a:p>
            <a:r>
              <a:rPr lang="en-IN" sz="2400" dirty="0"/>
              <a:t>System Architecture &amp; Execution Flow</a:t>
            </a:r>
          </a:p>
        </p:txBody>
      </p:sp>
      <p:sp>
        <p:nvSpPr>
          <p:cNvPr id="3" name="Content Placeholder 2">
            <a:extLst>
              <a:ext uri="{FF2B5EF4-FFF2-40B4-BE49-F238E27FC236}">
                <a16:creationId xmlns:a16="http://schemas.microsoft.com/office/drawing/2014/main" id="{E3CE8AB1-7720-DE9B-00B9-C8FB02B07725}"/>
              </a:ext>
            </a:extLst>
          </p:cNvPr>
          <p:cNvSpPr>
            <a:spLocks noGrp="1"/>
          </p:cNvSpPr>
          <p:nvPr>
            <p:ph idx="1"/>
          </p:nvPr>
        </p:nvSpPr>
        <p:spPr>
          <a:xfrm>
            <a:off x="838200" y="1206230"/>
            <a:ext cx="10515600" cy="4970733"/>
          </a:xfrm>
        </p:spPr>
        <p:txBody>
          <a:bodyPr>
            <a:normAutofit lnSpcReduction="10000"/>
          </a:bodyPr>
          <a:lstStyle/>
          <a:p>
            <a:pPr marL="0" indent="0" algn="ctr">
              <a:buNone/>
            </a:pPr>
            <a:r>
              <a:rPr lang="en-US" b="1" i="1" dirty="0">
                <a:solidFill>
                  <a:srgbClr val="00B050"/>
                </a:solidFill>
              </a:rPr>
              <a:t>End-to-End Request Pipeline in Code</a:t>
            </a:r>
          </a:p>
          <a:p>
            <a:pPr marL="0" indent="0" algn="ctr">
              <a:buNone/>
            </a:pPr>
            <a:endParaRPr lang="en-US" b="1" i="1" dirty="0">
              <a:solidFill>
                <a:srgbClr val="00B050"/>
              </a:solidFill>
            </a:endParaRPr>
          </a:p>
          <a:p>
            <a:pPr marL="0" indent="0">
              <a:spcBef>
                <a:spcPts val="600"/>
              </a:spcBef>
              <a:buNone/>
              <a:defRPr sz="1200">
                <a:solidFill>
                  <a:srgbClr val="334155"/>
                </a:solidFill>
                <a:latin typeface="Arial"/>
              </a:defRPr>
            </a:pPr>
            <a:r>
              <a:rPr lang="en-IN" sz="1400" b="1" dirty="0">
                <a:solidFill>
                  <a:srgbClr val="0F172A"/>
                </a:solidFill>
              </a:rPr>
              <a:t>1. HTTP POST Request: </a:t>
            </a:r>
            <a:r>
              <a:rPr lang="en-IN" sz="1400" dirty="0"/>
              <a:t>Client sends { message, model, confirmed, </a:t>
            </a:r>
            <a:r>
              <a:rPr lang="en-IN" sz="1400" dirty="0" err="1"/>
              <a:t>userId</a:t>
            </a:r>
            <a:r>
              <a:rPr lang="en-IN" sz="1400" dirty="0"/>
              <a:t>, </a:t>
            </a:r>
            <a:r>
              <a:rPr lang="en-IN" sz="1400" dirty="0" err="1"/>
              <a:t>conversationId</a:t>
            </a:r>
            <a:r>
              <a:rPr lang="en-IN" sz="1400" dirty="0"/>
              <a:t> } to POST /agent.</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2. Route Validation: </a:t>
            </a:r>
            <a:r>
              <a:rPr lang="en-IN" sz="1400" dirty="0" err="1"/>
              <a:t>src</a:t>
            </a:r>
            <a:r>
              <a:rPr lang="en-IN" sz="1400" dirty="0"/>
              <a:t>/routes/agent.js validates message payload; returns 400 Bad Request if anything is missing.</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3. Memory Session &amp; Context Setup: </a:t>
            </a:r>
            <a:r>
              <a:rPr lang="en-IN" sz="1400" dirty="0" err="1"/>
              <a:t>runAgent</a:t>
            </a:r>
            <a:r>
              <a:rPr lang="en-IN" sz="1400" dirty="0"/>
              <a:t> creates memory session =&gt; retrieves relevant memories &amp; recent turns and creates </a:t>
            </a:r>
            <a:r>
              <a:rPr lang="en-IN" sz="1400" dirty="0" err="1"/>
              <a:t>contextMessage</a:t>
            </a:r>
            <a:r>
              <a:rPr lang="en-IN" sz="1400" dirty="0"/>
              <a:t>.</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4. Request Context Isolation: </a:t>
            </a:r>
            <a:r>
              <a:rPr lang="en-IN" sz="1400" dirty="0" err="1"/>
              <a:t>toolImpl.createContext</a:t>
            </a:r>
            <a:r>
              <a:rPr lang="en-IN" sz="1400" dirty="0"/>
              <a:t> clones initial dataset =&gt; ensures request works on an isolated data copy.</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5. Agent Tool Calling Loop: </a:t>
            </a:r>
            <a:r>
              <a:rPr lang="en-IN" sz="1400" dirty="0"/>
              <a:t>Model is called via </a:t>
            </a:r>
            <a:r>
              <a:rPr lang="en-IN" sz="1400" dirty="0" err="1"/>
              <a:t>askConfiguredModel</a:t>
            </a:r>
            <a:r>
              <a:rPr lang="en-IN" sz="1400" dirty="0"/>
              <a:t> =&gt; returns </a:t>
            </a:r>
            <a:r>
              <a:rPr lang="en-IN" sz="1400" dirty="0" err="1"/>
              <a:t>tool_calls</a:t>
            </a:r>
            <a:r>
              <a:rPr lang="en-IN" sz="1400" dirty="0"/>
              <a:t> =&gt; agent checks confirmation gate &amp; cache =&gt; executes </a:t>
            </a:r>
            <a:r>
              <a:rPr lang="en-IN" sz="1400" dirty="0" err="1"/>
              <a:t>toolImpl</a:t>
            </a:r>
            <a:r>
              <a:rPr lang="en-IN" sz="1400" dirty="0"/>
              <a:t> function.</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6. Evidence Append &amp; Re-query: </a:t>
            </a:r>
            <a:r>
              <a:rPr lang="en-IN" sz="1400" dirty="0"/>
              <a:t>Tool result appended as role 'tool' message =&gt; LLM re-prompted until text answer produced or MAX_ITERATIONS reached.</a:t>
            </a:r>
          </a:p>
          <a:p>
            <a:pPr marL="0" indent="0">
              <a:spcBef>
                <a:spcPts val="600"/>
              </a:spcBef>
              <a:buNone/>
              <a:defRPr sz="1200">
                <a:solidFill>
                  <a:srgbClr val="334155"/>
                </a:solidFill>
                <a:latin typeface="Arial"/>
              </a:defRPr>
            </a:pPr>
            <a:endParaRPr lang="en-IN" sz="1400" dirty="0"/>
          </a:p>
          <a:p>
            <a:pPr marL="0" indent="0">
              <a:spcBef>
                <a:spcPts val="600"/>
              </a:spcBef>
              <a:buNone/>
              <a:defRPr sz="1200">
                <a:solidFill>
                  <a:srgbClr val="334155"/>
                </a:solidFill>
                <a:latin typeface="Arial"/>
              </a:defRPr>
            </a:pPr>
            <a:r>
              <a:rPr lang="en-IN" sz="1400" b="1" dirty="0">
                <a:solidFill>
                  <a:srgbClr val="0F172A"/>
                </a:solidFill>
              </a:rPr>
              <a:t>7. Short-Term Record &amp; Response: </a:t>
            </a:r>
            <a:r>
              <a:rPr lang="en-IN" sz="1400" dirty="0"/>
              <a:t>Final answer saved to conversation turn store and JSON payload is returned with log, </a:t>
            </a:r>
            <a:r>
              <a:rPr lang="en-IN" sz="1400" dirty="0" err="1"/>
              <a:t>executionTrace</a:t>
            </a:r>
            <a:r>
              <a:rPr lang="en-IN" sz="1400" dirty="0"/>
              <a:t>, and state</a:t>
            </a:r>
            <a:endParaRPr lang="en-US" sz="1400" dirty="0">
              <a:solidFill>
                <a:srgbClr val="00B050"/>
              </a:solidFill>
            </a:endParaRPr>
          </a:p>
        </p:txBody>
      </p:sp>
    </p:spTree>
    <p:extLst>
      <p:ext uri="{BB962C8B-B14F-4D97-AF65-F5344CB8AC3E}">
        <p14:creationId xmlns:p14="http://schemas.microsoft.com/office/powerpoint/2010/main" val="2647489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68DA71-39A0-7903-0BB6-1D52E67EC323}"/>
              </a:ext>
            </a:extLst>
          </p:cNvPr>
          <p:cNvSpPr txBox="1"/>
          <p:nvPr/>
        </p:nvSpPr>
        <p:spPr>
          <a:xfrm>
            <a:off x="350196" y="243192"/>
            <a:ext cx="7110919" cy="369332"/>
          </a:xfrm>
          <a:prstGeom prst="rect">
            <a:avLst/>
          </a:prstGeom>
          <a:noFill/>
        </p:spPr>
        <p:txBody>
          <a:bodyPr wrap="square" rtlCol="0">
            <a:spAutoFit/>
          </a:bodyPr>
          <a:lstStyle/>
          <a:p>
            <a:r>
              <a:rPr lang="en-IN" b="1" dirty="0"/>
              <a:t>Request Execution Pipeline (Step-by-Step)</a:t>
            </a:r>
          </a:p>
        </p:txBody>
      </p:sp>
      <p:sp>
        <p:nvSpPr>
          <p:cNvPr id="5" name="TextBox 4">
            <a:extLst>
              <a:ext uri="{FF2B5EF4-FFF2-40B4-BE49-F238E27FC236}">
                <a16:creationId xmlns:a16="http://schemas.microsoft.com/office/drawing/2014/main" id="{1C075CF1-74F4-E418-B364-77BE15F569CD}"/>
              </a:ext>
            </a:extLst>
          </p:cNvPr>
          <p:cNvSpPr txBox="1"/>
          <p:nvPr/>
        </p:nvSpPr>
        <p:spPr>
          <a:xfrm>
            <a:off x="350196" y="865762"/>
            <a:ext cx="10700425" cy="5632311"/>
          </a:xfrm>
          <a:prstGeom prst="rect">
            <a:avLst/>
          </a:prstGeom>
          <a:noFill/>
        </p:spPr>
        <p:txBody>
          <a:bodyPr wrap="square" rtlCol="0">
            <a:spAutoFit/>
          </a:bodyPr>
          <a:lstStyle/>
          <a:p>
            <a:r>
              <a:rPr lang="en-IN" dirty="0"/>
              <a:t>When a client sends a request (e.g. via Postman to POST http://localhost:3000/agent):</a:t>
            </a:r>
          </a:p>
          <a:p>
            <a:endParaRPr lang="en-IN" dirty="0"/>
          </a:p>
          <a:p>
            <a:r>
              <a:rPr lang="en-IN" dirty="0"/>
              <a:t>{</a:t>
            </a:r>
          </a:p>
          <a:p>
            <a:r>
              <a:rPr lang="en-IN" dirty="0"/>
              <a:t>  "message": "who is the owner of project gamma",</a:t>
            </a:r>
          </a:p>
          <a:p>
            <a:r>
              <a:rPr lang="en-IN" dirty="0"/>
              <a:t>  "model": "llama3.2",</a:t>
            </a:r>
          </a:p>
          <a:p>
            <a:r>
              <a:rPr lang="en-IN" dirty="0"/>
              <a:t>  "confirmed": true,</a:t>
            </a:r>
          </a:p>
          <a:p>
            <a:r>
              <a:rPr lang="en-IN" dirty="0"/>
              <a:t>  "</a:t>
            </a:r>
            <a:r>
              <a:rPr lang="en-IN" dirty="0" err="1"/>
              <a:t>userId</a:t>
            </a:r>
            <a:r>
              <a:rPr lang="en-IN" dirty="0"/>
              <a:t>": "sathvik"</a:t>
            </a:r>
          </a:p>
          <a:p>
            <a:r>
              <a:rPr lang="en-IN" dirty="0"/>
              <a:t>}</a:t>
            </a:r>
          </a:p>
          <a:p>
            <a:endParaRPr lang="en-IN" dirty="0"/>
          </a:p>
          <a:p>
            <a:r>
              <a:rPr lang="en-IN" dirty="0"/>
              <a:t>Message is the query string user asks.</a:t>
            </a:r>
          </a:p>
          <a:p>
            <a:endParaRPr lang="en-IN" dirty="0"/>
          </a:p>
          <a:p>
            <a:r>
              <a:rPr lang="en-IN" dirty="0"/>
              <a:t>Model is the name of the model we </a:t>
            </a:r>
            <a:r>
              <a:rPr lang="en-IN" dirty="0" err="1"/>
              <a:t>wanna</a:t>
            </a:r>
            <a:r>
              <a:rPr lang="en-IN" dirty="0"/>
              <a:t> select.</a:t>
            </a:r>
          </a:p>
          <a:p>
            <a:r>
              <a:rPr lang="en-IN" dirty="0"/>
              <a:t>We can use any model we want, I configured a total of 3 models (2 local): </a:t>
            </a:r>
          </a:p>
          <a:p>
            <a:r>
              <a:rPr lang="en-IN" dirty="0"/>
              <a:t>llama3.2, qwen3:4b, gemini3.5-flash-lite</a:t>
            </a:r>
          </a:p>
          <a:p>
            <a:endParaRPr lang="en-IN" dirty="0"/>
          </a:p>
          <a:p>
            <a:r>
              <a:rPr lang="en-IN" dirty="0" err="1"/>
              <a:t>confirmed:true</a:t>
            </a:r>
            <a:r>
              <a:rPr lang="en-IN" dirty="0"/>
              <a:t> is a Boolean condition required for important tasks like re-assigning asks, editing permissions etc</a:t>
            </a:r>
          </a:p>
          <a:p>
            <a:endParaRPr lang="en-IN" dirty="0"/>
          </a:p>
          <a:p>
            <a:r>
              <a:rPr lang="en-IN" dirty="0" err="1"/>
              <a:t>userId</a:t>
            </a:r>
            <a:r>
              <a:rPr lang="en-IN" dirty="0"/>
              <a:t>: “Sathvik”: This is the user who is requesting the agent and wants an answer. This is optional, but to access memory/context we need this field</a:t>
            </a:r>
          </a:p>
        </p:txBody>
      </p:sp>
    </p:spTree>
    <p:extLst>
      <p:ext uri="{BB962C8B-B14F-4D97-AF65-F5344CB8AC3E}">
        <p14:creationId xmlns:p14="http://schemas.microsoft.com/office/powerpoint/2010/main" val="3870907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16020E-C37E-254C-8165-46B7B45A207A}"/>
              </a:ext>
            </a:extLst>
          </p:cNvPr>
          <p:cNvSpPr txBox="1"/>
          <p:nvPr/>
        </p:nvSpPr>
        <p:spPr>
          <a:xfrm>
            <a:off x="340468" y="321013"/>
            <a:ext cx="10661515" cy="5355312"/>
          </a:xfrm>
          <a:prstGeom prst="rect">
            <a:avLst/>
          </a:prstGeom>
          <a:noFill/>
        </p:spPr>
        <p:txBody>
          <a:bodyPr wrap="square" rtlCol="0">
            <a:spAutoFit/>
          </a:bodyPr>
          <a:lstStyle/>
          <a:p>
            <a:r>
              <a:rPr lang="en-IN" dirty="0"/>
              <a:t>Step 1: Ingestion ( app.js &amp; routes/agent.js)</a:t>
            </a:r>
          </a:p>
          <a:p>
            <a:endParaRPr lang="en-IN" dirty="0"/>
          </a:p>
          <a:p>
            <a:pPr lvl="0"/>
            <a:r>
              <a:rPr lang="en-IN" dirty="0"/>
              <a:t>Express parses the incoming JSON body using </a:t>
            </a:r>
            <a:r>
              <a:rPr lang="en-IN" dirty="0" err="1"/>
              <a:t>express.json</a:t>
            </a:r>
            <a:r>
              <a:rPr lang="en-IN" dirty="0"/>
              <a:t>().</a:t>
            </a:r>
          </a:p>
          <a:p>
            <a:pPr lvl="0"/>
            <a:r>
              <a:rPr lang="en-IN" dirty="0"/>
              <a:t>The route /agent forwards </a:t>
            </a:r>
            <a:r>
              <a:rPr lang="en-IN" dirty="0" err="1"/>
              <a:t>req.body</a:t>
            </a:r>
            <a:r>
              <a:rPr lang="en-IN" dirty="0"/>
              <a:t> to </a:t>
            </a:r>
            <a:r>
              <a:rPr lang="en-IN" dirty="0" err="1"/>
              <a:t>runAgent</a:t>
            </a:r>
            <a:r>
              <a:rPr lang="en-IN" dirty="0"/>
              <a:t>(message, options) in </a:t>
            </a:r>
            <a:r>
              <a:rPr lang="en-IN" dirty="0" err="1"/>
              <a:t>src</a:t>
            </a:r>
            <a:r>
              <a:rPr lang="en-IN" dirty="0"/>
              <a:t>/agent.js.</a:t>
            </a:r>
          </a:p>
          <a:p>
            <a:pPr lvl="0"/>
            <a:endParaRPr lang="en-IN" dirty="0"/>
          </a:p>
          <a:p>
            <a:r>
              <a:rPr lang="en-IN" dirty="0"/>
              <a:t>Step 2: Memory Session &amp; Fast-Path Interceptors (/agent.js)</a:t>
            </a:r>
          </a:p>
          <a:p>
            <a:r>
              <a:rPr lang="en-IN" dirty="0"/>
              <a:t>Before invoking the LLM, the orchestrator initializes user context:</a:t>
            </a:r>
          </a:p>
          <a:p>
            <a:endParaRPr lang="en-IN" dirty="0"/>
          </a:p>
          <a:p>
            <a:pPr lvl="0"/>
            <a:r>
              <a:rPr lang="en-IN" b="1" dirty="0"/>
              <a:t>1. Create Session</a:t>
            </a:r>
            <a:r>
              <a:rPr lang="en-IN" dirty="0"/>
              <a:t>: </a:t>
            </a:r>
          </a:p>
          <a:p>
            <a:pPr lvl="0"/>
            <a:r>
              <a:rPr lang="en-IN" dirty="0"/>
              <a:t>	</a:t>
            </a:r>
            <a:r>
              <a:rPr lang="en-IN" dirty="0" err="1"/>
              <a:t>memory.createSession</a:t>
            </a:r>
            <a:r>
              <a:rPr lang="en-IN" dirty="0"/>
              <a:t> normalizes </a:t>
            </a:r>
            <a:r>
              <a:rPr lang="en-IN" dirty="0" err="1"/>
              <a:t>userId</a:t>
            </a:r>
            <a:r>
              <a:rPr lang="en-IN" dirty="0"/>
              <a:t> (lowercased) and locates data/</a:t>
            </a:r>
            <a:r>
              <a:rPr lang="en-IN" dirty="0" err="1"/>
              <a:t>memory.json</a:t>
            </a:r>
            <a:r>
              <a:rPr lang="en-IN" dirty="0"/>
              <a:t>.</a:t>
            </a:r>
          </a:p>
          <a:p>
            <a:pPr lvl="0"/>
            <a:endParaRPr lang="en-IN" dirty="0"/>
          </a:p>
          <a:p>
            <a:pPr lvl="0"/>
            <a:r>
              <a:rPr lang="en-IN" b="1" dirty="0"/>
              <a:t>2. Intent Checks</a:t>
            </a:r>
            <a:r>
              <a:rPr lang="en-IN" dirty="0"/>
              <a:t>:</a:t>
            </a:r>
          </a:p>
          <a:p>
            <a:pPr lvl="1"/>
            <a:r>
              <a:rPr lang="en-IN" b="1" dirty="0"/>
              <a:t>Save Preference Intent</a:t>
            </a:r>
            <a:r>
              <a:rPr lang="en-IN" dirty="0"/>
              <a:t> (</a:t>
            </a:r>
            <a:r>
              <a:rPr lang="en-IN" dirty="0" err="1"/>
              <a:t>rememberPreference</a:t>
            </a:r>
            <a:r>
              <a:rPr lang="en-IN" dirty="0"/>
              <a:t>): If the user says </a:t>
            </a:r>
            <a:r>
              <a:rPr lang="en-IN" i="1" dirty="0"/>
              <a:t>"the project I want to remember today is project beta"</a:t>
            </a:r>
            <a:r>
              <a:rPr lang="en-IN" dirty="0"/>
              <a:t>, it saves the memory directly to disk and returns immediately.</a:t>
            </a:r>
          </a:p>
          <a:p>
            <a:pPr lvl="1"/>
            <a:endParaRPr lang="en-IN" dirty="0"/>
          </a:p>
          <a:p>
            <a:pPr lvl="1"/>
            <a:r>
              <a:rPr lang="en-IN" b="1" dirty="0"/>
              <a:t>Direct Memory Question</a:t>
            </a:r>
            <a:r>
              <a:rPr lang="en-IN" dirty="0"/>
              <a:t> (</a:t>
            </a:r>
            <a:r>
              <a:rPr lang="en-IN" dirty="0" err="1"/>
              <a:t>answerMemoryQuestion</a:t>
            </a:r>
            <a:r>
              <a:rPr lang="en-IN" dirty="0"/>
              <a:t>): If the user asks </a:t>
            </a:r>
            <a:r>
              <a:rPr lang="en-IN" i="1" dirty="0"/>
              <a:t>"what did I ask you to remember?"</a:t>
            </a:r>
            <a:r>
              <a:rPr lang="en-IN" dirty="0"/>
              <a:t>, it searches data/</a:t>
            </a:r>
            <a:r>
              <a:rPr lang="en-IN" dirty="0" err="1"/>
              <a:t>memory.json</a:t>
            </a:r>
            <a:r>
              <a:rPr lang="en-IN" dirty="0"/>
              <a:t> and answers directly.</a:t>
            </a:r>
          </a:p>
          <a:p>
            <a:pPr lvl="0"/>
            <a:endParaRPr lang="en-IN" dirty="0"/>
          </a:p>
          <a:p>
            <a:endParaRPr lang="en-IN" dirty="0"/>
          </a:p>
        </p:txBody>
      </p:sp>
    </p:spTree>
    <p:extLst>
      <p:ext uri="{BB962C8B-B14F-4D97-AF65-F5344CB8AC3E}">
        <p14:creationId xmlns:p14="http://schemas.microsoft.com/office/powerpoint/2010/main" val="517150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EA4AEF-5563-BE3E-B7D9-B248E3F850D6}"/>
              </a:ext>
            </a:extLst>
          </p:cNvPr>
          <p:cNvSpPr txBox="1"/>
          <p:nvPr/>
        </p:nvSpPr>
        <p:spPr>
          <a:xfrm>
            <a:off x="340468" y="321013"/>
            <a:ext cx="10661515" cy="3416320"/>
          </a:xfrm>
          <a:prstGeom prst="rect">
            <a:avLst/>
          </a:prstGeom>
          <a:noFill/>
        </p:spPr>
        <p:txBody>
          <a:bodyPr wrap="square" rtlCol="0">
            <a:spAutoFit/>
          </a:bodyPr>
          <a:lstStyle/>
          <a:p>
            <a:r>
              <a:rPr lang="en-IN" dirty="0"/>
              <a:t>Step 3: RAG Context Assembly (agent.js &amp; memory.js)</a:t>
            </a:r>
          </a:p>
          <a:p>
            <a:endParaRPr lang="en-IN" dirty="0"/>
          </a:p>
          <a:p>
            <a:r>
              <a:rPr lang="en-IN" dirty="0"/>
              <a:t>If the request proceeds to the AI agent:</a:t>
            </a:r>
          </a:p>
          <a:p>
            <a:endParaRPr lang="en-IN" dirty="0"/>
          </a:p>
          <a:p>
            <a:pPr lvl="0"/>
            <a:r>
              <a:rPr lang="en-IN" b="1" dirty="0"/>
              <a:t>Long-Term Retrieval</a:t>
            </a:r>
            <a:r>
              <a:rPr lang="en-IN" dirty="0"/>
              <a:t>: </a:t>
            </a:r>
            <a:r>
              <a:rPr lang="en-IN" dirty="0" err="1"/>
              <a:t>memory.search</a:t>
            </a:r>
            <a:r>
              <a:rPr lang="en-IN" dirty="0"/>
              <a:t> performs stem-matched token search on data/</a:t>
            </a:r>
            <a:r>
              <a:rPr lang="en-IN" dirty="0" err="1"/>
              <a:t>memory.json</a:t>
            </a:r>
            <a:r>
              <a:rPr lang="en-IN" dirty="0"/>
              <a:t> for the user.</a:t>
            </a:r>
          </a:p>
          <a:p>
            <a:pPr lvl="0"/>
            <a:endParaRPr lang="en-IN" dirty="0"/>
          </a:p>
          <a:p>
            <a:pPr lvl="0"/>
            <a:r>
              <a:rPr lang="en-IN" b="1" dirty="0"/>
              <a:t>Short-Term Retrieval</a:t>
            </a:r>
            <a:r>
              <a:rPr lang="en-IN" dirty="0"/>
              <a:t>: </a:t>
            </a:r>
            <a:r>
              <a:rPr lang="en-IN" dirty="0" err="1"/>
              <a:t>memory.getRecentTurns</a:t>
            </a:r>
            <a:r>
              <a:rPr lang="en-IN" dirty="0"/>
              <a:t> fetches up to the last 8 conversation turns from the in-memory store.</a:t>
            </a:r>
          </a:p>
          <a:p>
            <a:pPr lvl="0"/>
            <a:endParaRPr lang="en-IN" dirty="0"/>
          </a:p>
          <a:p>
            <a:pPr lvl="0"/>
            <a:r>
              <a:rPr lang="en-IN" b="1" dirty="0"/>
              <a:t>Context Construction</a:t>
            </a:r>
            <a:r>
              <a:rPr lang="en-IN" dirty="0"/>
              <a:t>: Formulates a system context payload containing </a:t>
            </a:r>
            <a:r>
              <a:rPr lang="en-IN" dirty="0" err="1"/>
              <a:t>shortTermConversation</a:t>
            </a:r>
            <a:r>
              <a:rPr lang="en-IN" dirty="0"/>
              <a:t> and </a:t>
            </a:r>
            <a:r>
              <a:rPr lang="en-IN" dirty="0" err="1"/>
              <a:t>relevantLongTermMemories</a:t>
            </a:r>
            <a:r>
              <a:rPr lang="en-IN" dirty="0"/>
              <a:t>.</a:t>
            </a:r>
          </a:p>
        </p:txBody>
      </p:sp>
    </p:spTree>
    <p:extLst>
      <p:ext uri="{BB962C8B-B14F-4D97-AF65-F5344CB8AC3E}">
        <p14:creationId xmlns:p14="http://schemas.microsoft.com/office/powerpoint/2010/main" val="61152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F2B5D2-4821-FE30-4AFC-E7653701ECE6}"/>
              </a:ext>
            </a:extLst>
          </p:cNvPr>
          <p:cNvSpPr txBox="1"/>
          <p:nvPr/>
        </p:nvSpPr>
        <p:spPr>
          <a:xfrm>
            <a:off x="573932" y="402787"/>
            <a:ext cx="11488366" cy="6463308"/>
          </a:xfrm>
          <a:prstGeom prst="rect">
            <a:avLst/>
          </a:prstGeom>
          <a:noFill/>
        </p:spPr>
        <p:txBody>
          <a:bodyPr wrap="square">
            <a:spAutoFit/>
          </a:bodyPr>
          <a:lstStyle/>
          <a:p>
            <a:pPr marL="0" marR="0" indent="0" algn="l">
              <a:buNone/>
            </a:pPr>
            <a:r>
              <a:rPr lang="en-IN" b="0" i="0" dirty="0">
                <a:solidFill>
                  <a:schemeClr val="tx1"/>
                </a:solidFill>
                <a:effectLst/>
                <a:latin typeface="+mn-lt"/>
              </a:rPr>
              <a:t>Step 4: The LLM </a:t>
            </a:r>
            <a:r>
              <a:rPr lang="en-IN" b="0" i="0" dirty="0" err="1">
                <a:solidFill>
                  <a:schemeClr val="tx1"/>
                </a:solidFill>
                <a:effectLst/>
                <a:latin typeface="+mn-lt"/>
              </a:rPr>
              <a:t>ReAct</a:t>
            </a:r>
            <a:r>
              <a:rPr lang="en-IN" b="0" i="0" dirty="0">
                <a:solidFill>
                  <a:schemeClr val="tx1"/>
                </a:solidFill>
                <a:effectLst/>
                <a:latin typeface="+mn-lt"/>
              </a:rPr>
              <a:t> Loop (agent.js)</a:t>
            </a:r>
          </a:p>
          <a:p>
            <a:pPr marL="0" marR="0" indent="0" algn="l">
              <a:buNone/>
            </a:pPr>
            <a:endParaRPr lang="en-IN" dirty="0"/>
          </a:p>
          <a:p>
            <a:pPr marL="0" marR="0" indent="0" algn="l">
              <a:buNone/>
            </a:pPr>
            <a:r>
              <a:rPr lang="en-IN" sz="1800" b="0" i="0" dirty="0">
                <a:solidFill>
                  <a:schemeClr val="tx1"/>
                </a:solidFill>
                <a:effectLst/>
                <a:latin typeface="+mn-lt"/>
              </a:rPr>
              <a:t>The agent executes an iterative loop (up to 15 iterations) to achieve the goal:</a:t>
            </a:r>
          </a:p>
          <a:p>
            <a:pPr marL="0" marR="0" indent="0" algn="l">
              <a:buNone/>
            </a:pPr>
            <a:r>
              <a:rPr lang="en-IN" sz="1800" b="0" i="0" dirty="0">
                <a:solidFill>
                  <a:schemeClr val="tx1"/>
                </a:solidFill>
                <a:effectLst/>
                <a:latin typeface="+mn-lt"/>
              </a:rPr>
              <a:t>	                                </a:t>
            </a:r>
            <a:endParaRPr lang="en-IN" dirty="0"/>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endParaRPr lang="en-IN" sz="1800" b="0" i="0" dirty="0">
              <a:solidFill>
                <a:schemeClr val="tx1"/>
              </a:solidFill>
              <a:effectLst/>
              <a:latin typeface="+mn-lt"/>
            </a:endParaRPr>
          </a:p>
          <a:p>
            <a:pPr marL="0" marR="0" indent="0" algn="l">
              <a:buNone/>
            </a:pPr>
            <a:endParaRPr lang="en-IN" sz="1800" b="0" i="0" dirty="0">
              <a:solidFill>
                <a:schemeClr val="tx1"/>
              </a:solidFill>
              <a:effectLst/>
              <a:latin typeface="+mn-lt"/>
            </a:endParaRPr>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r>
              <a:rPr lang="en-IN" sz="1800" b="0" i="0" dirty="0">
                <a:solidFill>
                  <a:schemeClr val="tx1"/>
                </a:solidFill>
                <a:effectLst/>
                <a:latin typeface="+mn-lt"/>
              </a:rPr>
              <a:t>        </a:t>
            </a: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a:p>
            <a:pPr marL="0" marR="0" indent="0" algn="l">
              <a:buNone/>
            </a:pPr>
            <a:endParaRPr lang="en-IN" dirty="0"/>
          </a:p>
          <a:p>
            <a:pPr marL="0" marR="0" indent="0" algn="l">
              <a:buNone/>
            </a:pPr>
            <a:endParaRPr lang="en-IN" sz="1800" b="0" i="0" dirty="0">
              <a:solidFill>
                <a:schemeClr val="tx1"/>
              </a:solidFill>
              <a:effectLst/>
              <a:latin typeface="+mn-lt"/>
            </a:endParaRPr>
          </a:p>
        </p:txBody>
      </p:sp>
      <p:sp>
        <p:nvSpPr>
          <p:cNvPr id="6" name="Rectangle: Top Corners Rounded 5">
            <a:extLst>
              <a:ext uri="{FF2B5EF4-FFF2-40B4-BE49-F238E27FC236}">
                <a16:creationId xmlns:a16="http://schemas.microsoft.com/office/drawing/2014/main" id="{6B4F25CE-6E68-BE05-7905-6F6D52A08A98}"/>
              </a:ext>
            </a:extLst>
          </p:cNvPr>
          <p:cNvSpPr/>
          <p:nvPr/>
        </p:nvSpPr>
        <p:spPr>
          <a:xfrm>
            <a:off x="773348" y="1760707"/>
            <a:ext cx="1887166" cy="544748"/>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Build Messages</a:t>
            </a:r>
            <a:endParaRPr lang="en-IN"/>
          </a:p>
        </p:txBody>
      </p:sp>
      <p:sp>
        <p:nvSpPr>
          <p:cNvPr id="8" name="Rectangle: Top Corners Rounded 7">
            <a:extLst>
              <a:ext uri="{FF2B5EF4-FFF2-40B4-BE49-F238E27FC236}">
                <a16:creationId xmlns:a16="http://schemas.microsoft.com/office/drawing/2014/main" id="{A8568B65-039E-B01F-8631-F6718BE46066}"/>
              </a:ext>
            </a:extLst>
          </p:cNvPr>
          <p:cNvSpPr/>
          <p:nvPr/>
        </p:nvSpPr>
        <p:spPr>
          <a:xfrm>
            <a:off x="3732989" y="1760707"/>
            <a:ext cx="1887166" cy="544748"/>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Call LLM Model</a:t>
            </a:r>
            <a:endParaRPr lang="en-IN" dirty="0"/>
          </a:p>
        </p:txBody>
      </p:sp>
      <p:sp>
        <p:nvSpPr>
          <p:cNvPr id="9" name="Arrow: Right 8">
            <a:extLst>
              <a:ext uri="{FF2B5EF4-FFF2-40B4-BE49-F238E27FC236}">
                <a16:creationId xmlns:a16="http://schemas.microsoft.com/office/drawing/2014/main" id="{263240E4-28BA-29F7-E277-C09B54226A10}"/>
              </a:ext>
            </a:extLst>
          </p:cNvPr>
          <p:cNvSpPr/>
          <p:nvPr/>
        </p:nvSpPr>
        <p:spPr>
          <a:xfrm>
            <a:off x="2811294" y="1926077"/>
            <a:ext cx="807395" cy="204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Top Corners Rounded 14">
            <a:extLst>
              <a:ext uri="{FF2B5EF4-FFF2-40B4-BE49-F238E27FC236}">
                <a16:creationId xmlns:a16="http://schemas.microsoft.com/office/drawing/2014/main" id="{E213720B-90F9-C8C8-5E52-DB604E8D3720}"/>
              </a:ext>
            </a:extLst>
          </p:cNvPr>
          <p:cNvSpPr/>
          <p:nvPr/>
        </p:nvSpPr>
        <p:spPr>
          <a:xfrm>
            <a:off x="5999537" y="2612474"/>
            <a:ext cx="3341451" cy="544748"/>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Does Model want Tool Calls?</a:t>
            </a:r>
          </a:p>
        </p:txBody>
      </p:sp>
      <p:sp>
        <p:nvSpPr>
          <p:cNvPr id="29" name="Arrow: Right 28">
            <a:extLst>
              <a:ext uri="{FF2B5EF4-FFF2-40B4-BE49-F238E27FC236}">
                <a16:creationId xmlns:a16="http://schemas.microsoft.com/office/drawing/2014/main" id="{58D6A755-1E1C-2455-8D80-FE23B3A1580F}"/>
              </a:ext>
            </a:extLst>
          </p:cNvPr>
          <p:cNvSpPr/>
          <p:nvPr/>
        </p:nvSpPr>
        <p:spPr>
          <a:xfrm rot="2077580">
            <a:off x="5613992" y="2192718"/>
            <a:ext cx="773518" cy="2194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48904DDA-8DCA-F94F-96CB-98E5E3C15A2B}"/>
              </a:ext>
            </a:extLst>
          </p:cNvPr>
          <p:cNvSpPr/>
          <p:nvPr/>
        </p:nvSpPr>
        <p:spPr>
          <a:xfrm rot="7927982">
            <a:off x="6324585" y="3424297"/>
            <a:ext cx="802961" cy="2033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3AD54844-166F-9FCD-B414-1BD4CA516914}"/>
              </a:ext>
            </a:extLst>
          </p:cNvPr>
          <p:cNvSpPr/>
          <p:nvPr/>
        </p:nvSpPr>
        <p:spPr>
          <a:xfrm rot="3090897">
            <a:off x="7517496" y="3429932"/>
            <a:ext cx="759590" cy="2100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Top Corners Rounded 34">
            <a:extLst>
              <a:ext uri="{FF2B5EF4-FFF2-40B4-BE49-F238E27FC236}">
                <a16:creationId xmlns:a16="http://schemas.microsoft.com/office/drawing/2014/main" id="{3E783B78-024F-AC05-21AF-1837DE4022B5}"/>
              </a:ext>
            </a:extLst>
          </p:cNvPr>
          <p:cNvSpPr/>
          <p:nvPr/>
        </p:nvSpPr>
        <p:spPr>
          <a:xfrm>
            <a:off x="6158472" y="3863635"/>
            <a:ext cx="814691" cy="383693"/>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Yes</a:t>
            </a:r>
            <a:endParaRPr lang="en-IN" dirty="0"/>
          </a:p>
        </p:txBody>
      </p:sp>
      <p:sp>
        <p:nvSpPr>
          <p:cNvPr id="37" name="Rectangle: Top Corners Rounded 36">
            <a:extLst>
              <a:ext uri="{FF2B5EF4-FFF2-40B4-BE49-F238E27FC236}">
                <a16:creationId xmlns:a16="http://schemas.microsoft.com/office/drawing/2014/main" id="{62825C70-9779-6153-415D-CAD64D68C52D}"/>
              </a:ext>
            </a:extLst>
          </p:cNvPr>
          <p:cNvSpPr/>
          <p:nvPr/>
        </p:nvSpPr>
        <p:spPr>
          <a:xfrm>
            <a:off x="7861162" y="3863635"/>
            <a:ext cx="814691" cy="383693"/>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No</a:t>
            </a:r>
          </a:p>
        </p:txBody>
      </p:sp>
      <p:sp>
        <p:nvSpPr>
          <p:cNvPr id="39" name="Rectangle: Top Corners Rounded 38">
            <a:extLst>
              <a:ext uri="{FF2B5EF4-FFF2-40B4-BE49-F238E27FC236}">
                <a16:creationId xmlns:a16="http://schemas.microsoft.com/office/drawing/2014/main" id="{7FDAA907-6E2C-EEE3-BC70-4DA390A1802D}"/>
              </a:ext>
            </a:extLst>
          </p:cNvPr>
          <p:cNvSpPr/>
          <p:nvPr/>
        </p:nvSpPr>
        <p:spPr>
          <a:xfrm>
            <a:off x="5203408" y="4798153"/>
            <a:ext cx="2226067" cy="731859"/>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Execute Tool</a:t>
            </a:r>
          </a:p>
          <a:p>
            <a:pPr algn="ctr"/>
            <a:r>
              <a:rPr lang="en-IN" dirty="0">
                <a:solidFill>
                  <a:schemeClr val="tx1"/>
                </a:solidFill>
              </a:rPr>
              <a:t>(</a:t>
            </a:r>
            <a:r>
              <a:rPr lang="en-IN" dirty="0" err="1">
                <a:solidFill>
                  <a:schemeClr val="tx1"/>
                </a:solidFill>
              </a:rPr>
              <a:t>src</a:t>
            </a:r>
            <a:r>
              <a:rPr lang="en-IN" dirty="0">
                <a:solidFill>
                  <a:schemeClr val="tx1"/>
                </a:solidFill>
              </a:rPr>
              <a:t>/toolImpl.js)</a:t>
            </a:r>
            <a:endParaRPr lang="en-IN" dirty="0"/>
          </a:p>
        </p:txBody>
      </p:sp>
      <p:sp>
        <p:nvSpPr>
          <p:cNvPr id="43" name="Rectangle: Top Corners Rounded 42">
            <a:extLst>
              <a:ext uri="{FF2B5EF4-FFF2-40B4-BE49-F238E27FC236}">
                <a16:creationId xmlns:a16="http://schemas.microsoft.com/office/drawing/2014/main" id="{DCA2CF56-C99D-B945-85BD-B4EF8991D4B0}"/>
              </a:ext>
            </a:extLst>
          </p:cNvPr>
          <p:cNvSpPr/>
          <p:nvPr/>
        </p:nvSpPr>
        <p:spPr>
          <a:xfrm>
            <a:off x="7670262" y="4798153"/>
            <a:ext cx="2387278" cy="719372"/>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Save Short Memory</a:t>
            </a:r>
          </a:p>
          <a:p>
            <a:pPr algn="ctr"/>
            <a:r>
              <a:rPr lang="en-IN" dirty="0">
                <a:solidFill>
                  <a:schemeClr val="tx1"/>
                </a:solidFill>
              </a:rPr>
              <a:t>&amp; Return Answer</a:t>
            </a:r>
            <a:endParaRPr lang="en-IN" dirty="0"/>
          </a:p>
        </p:txBody>
      </p:sp>
      <p:sp>
        <p:nvSpPr>
          <p:cNvPr id="45" name="Arrow: Right 44">
            <a:extLst>
              <a:ext uri="{FF2B5EF4-FFF2-40B4-BE49-F238E27FC236}">
                <a16:creationId xmlns:a16="http://schemas.microsoft.com/office/drawing/2014/main" id="{47E6E5A3-C067-0CCF-81D4-6C32BF2EE920}"/>
              </a:ext>
            </a:extLst>
          </p:cNvPr>
          <p:cNvSpPr/>
          <p:nvPr/>
        </p:nvSpPr>
        <p:spPr>
          <a:xfrm rot="5400000">
            <a:off x="6209242" y="4467717"/>
            <a:ext cx="567588" cy="126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Right 46">
            <a:extLst>
              <a:ext uri="{FF2B5EF4-FFF2-40B4-BE49-F238E27FC236}">
                <a16:creationId xmlns:a16="http://schemas.microsoft.com/office/drawing/2014/main" id="{DF1C8D45-F995-5ECA-AE3C-26F3EE47CF32}"/>
              </a:ext>
            </a:extLst>
          </p:cNvPr>
          <p:cNvSpPr/>
          <p:nvPr/>
        </p:nvSpPr>
        <p:spPr>
          <a:xfrm rot="5400000">
            <a:off x="8122349" y="4467717"/>
            <a:ext cx="567588" cy="126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Top Corners Rounded 48">
            <a:extLst>
              <a:ext uri="{FF2B5EF4-FFF2-40B4-BE49-F238E27FC236}">
                <a16:creationId xmlns:a16="http://schemas.microsoft.com/office/drawing/2014/main" id="{2D180356-5648-184A-379C-874C6603AAFC}"/>
              </a:ext>
            </a:extLst>
          </p:cNvPr>
          <p:cNvSpPr/>
          <p:nvPr/>
        </p:nvSpPr>
        <p:spPr>
          <a:xfrm>
            <a:off x="3943499" y="6060680"/>
            <a:ext cx="2549537" cy="647800"/>
          </a:xfrm>
          <a:prstGeom prst="round2SameRect">
            <a:avLst>
              <a:gd name="adj1" fmla="val 16667"/>
              <a:gd name="adj2" fmla="val 50000"/>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Append Tool Result</a:t>
            </a:r>
          </a:p>
          <a:p>
            <a:r>
              <a:rPr lang="en-IN" dirty="0">
                <a:solidFill>
                  <a:schemeClr val="tx1"/>
                </a:solidFill>
              </a:rPr>
              <a:t>&amp; Loop Back</a:t>
            </a:r>
          </a:p>
        </p:txBody>
      </p:sp>
      <p:sp>
        <p:nvSpPr>
          <p:cNvPr id="51" name="Arrow: Right 50">
            <a:extLst>
              <a:ext uri="{FF2B5EF4-FFF2-40B4-BE49-F238E27FC236}">
                <a16:creationId xmlns:a16="http://schemas.microsoft.com/office/drawing/2014/main" id="{E31190CF-3541-5C1D-D3E9-67755E8CC2E2}"/>
              </a:ext>
            </a:extLst>
          </p:cNvPr>
          <p:cNvSpPr/>
          <p:nvPr/>
        </p:nvSpPr>
        <p:spPr>
          <a:xfrm rot="7927982">
            <a:off x="4561142" y="5613252"/>
            <a:ext cx="802961" cy="2033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85106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86B94F-9A26-8D40-B60D-BA2BBD894162}"/>
              </a:ext>
            </a:extLst>
          </p:cNvPr>
          <p:cNvSpPr txBox="1"/>
          <p:nvPr/>
        </p:nvSpPr>
        <p:spPr>
          <a:xfrm>
            <a:off x="311285" y="58847"/>
            <a:ext cx="11537004" cy="6336478"/>
          </a:xfrm>
          <a:prstGeom prst="rect">
            <a:avLst/>
          </a:prstGeom>
          <a:noFill/>
        </p:spPr>
        <p:txBody>
          <a:bodyPr wrap="square">
            <a:spAutoFit/>
          </a:bodyPr>
          <a:lstStyle/>
          <a:p>
            <a:r>
              <a:rPr lang="en-IN" dirty="0"/>
              <a:t>Step 4: The LLM </a:t>
            </a:r>
            <a:r>
              <a:rPr lang="en-IN" dirty="0" err="1"/>
              <a:t>ReAct</a:t>
            </a:r>
            <a:r>
              <a:rPr lang="en-IN" dirty="0"/>
              <a:t> Loop (agent.js)</a:t>
            </a:r>
          </a:p>
          <a:p>
            <a:endParaRPr lang="en-IN" dirty="0"/>
          </a:p>
          <a:p>
            <a:pPr marL="0" marR="0" indent="0" algn="l">
              <a:buNone/>
            </a:pPr>
            <a:endParaRPr lang="en-IN" sz="1800" dirty="0"/>
          </a:p>
          <a:p>
            <a:pPr marL="342900" lvl="0" indent="-342900" algn="l">
              <a:buFont typeface="+mj-lt"/>
              <a:buAutoNum type="arabicPeriod"/>
            </a:pPr>
            <a:r>
              <a:rPr lang="en-IN" sz="1800" b="1" i="0" dirty="0">
                <a:solidFill>
                  <a:schemeClr val="tx1"/>
                </a:solidFill>
                <a:effectLst/>
                <a:latin typeface="+mn-lt"/>
              </a:rPr>
              <a:t>Model Adapter Dispatch</a:t>
            </a:r>
            <a:r>
              <a:rPr lang="en-IN" sz="1800" b="0" i="0" dirty="0">
                <a:solidFill>
                  <a:schemeClr val="tx1"/>
                </a:solidFill>
                <a:effectLst/>
                <a:latin typeface="+mn-lt"/>
              </a:rPr>
              <a:t>:</a:t>
            </a:r>
          </a:p>
          <a:p>
            <a:pPr marL="742950" lvl="1" indent="-285750" algn="l">
              <a:buFont typeface="+mj-lt"/>
              <a:buAutoNum type="arabicPeriod"/>
            </a:pPr>
            <a:r>
              <a:rPr lang="en-IN" sz="1800" b="0" i="0" dirty="0">
                <a:solidFill>
                  <a:schemeClr val="tx1"/>
                </a:solidFill>
                <a:effectLst/>
                <a:latin typeface="+mn-lt"/>
              </a:rPr>
              <a:t>If model is llama3.2 or qwen3:4b: Dispatches to </a:t>
            </a:r>
            <a:r>
              <a:rPr lang="en-IN" sz="1800" b="0" i="0" dirty="0" err="1">
                <a:solidFill>
                  <a:schemeClr val="tx1"/>
                </a:solidFill>
                <a:effectLst/>
                <a:latin typeface="+mn-lt"/>
              </a:rPr>
              <a:t>askModel</a:t>
            </a:r>
            <a:r>
              <a:rPr lang="en-IN" sz="1800" b="0" i="0" dirty="0">
                <a:solidFill>
                  <a:schemeClr val="tx1"/>
                </a:solidFill>
                <a:effectLst/>
                <a:latin typeface="+mn-lt"/>
              </a:rPr>
              <a:t> via </a:t>
            </a:r>
            <a:r>
              <a:rPr lang="en-IN" sz="1800" b="0" i="0" dirty="0" err="1">
                <a:solidFill>
                  <a:schemeClr val="tx1"/>
                </a:solidFill>
                <a:effectLst/>
                <a:latin typeface="+mn-lt"/>
              </a:rPr>
              <a:t>Ollama</a:t>
            </a:r>
            <a:r>
              <a:rPr lang="en-IN" sz="1800" b="0" i="0" dirty="0">
                <a:solidFill>
                  <a:schemeClr val="tx1"/>
                </a:solidFill>
                <a:effectLst/>
                <a:latin typeface="+mn-lt"/>
              </a:rPr>
              <a:t> (http://127.0.0.1:11434/api/chat) with JSON function declarations.</a:t>
            </a:r>
          </a:p>
          <a:p>
            <a:pPr marL="742950" lvl="1" indent="-285750" algn="l">
              <a:buFont typeface="+mj-lt"/>
              <a:buAutoNum type="arabicPeriod"/>
            </a:pPr>
            <a:endParaRPr lang="en-IN" sz="1800" b="0" i="0" dirty="0">
              <a:solidFill>
                <a:schemeClr val="tx1"/>
              </a:solidFill>
              <a:effectLst/>
              <a:latin typeface="+mn-lt"/>
            </a:endParaRPr>
          </a:p>
          <a:p>
            <a:pPr marL="742950" lvl="1" indent="-285750" algn="l">
              <a:buFont typeface="+mj-lt"/>
              <a:buAutoNum type="arabicPeriod"/>
            </a:pPr>
            <a:r>
              <a:rPr lang="en-IN" sz="1800" b="0" i="0" dirty="0">
                <a:solidFill>
                  <a:schemeClr val="tx1"/>
                </a:solidFill>
                <a:effectLst/>
                <a:latin typeface="+mn-lt"/>
              </a:rPr>
              <a:t>If model is </a:t>
            </a:r>
            <a:r>
              <a:rPr lang="en-IN" sz="1800" b="0" i="0" dirty="0" err="1">
                <a:solidFill>
                  <a:schemeClr val="tx1"/>
                </a:solidFill>
                <a:effectLst/>
                <a:latin typeface="+mn-lt"/>
              </a:rPr>
              <a:t>gemini</a:t>
            </a:r>
            <a:r>
              <a:rPr lang="en-IN" sz="1800" b="0" i="0" dirty="0">
                <a:solidFill>
                  <a:schemeClr val="tx1"/>
                </a:solidFill>
                <a:effectLst/>
                <a:latin typeface="+mn-lt"/>
              </a:rPr>
              <a:t>-*: Dispatches to askModel1 via Google Gemini REST API (</a:t>
            </a:r>
            <a:r>
              <a:rPr lang="en-IN" sz="1800" b="0" i="0" dirty="0" err="1">
                <a:solidFill>
                  <a:schemeClr val="tx1"/>
                </a:solidFill>
                <a:effectLst/>
                <a:latin typeface="+mn-lt"/>
              </a:rPr>
              <a:t>generateContent</a:t>
            </a:r>
            <a:r>
              <a:rPr lang="en-IN" sz="1800" b="0" i="0" dirty="0">
                <a:solidFill>
                  <a:schemeClr val="tx1"/>
                </a:solidFill>
                <a:effectLst/>
                <a:latin typeface="+mn-lt"/>
              </a:rPr>
              <a:t>) with converted </a:t>
            </a:r>
            <a:r>
              <a:rPr lang="en-IN" sz="1800" b="0" i="0" dirty="0" err="1">
                <a:solidFill>
                  <a:schemeClr val="tx1"/>
                </a:solidFill>
                <a:effectLst/>
                <a:latin typeface="+mn-lt"/>
              </a:rPr>
              <a:t>OpenAPI</a:t>
            </a:r>
            <a:r>
              <a:rPr lang="en-IN" sz="1800" b="0" i="0" dirty="0">
                <a:solidFill>
                  <a:schemeClr val="tx1"/>
                </a:solidFill>
                <a:effectLst/>
                <a:latin typeface="+mn-lt"/>
              </a:rPr>
              <a:t> schemas.</a:t>
            </a:r>
          </a:p>
          <a:p>
            <a:pPr marL="742950" lvl="1" indent="-285750" algn="l">
              <a:buFont typeface="+mj-lt"/>
              <a:buAutoNum type="arabicPeriod"/>
            </a:pPr>
            <a:endParaRPr lang="en-IN" sz="1800" b="0" i="0" dirty="0">
              <a:solidFill>
                <a:schemeClr val="tx1"/>
              </a:solidFill>
              <a:effectLst/>
              <a:latin typeface="+mn-lt"/>
            </a:endParaRPr>
          </a:p>
          <a:p>
            <a:pPr marL="342900" lvl="0" indent="-342900" algn="l">
              <a:buFont typeface="+mj-lt"/>
              <a:buAutoNum type="arabicPeriod"/>
            </a:pPr>
            <a:r>
              <a:rPr lang="en-IN" sz="1800" b="1" i="0" dirty="0">
                <a:solidFill>
                  <a:schemeClr val="tx1"/>
                </a:solidFill>
                <a:effectLst/>
                <a:latin typeface="+mn-lt"/>
              </a:rPr>
              <a:t>Tool Call Resolution</a:t>
            </a:r>
            <a:r>
              <a:rPr lang="en-IN" sz="1800" b="0" i="0" dirty="0">
                <a:solidFill>
                  <a:schemeClr val="tx1"/>
                </a:solidFill>
                <a:effectLst/>
                <a:latin typeface="+mn-lt"/>
              </a:rPr>
              <a:t>:</a:t>
            </a:r>
          </a:p>
          <a:p>
            <a:pPr marL="742950" lvl="1" indent="-285750" algn="l">
              <a:buFont typeface="+mj-lt"/>
              <a:buAutoNum type="arabicPeriod"/>
            </a:pPr>
            <a:r>
              <a:rPr lang="en-IN" sz="1800" b="0" i="0" dirty="0">
                <a:solidFill>
                  <a:schemeClr val="tx1"/>
                </a:solidFill>
                <a:effectLst/>
                <a:latin typeface="+mn-lt"/>
              </a:rPr>
              <a:t>If the model asks to execute a tool (e.g. </a:t>
            </a:r>
            <a:r>
              <a:rPr lang="en-IN" sz="1800" b="0" i="0" dirty="0" err="1">
                <a:solidFill>
                  <a:schemeClr val="tx1"/>
                </a:solidFill>
                <a:effectLst/>
                <a:latin typeface="+mn-lt"/>
              </a:rPr>
              <a:t>get_project</a:t>
            </a:r>
            <a:r>
              <a:rPr lang="en-IN" sz="1800" b="0" i="0" dirty="0">
                <a:solidFill>
                  <a:schemeClr val="tx1"/>
                </a:solidFill>
                <a:effectLst/>
                <a:latin typeface="+mn-lt"/>
              </a:rPr>
              <a:t>({ name: "Project Gamma" })):</a:t>
            </a:r>
          </a:p>
          <a:p>
            <a:pPr marL="1143000" lvl="2" indent="-228600" algn="l">
              <a:buFont typeface="+mj-lt"/>
              <a:buAutoNum type="arabicPeriod"/>
            </a:pPr>
            <a:r>
              <a:rPr lang="en-IN" sz="1800" b="1" i="0" dirty="0">
                <a:solidFill>
                  <a:schemeClr val="tx1"/>
                </a:solidFill>
                <a:effectLst/>
                <a:latin typeface="+mn-lt"/>
              </a:rPr>
              <a:t>Confirmation Check</a:t>
            </a:r>
            <a:r>
              <a:rPr lang="en-IN" sz="1800" b="0" i="0" dirty="0">
                <a:solidFill>
                  <a:schemeClr val="tx1"/>
                </a:solidFill>
                <a:effectLst/>
                <a:latin typeface="+mn-lt"/>
              </a:rPr>
              <a:t>: If the tool is a mutating action (</a:t>
            </a:r>
            <a:r>
              <a:rPr lang="en-IN" sz="1800" b="0" i="0" dirty="0" err="1">
                <a:solidFill>
                  <a:schemeClr val="tx1"/>
                </a:solidFill>
                <a:effectLst/>
                <a:latin typeface="+mn-lt"/>
              </a:rPr>
              <a:t>update_task_status</a:t>
            </a:r>
            <a:r>
              <a:rPr lang="en-IN" sz="1800" b="0" i="0" dirty="0">
                <a:solidFill>
                  <a:schemeClr val="tx1"/>
                </a:solidFill>
                <a:effectLst/>
                <a:latin typeface="+mn-lt"/>
              </a:rPr>
              <a:t>, </a:t>
            </a:r>
            <a:r>
              <a:rPr lang="en-IN" sz="1800" b="0" i="0" dirty="0" err="1">
                <a:solidFill>
                  <a:schemeClr val="tx1"/>
                </a:solidFill>
                <a:effectLst/>
                <a:latin typeface="+mn-lt"/>
              </a:rPr>
              <a:t>assign_task</a:t>
            </a:r>
            <a:r>
              <a:rPr lang="en-IN" sz="1800" b="0" i="0" dirty="0">
                <a:solidFill>
                  <a:schemeClr val="tx1"/>
                </a:solidFill>
                <a:effectLst/>
                <a:latin typeface="+mn-lt"/>
              </a:rPr>
              <a:t>, etc.) and confirmed: false, execution stops and requests user approval.</a:t>
            </a:r>
          </a:p>
          <a:p>
            <a:pPr marL="1143000" lvl="2" indent="-228600" algn="l">
              <a:buFont typeface="+mj-lt"/>
              <a:buAutoNum type="arabicPeriod"/>
            </a:pPr>
            <a:endParaRPr lang="en-IN" sz="1800" b="0" i="0" dirty="0">
              <a:solidFill>
                <a:schemeClr val="tx1"/>
              </a:solidFill>
              <a:effectLst/>
              <a:latin typeface="+mn-lt"/>
            </a:endParaRPr>
          </a:p>
          <a:p>
            <a:pPr marL="1143000" lvl="2" indent="-228600" algn="l">
              <a:buFont typeface="+mj-lt"/>
              <a:buAutoNum type="arabicPeriod"/>
            </a:pPr>
            <a:r>
              <a:rPr lang="en-IN" sz="1800" b="1" i="0" dirty="0">
                <a:solidFill>
                  <a:schemeClr val="tx1"/>
                </a:solidFill>
                <a:effectLst/>
                <a:latin typeface="+mn-lt"/>
              </a:rPr>
              <a:t>Validation &amp; Caching</a:t>
            </a:r>
            <a:r>
              <a:rPr lang="en-IN" sz="1800" b="0" i="0" dirty="0">
                <a:solidFill>
                  <a:schemeClr val="tx1"/>
                </a:solidFill>
                <a:effectLst/>
                <a:latin typeface="+mn-lt"/>
              </a:rPr>
              <a:t>: Tool </a:t>
            </a:r>
            <a:r>
              <a:rPr lang="en-IN" sz="1800" b="0" i="0" dirty="0" err="1">
                <a:solidFill>
                  <a:schemeClr val="tx1"/>
                </a:solidFill>
                <a:effectLst/>
                <a:latin typeface="+mn-lt"/>
              </a:rPr>
              <a:t>args</a:t>
            </a:r>
            <a:r>
              <a:rPr lang="en-IN" sz="1800" b="0" i="0" dirty="0">
                <a:solidFill>
                  <a:schemeClr val="tx1"/>
                </a:solidFill>
                <a:effectLst/>
                <a:latin typeface="+mn-lt"/>
              </a:rPr>
              <a:t> are validated and checked against </a:t>
            </a:r>
            <a:r>
              <a:rPr lang="en-IN" sz="1800" b="0" i="0" dirty="0" err="1">
                <a:solidFill>
                  <a:schemeClr val="tx1"/>
                </a:solidFill>
                <a:effectLst/>
                <a:latin typeface="+mn-lt"/>
              </a:rPr>
              <a:t>callCache</a:t>
            </a:r>
            <a:r>
              <a:rPr lang="en-IN" sz="1800" b="0" i="0" dirty="0">
                <a:solidFill>
                  <a:schemeClr val="tx1"/>
                </a:solidFill>
                <a:effectLst/>
                <a:latin typeface="+mn-lt"/>
              </a:rPr>
              <a:t>.</a:t>
            </a:r>
          </a:p>
          <a:p>
            <a:pPr marL="1143000" lvl="2" indent="-228600" algn="l">
              <a:buFont typeface="+mj-lt"/>
              <a:buAutoNum type="arabicPeriod"/>
            </a:pPr>
            <a:endParaRPr lang="en-IN" sz="1800" b="0" i="0" dirty="0">
              <a:solidFill>
                <a:schemeClr val="tx1"/>
              </a:solidFill>
              <a:effectLst/>
              <a:latin typeface="+mn-lt"/>
            </a:endParaRPr>
          </a:p>
          <a:p>
            <a:pPr marL="1143000" lvl="2" indent="-228600" algn="l">
              <a:buFont typeface="+mj-lt"/>
              <a:buAutoNum type="arabicPeriod"/>
            </a:pPr>
            <a:r>
              <a:rPr lang="en-IN" sz="1800" b="1" i="0" dirty="0">
                <a:solidFill>
                  <a:schemeClr val="tx1"/>
                </a:solidFill>
                <a:effectLst/>
                <a:latin typeface="+mn-lt"/>
              </a:rPr>
              <a:t>Execution</a:t>
            </a:r>
            <a:r>
              <a:rPr lang="en-IN" sz="1800" b="0" i="0" dirty="0">
                <a:solidFill>
                  <a:schemeClr val="tx1"/>
                </a:solidFill>
                <a:effectLst/>
                <a:latin typeface="+mn-lt"/>
              </a:rPr>
              <a:t>: Executes function in </a:t>
            </a:r>
            <a:r>
              <a:rPr lang="en-IN" sz="1800" b="0" i="0" dirty="0" err="1">
                <a:solidFill>
                  <a:schemeClr val="tx1"/>
                </a:solidFill>
                <a:effectLst/>
                <a:latin typeface="+mn-lt"/>
              </a:rPr>
              <a:t>src</a:t>
            </a:r>
            <a:r>
              <a:rPr lang="en-IN" sz="1800" b="0" i="0" dirty="0">
                <a:solidFill>
                  <a:schemeClr val="tx1"/>
                </a:solidFill>
                <a:effectLst/>
                <a:latin typeface="+mn-lt"/>
              </a:rPr>
              <a:t>/toolImpl.js, querying  data/pm-</a:t>
            </a:r>
            <a:r>
              <a:rPr lang="en-IN" sz="1800" b="0" i="0" dirty="0" err="1">
                <a:solidFill>
                  <a:schemeClr val="tx1"/>
                </a:solidFill>
                <a:effectLst/>
                <a:latin typeface="+mn-lt"/>
              </a:rPr>
              <a:t>data.json</a:t>
            </a:r>
            <a:r>
              <a:rPr lang="en-IN" sz="1800" b="0" i="0" dirty="0">
                <a:solidFill>
                  <a:schemeClr val="tx1"/>
                </a:solidFill>
                <a:effectLst/>
                <a:latin typeface="+mn-lt"/>
              </a:rPr>
              <a:t> </a:t>
            </a:r>
          </a:p>
          <a:p>
            <a:pPr lvl="2" algn="l"/>
            <a:r>
              <a:rPr lang="en-IN" sz="1800" b="0" i="0" dirty="0">
                <a:solidFill>
                  <a:schemeClr val="tx1"/>
                </a:solidFill>
                <a:effectLst/>
                <a:latin typeface="+mn-lt"/>
              </a:rPr>
              <a:t>(e.g., returning { id: "PROJ_GAMMA", </a:t>
            </a:r>
            <a:r>
              <a:rPr lang="en-IN" sz="1800" b="0" i="0" dirty="0" err="1">
                <a:solidFill>
                  <a:schemeClr val="tx1"/>
                </a:solidFill>
                <a:effectLst/>
                <a:latin typeface="+mn-lt"/>
              </a:rPr>
              <a:t>ownerName</a:t>
            </a:r>
            <a:r>
              <a:rPr lang="en-IN" sz="1800" b="0" i="0" dirty="0">
                <a:solidFill>
                  <a:schemeClr val="tx1"/>
                </a:solidFill>
                <a:effectLst/>
                <a:latin typeface="+mn-lt"/>
              </a:rPr>
              <a:t>: "Priya Shah" }).</a:t>
            </a:r>
          </a:p>
          <a:p>
            <a:pPr lvl="2" algn="l"/>
            <a:endParaRPr lang="en-IN" sz="1800" b="0" i="0" dirty="0">
              <a:solidFill>
                <a:schemeClr val="tx1"/>
              </a:solidFill>
              <a:effectLst/>
              <a:latin typeface="+mn-lt"/>
            </a:endParaRPr>
          </a:p>
          <a:p>
            <a:pPr lvl="2" algn="l"/>
            <a:r>
              <a:rPr lang="en-IN" sz="1800" b="1" i="0" dirty="0">
                <a:solidFill>
                  <a:schemeClr val="tx1"/>
                </a:solidFill>
                <a:effectLst/>
                <a:latin typeface="+mn-lt"/>
              </a:rPr>
              <a:t>4. Feedback</a:t>
            </a:r>
            <a:r>
              <a:rPr lang="en-IN" sz="1800" b="0" i="0" dirty="0">
                <a:solidFill>
                  <a:schemeClr val="tx1"/>
                </a:solidFill>
                <a:effectLst/>
                <a:latin typeface="+mn-lt"/>
              </a:rPr>
              <a:t>: The tool output is appended as a { role: 'tool' } message, and the loop repeats.</a:t>
            </a:r>
          </a:p>
          <a:p>
            <a:pPr lvl="2" algn="l"/>
            <a:endParaRPr lang="en-IN" dirty="0"/>
          </a:p>
          <a:p>
            <a:pPr lvl="2" algn="l"/>
            <a:endParaRPr lang="en-IN" sz="976" b="0" i="0" dirty="0">
              <a:solidFill>
                <a:srgbClr val="CCCCCC"/>
              </a:solidFill>
              <a:effectLst/>
              <a:latin typeface="Segoe WPC"/>
            </a:endParaRPr>
          </a:p>
        </p:txBody>
      </p:sp>
    </p:spTree>
    <p:extLst>
      <p:ext uri="{BB962C8B-B14F-4D97-AF65-F5344CB8AC3E}">
        <p14:creationId xmlns:p14="http://schemas.microsoft.com/office/powerpoint/2010/main" val="2291955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03BFEA-7886-C11A-5D2A-6B8B6E93A742}"/>
              </a:ext>
            </a:extLst>
          </p:cNvPr>
          <p:cNvSpPr txBox="1"/>
          <p:nvPr/>
        </p:nvSpPr>
        <p:spPr>
          <a:xfrm>
            <a:off x="304802" y="271326"/>
            <a:ext cx="11553216" cy="4801314"/>
          </a:xfrm>
          <a:prstGeom prst="rect">
            <a:avLst/>
          </a:prstGeom>
          <a:noFill/>
        </p:spPr>
        <p:txBody>
          <a:bodyPr wrap="square">
            <a:spAutoFit/>
          </a:bodyPr>
          <a:lstStyle/>
          <a:p>
            <a:pPr marL="0" marR="0" indent="0" algn="l">
              <a:buNone/>
            </a:pPr>
            <a:r>
              <a:rPr lang="en-IN" b="0" i="0" dirty="0">
                <a:solidFill>
                  <a:schemeClr val="tx1"/>
                </a:solidFill>
                <a:effectLst/>
                <a:latin typeface="+mn-lt"/>
              </a:rPr>
              <a:t>Step 5: Final Response Delivery</a:t>
            </a:r>
          </a:p>
          <a:p>
            <a:pPr marL="0" marR="0" indent="0" algn="l">
              <a:buNone/>
            </a:pPr>
            <a:endParaRPr lang="en-IN" b="0" i="0" dirty="0">
              <a:solidFill>
                <a:schemeClr val="tx1"/>
              </a:solidFill>
              <a:effectLst/>
              <a:latin typeface="+mn-lt"/>
            </a:endParaRPr>
          </a:p>
          <a:p>
            <a:pPr marL="0" marR="0" indent="0" algn="l">
              <a:buNone/>
            </a:pPr>
            <a:r>
              <a:rPr lang="en-IN" sz="1800" b="0" i="0" dirty="0">
                <a:solidFill>
                  <a:schemeClr val="tx1"/>
                </a:solidFill>
                <a:effectLst/>
                <a:latin typeface="+mn-lt"/>
              </a:rPr>
              <a:t>When the model produces a text response without further tool calls:</a:t>
            </a:r>
          </a:p>
          <a:p>
            <a:pPr marL="342900" lvl="0" indent="-342900" algn="l">
              <a:buFont typeface="+mj-lt"/>
              <a:buAutoNum type="arabicPeriod"/>
            </a:pPr>
            <a:r>
              <a:rPr lang="en-IN" sz="1800" b="0" i="0" dirty="0">
                <a:solidFill>
                  <a:schemeClr val="tx1"/>
                </a:solidFill>
                <a:effectLst/>
                <a:latin typeface="+mn-lt"/>
              </a:rPr>
              <a:t>Short-term history is updated via </a:t>
            </a:r>
            <a:r>
              <a:rPr lang="en-IN" sz="1800" b="0" i="0" dirty="0" err="1">
                <a:solidFill>
                  <a:schemeClr val="tx1"/>
                </a:solidFill>
                <a:effectLst/>
                <a:latin typeface="+mn-lt"/>
              </a:rPr>
              <a:t>memory.recordTurn</a:t>
            </a:r>
            <a:r>
              <a:rPr lang="en-IN" sz="1800" b="0" i="0" dirty="0">
                <a:solidFill>
                  <a:schemeClr val="tx1"/>
                </a:solidFill>
                <a:effectLst/>
                <a:latin typeface="+mn-lt"/>
              </a:rPr>
              <a:t>.</a:t>
            </a:r>
          </a:p>
          <a:p>
            <a:pPr marL="342900" lvl="0" indent="-342900" algn="l">
              <a:buFont typeface="+mj-lt"/>
              <a:buAutoNum type="arabicPeriod"/>
            </a:pPr>
            <a:r>
              <a:rPr lang="en-IN" sz="1800" b="0" i="0" dirty="0">
                <a:solidFill>
                  <a:schemeClr val="tx1"/>
                </a:solidFill>
                <a:effectLst/>
                <a:latin typeface="+mn-lt"/>
              </a:rPr>
              <a:t>Response payload is returned to the route handler and sent back over HTTP:</a:t>
            </a:r>
          </a:p>
          <a:p>
            <a:pPr marL="342900" lvl="0" indent="-342900" algn="l">
              <a:buFont typeface="+mj-lt"/>
              <a:buAutoNum type="arabicPeriod"/>
            </a:pPr>
            <a:endParaRPr lang="en-IN" dirty="0"/>
          </a:p>
          <a:p>
            <a:pPr marL="342900" lvl="0" indent="-342900" algn="l">
              <a:buFont typeface="+mj-lt"/>
              <a:buAutoNum type="arabicPeriod"/>
            </a:pPr>
            <a:endParaRPr lang="en-IN" sz="1800" b="0" i="0" dirty="0">
              <a:solidFill>
                <a:schemeClr val="tx1"/>
              </a:solidFill>
              <a:effectLst/>
              <a:latin typeface="+mn-lt"/>
            </a:endParaRPr>
          </a:p>
          <a:p>
            <a:pPr marL="0" marR="0" indent="0" algn="l">
              <a:buNone/>
            </a:pPr>
            <a:r>
              <a:rPr lang="en-IN" dirty="0"/>
              <a:t>Output: </a:t>
            </a:r>
          </a:p>
          <a:p>
            <a:pPr marL="0" marR="0" indent="0" algn="l">
              <a:buNone/>
            </a:pPr>
            <a:endParaRPr lang="en-IN" sz="1800" b="0" i="0" dirty="0">
              <a:solidFill>
                <a:schemeClr val="tx1"/>
              </a:solidFill>
              <a:effectLst/>
              <a:latin typeface="+mn-lt"/>
            </a:endParaRPr>
          </a:p>
          <a:p>
            <a:pPr marL="0" marR="0" indent="0" algn="l">
              <a:buNone/>
            </a:pPr>
            <a:r>
              <a:rPr lang="en-IN" sz="1800" b="0" i="0" dirty="0">
                <a:solidFill>
                  <a:schemeClr val="tx1"/>
                </a:solidFill>
                <a:effectLst/>
                <a:latin typeface="+mn-lt"/>
              </a:rPr>
              <a:t>{</a:t>
            </a:r>
          </a:p>
          <a:p>
            <a:pPr marL="0" marR="0" indent="0" algn="l">
              <a:buNone/>
            </a:pPr>
            <a:r>
              <a:rPr lang="en-IN" sz="1800" b="0" i="0" dirty="0">
                <a:solidFill>
                  <a:schemeClr val="tx1"/>
                </a:solidFill>
                <a:effectLst/>
                <a:latin typeface="+mn-lt"/>
              </a:rPr>
              <a:t>  "message": "who is the owner of project gamma",</a:t>
            </a:r>
          </a:p>
          <a:p>
            <a:pPr marL="0" marR="0" indent="0" algn="l">
              <a:buNone/>
            </a:pPr>
            <a:r>
              <a:rPr lang="en-IN" sz="1800" b="0" i="0" dirty="0">
                <a:solidFill>
                  <a:schemeClr val="tx1"/>
                </a:solidFill>
                <a:effectLst/>
                <a:latin typeface="+mn-lt"/>
              </a:rPr>
              <a:t>  "</a:t>
            </a:r>
            <a:r>
              <a:rPr lang="en-IN" sz="1800" b="0" i="0" dirty="0" err="1">
                <a:solidFill>
                  <a:schemeClr val="tx1"/>
                </a:solidFill>
                <a:effectLst/>
                <a:latin typeface="+mn-lt"/>
              </a:rPr>
              <a:t>finalAnswer</a:t>
            </a:r>
            <a:r>
              <a:rPr lang="en-IN" sz="1800" b="0" i="0" dirty="0">
                <a:solidFill>
                  <a:schemeClr val="tx1"/>
                </a:solidFill>
                <a:effectLst/>
                <a:latin typeface="+mn-lt"/>
              </a:rPr>
              <a:t>": "The owner of Project Gamma is Priya Shah.",</a:t>
            </a:r>
          </a:p>
          <a:p>
            <a:pPr marL="0" marR="0" indent="0" algn="l">
              <a:buNone/>
            </a:pPr>
            <a:r>
              <a:rPr lang="en-IN" sz="1800" b="0" i="0" dirty="0">
                <a:solidFill>
                  <a:schemeClr val="tx1"/>
                </a:solidFill>
                <a:effectLst/>
                <a:latin typeface="+mn-lt"/>
              </a:rPr>
              <a:t>  "model": "llama3.2",</a:t>
            </a:r>
          </a:p>
          <a:p>
            <a:pPr marL="0" marR="0" indent="0" algn="l">
              <a:buNone/>
            </a:pPr>
            <a:r>
              <a:rPr lang="en-IN" sz="1800" b="0" i="0" dirty="0">
                <a:solidFill>
                  <a:schemeClr val="tx1"/>
                </a:solidFill>
                <a:effectLst/>
                <a:latin typeface="+mn-lt"/>
              </a:rPr>
              <a:t>  "iterations": 1,</a:t>
            </a:r>
          </a:p>
          <a:p>
            <a:pPr marL="0" marR="0" indent="0" algn="l">
              <a:buNone/>
            </a:pPr>
            <a:r>
              <a:rPr lang="en-IN" sz="1800" b="0" i="0" dirty="0">
                <a:solidFill>
                  <a:schemeClr val="tx1"/>
                </a:solidFill>
                <a:effectLst/>
                <a:latin typeface="+mn-lt"/>
              </a:rPr>
              <a:t>  "log": [ ... ],</a:t>
            </a:r>
          </a:p>
          <a:p>
            <a:pPr marL="0" marR="0" indent="0" algn="l">
              <a:buNone/>
            </a:pPr>
            <a:r>
              <a:rPr lang="en-IN" sz="1800" b="0" i="0" dirty="0">
                <a:solidFill>
                  <a:schemeClr val="tx1"/>
                </a:solidFill>
                <a:effectLst/>
                <a:latin typeface="+mn-lt"/>
              </a:rPr>
              <a:t>  "</a:t>
            </a:r>
            <a:r>
              <a:rPr lang="en-IN" sz="1800" b="0" i="0" dirty="0" err="1">
                <a:solidFill>
                  <a:schemeClr val="tx1"/>
                </a:solidFill>
                <a:effectLst/>
                <a:latin typeface="+mn-lt"/>
              </a:rPr>
              <a:t>executionTrace</a:t>
            </a:r>
            <a:r>
              <a:rPr lang="en-IN" sz="1800" b="0" i="0" dirty="0">
                <a:solidFill>
                  <a:schemeClr val="tx1"/>
                </a:solidFill>
                <a:effectLst/>
                <a:latin typeface="+mn-lt"/>
              </a:rPr>
              <a:t>": [ ... ]</a:t>
            </a:r>
          </a:p>
          <a:p>
            <a:pPr marL="0" marR="0" indent="0" algn="l">
              <a:buNone/>
            </a:pPr>
            <a:r>
              <a:rPr lang="en-IN" sz="1800" b="0" i="0" dirty="0">
                <a:solidFill>
                  <a:schemeClr val="tx1"/>
                </a:solidFill>
                <a:effectLst/>
                <a:latin typeface="+mn-lt"/>
              </a:rPr>
              <a:t>}</a:t>
            </a:r>
            <a:endParaRPr lang="en-IN" sz="976" b="0" i="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3057175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8C00E6-CB46-9A5D-364C-6690EF50C04E}"/>
              </a:ext>
            </a:extLst>
          </p:cNvPr>
          <p:cNvSpPr txBox="1"/>
          <p:nvPr/>
        </p:nvSpPr>
        <p:spPr>
          <a:xfrm>
            <a:off x="556532" y="643467"/>
            <a:ext cx="11210925" cy="744836"/>
          </a:xfrm>
          <a:prstGeom prst="rect">
            <a:avLst/>
          </a:prstGeom>
        </p:spPr>
        <p:txBody>
          <a:bodyPr vert="horz" lIns="91440" tIns="45720" rIns="91440" bIns="45720" rtlCol="0" anchor="ctr">
            <a:normAutofit/>
          </a:bodyPr>
          <a:lstStyle/>
          <a:p>
            <a:pPr marL="0" marR="0" indent="0" algn="ctr">
              <a:lnSpc>
                <a:spcPct val="90000"/>
              </a:lnSpc>
              <a:spcBef>
                <a:spcPct val="0"/>
              </a:spcBef>
              <a:spcAft>
                <a:spcPts val="600"/>
              </a:spcAft>
            </a:pPr>
            <a:r>
              <a:rPr lang="en-US" sz="3200" b="1" i="0" kern="1200">
                <a:solidFill>
                  <a:schemeClr val="bg1"/>
                </a:solidFill>
                <a:effectLst/>
                <a:latin typeface="+mj-lt"/>
                <a:ea typeface="+mj-ea"/>
                <a:cs typeface="+mj-cs"/>
              </a:rPr>
              <a:t>Key Modules Summary</a:t>
            </a:r>
          </a:p>
        </p:txBody>
      </p:sp>
      <p:graphicFrame>
        <p:nvGraphicFramePr>
          <p:cNvPr id="2" name="Table 1">
            <a:extLst>
              <a:ext uri="{FF2B5EF4-FFF2-40B4-BE49-F238E27FC236}">
                <a16:creationId xmlns:a16="http://schemas.microsoft.com/office/drawing/2014/main" id="{6562861A-CA63-989D-DC1A-DAED29E607D5}"/>
              </a:ext>
            </a:extLst>
          </p:cNvPr>
          <p:cNvGraphicFramePr>
            <a:graphicFrameLocks noGrp="1"/>
          </p:cNvGraphicFramePr>
          <p:nvPr>
            <p:extLst>
              <p:ext uri="{D42A27DB-BD31-4B8C-83A1-F6EECF244321}">
                <p14:modId xmlns:p14="http://schemas.microsoft.com/office/powerpoint/2010/main" val="4226653884"/>
              </p:ext>
            </p:extLst>
          </p:nvPr>
        </p:nvGraphicFramePr>
        <p:xfrm>
          <a:off x="1056179" y="1675227"/>
          <a:ext cx="10079644" cy="4394203"/>
        </p:xfrm>
        <a:graphic>
          <a:graphicData uri="http://schemas.openxmlformats.org/drawingml/2006/table">
            <a:tbl>
              <a:tblPr firstRow="1" bandRow="1">
                <a:tableStyleId>{5C22544A-7EE6-4342-B048-85BDC9FD1C3A}</a:tableStyleId>
              </a:tblPr>
              <a:tblGrid>
                <a:gridCol w="3195936">
                  <a:extLst>
                    <a:ext uri="{9D8B030D-6E8A-4147-A177-3AD203B41FA5}">
                      <a16:colId xmlns:a16="http://schemas.microsoft.com/office/drawing/2014/main" val="2927766948"/>
                    </a:ext>
                  </a:extLst>
                </a:gridCol>
                <a:gridCol w="3431980">
                  <a:extLst>
                    <a:ext uri="{9D8B030D-6E8A-4147-A177-3AD203B41FA5}">
                      <a16:colId xmlns:a16="http://schemas.microsoft.com/office/drawing/2014/main" val="1923180624"/>
                    </a:ext>
                  </a:extLst>
                </a:gridCol>
                <a:gridCol w="3451728">
                  <a:extLst>
                    <a:ext uri="{9D8B030D-6E8A-4147-A177-3AD203B41FA5}">
                      <a16:colId xmlns:a16="http://schemas.microsoft.com/office/drawing/2014/main" val="3605803727"/>
                    </a:ext>
                  </a:extLst>
                </a:gridCol>
              </a:tblGrid>
              <a:tr h="396199">
                <a:tc>
                  <a:txBody>
                    <a:bodyPr/>
                    <a:lstStyle/>
                    <a:p>
                      <a:pPr indent="0" algn="l">
                        <a:buNone/>
                      </a:pPr>
                      <a:r>
                        <a:rPr lang="en-IN" sz="1800">
                          <a:effectLst/>
                        </a:rPr>
                        <a:t>Module</a:t>
                      </a:r>
                      <a:endParaRPr lang="en-IN" sz="1800" b="0">
                        <a:effectLst/>
                      </a:endParaRPr>
                    </a:p>
                  </a:txBody>
                  <a:tcPr marL="90045" marR="90045" marT="45023" marB="45023" anchor="ctr"/>
                </a:tc>
                <a:tc>
                  <a:txBody>
                    <a:bodyPr/>
                    <a:lstStyle/>
                    <a:p>
                      <a:pPr indent="0" algn="l">
                        <a:buNone/>
                      </a:pPr>
                      <a:r>
                        <a:rPr lang="en-IN" sz="1800">
                          <a:effectLst/>
                        </a:rPr>
                        <a:t>Location</a:t>
                      </a:r>
                      <a:endParaRPr lang="en-IN" sz="1800" b="0">
                        <a:effectLst/>
                      </a:endParaRPr>
                    </a:p>
                  </a:txBody>
                  <a:tcPr marL="90045" marR="90045" marT="45023" marB="45023" anchor="ctr"/>
                </a:tc>
                <a:tc>
                  <a:txBody>
                    <a:bodyPr/>
                    <a:lstStyle/>
                    <a:p>
                      <a:pPr indent="0" algn="l">
                        <a:buNone/>
                      </a:pPr>
                      <a:r>
                        <a:rPr lang="en-IN" sz="1800">
                          <a:effectLst/>
                        </a:rPr>
                        <a:t>Responsibility</a:t>
                      </a:r>
                      <a:endParaRPr lang="en-IN" sz="1800" b="0">
                        <a:effectLst/>
                      </a:endParaRPr>
                    </a:p>
                  </a:txBody>
                  <a:tcPr marL="90045" marR="90045" marT="45023" marB="45023" anchor="ctr"/>
                </a:tc>
                <a:extLst>
                  <a:ext uri="{0D108BD9-81ED-4DB2-BD59-A6C34878D82A}">
                    <a16:rowId xmlns:a16="http://schemas.microsoft.com/office/drawing/2014/main" val="1772008620"/>
                  </a:ext>
                </a:extLst>
              </a:tr>
              <a:tr h="666334">
                <a:tc>
                  <a:txBody>
                    <a:bodyPr/>
                    <a:lstStyle/>
                    <a:p>
                      <a:pPr indent="0">
                        <a:buNone/>
                      </a:pPr>
                      <a:r>
                        <a:rPr lang="en-IN" sz="1800">
                          <a:effectLst/>
                        </a:rPr>
                        <a:t>Express Entry</a:t>
                      </a:r>
                    </a:p>
                  </a:txBody>
                  <a:tcPr marL="90045" marR="90045" marT="45023" marB="45023" anchor="ctr"/>
                </a:tc>
                <a:tc>
                  <a:txBody>
                    <a:bodyPr/>
                    <a:lstStyle/>
                    <a:p>
                      <a:pPr indent="0">
                        <a:buNone/>
                      </a:pPr>
                      <a:r>
                        <a:rPr lang="en-IN" sz="1800">
                          <a:effectLst/>
                        </a:rPr>
                        <a:t>src/app.js</a:t>
                      </a:r>
                    </a:p>
                  </a:txBody>
                  <a:tcPr marL="90045" marR="90045" marT="45023" marB="45023" anchor="ctr"/>
                </a:tc>
                <a:tc>
                  <a:txBody>
                    <a:bodyPr/>
                    <a:lstStyle/>
                    <a:p>
                      <a:pPr indent="0">
                        <a:buNone/>
                      </a:pPr>
                      <a:r>
                        <a:rPr lang="en-IN" sz="1800">
                          <a:effectLst/>
                        </a:rPr>
                        <a:t>Server configuration, HTTP listening, JSON parsing</a:t>
                      </a:r>
                    </a:p>
                  </a:txBody>
                  <a:tcPr marL="90045" marR="90045" marT="45023" marB="45023" anchor="ctr"/>
                </a:tc>
                <a:extLst>
                  <a:ext uri="{0D108BD9-81ED-4DB2-BD59-A6C34878D82A}">
                    <a16:rowId xmlns:a16="http://schemas.microsoft.com/office/drawing/2014/main" val="4089513798"/>
                  </a:ext>
                </a:extLst>
              </a:tr>
              <a:tr h="666334">
                <a:tc>
                  <a:txBody>
                    <a:bodyPr/>
                    <a:lstStyle/>
                    <a:p>
                      <a:pPr indent="0">
                        <a:buNone/>
                      </a:pPr>
                      <a:r>
                        <a:rPr lang="en-IN" sz="1800">
                          <a:effectLst/>
                        </a:rPr>
                        <a:t>Agent Router</a:t>
                      </a:r>
                    </a:p>
                  </a:txBody>
                  <a:tcPr marL="90045" marR="90045" marT="45023" marB="45023" anchor="ctr"/>
                </a:tc>
                <a:tc>
                  <a:txBody>
                    <a:bodyPr/>
                    <a:lstStyle/>
                    <a:p>
                      <a:pPr indent="0">
                        <a:buNone/>
                      </a:pPr>
                      <a:r>
                        <a:rPr lang="en-IN" sz="1800">
                          <a:effectLst/>
                        </a:rPr>
                        <a:t>src/routes/agent.js</a:t>
                      </a:r>
                    </a:p>
                  </a:txBody>
                  <a:tcPr marL="90045" marR="90045" marT="45023" marB="45023" anchor="ctr"/>
                </a:tc>
                <a:tc>
                  <a:txBody>
                    <a:bodyPr/>
                    <a:lstStyle/>
                    <a:p>
                      <a:pPr indent="0">
                        <a:buNone/>
                      </a:pPr>
                      <a:r>
                        <a:rPr lang="en-IN" sz="1800">
                          <a:effectLst/>
                        </a:rPr>
                        <a:t>Validates payload, invokes orchestrator, returns JSON</a:t>
                      </a:r>
                    </a:p>
                  </a:txBody>
                  <a:tcPr marL="90045" marR="90045" marT="45023" marB="45023" anchor="ctr"/>
                </a:tc>
                <a:extLst>
                  <a:ext uri="{0D108BD9-81ED-4DB2-BD59-A6C34878D82A}">
                    <a16:rowId xmlns:a16="http://schemas.microsoft.com/office/drawing/2014/main" val="188400558"/>
                  </a:ext>
                </a:extLst>
              </a:tr>
              <a:tr h="666334">
                <a:tc>
                  <a:txBody>
                    <a:bodyPr/>
                    <a:lstStyle/>
                    <a:p>
                      <a:pPr indent="0">
                        <a:buNone/>
                      </a:pPr>
                      <a:r>
                        <a:rPr lang="en-IN" sz="1800">
                          <a:effectLst/>
                        </a:rPr>
                        <a:t>Agent Engine</a:t>
                      </a:r>
                    </a:p>
                  </a:txBody>
                  <a:tcPr marL="90045" marR="90045" marT="45023" marB="45023" anchor="ctr"/>
                </a:tc>
                <a:tc>
                  <a:txBody>
                    <a:bodyPr/>
                    <a:lstStyle/>
                    <a:p>
                      <a:pPr indent="0">
                        <a:buNone/>
                      </a:pPr>
                      <a:r>
                        <a:rPr lang="en-IN" sz="1800">
                          <a:effectLst/>
                        </a:rPr>
                        <a:t>src/agent.js</a:t>
                      </a:r>
                    </a:p>
                  </a:txBody>
                  <a:tcPr marL="90045" marR="90045" marT="45023" marB="45023" anchor="ctr"/>
                </a:tc>
                <a:tc>
                  <a:txBody>
                    <a:bodyPr/>
                    <a:lstStyle/>
                    <a:p>
                      <a:pPr indent="0">
                        <a:buNone/>
                      </a:pPr>
                      <a:r>
                        <a:rPr lang="en-IN" sz="1800" dirty="0">
                          <a:effectLst/>
                        </a:rPr>
                        <a:t>Re-Act loop, model adapters (</a:t>
                      </a:r>
                      <a:r>
                        <a:rPr lang="en-IN" sz="1800" dirty="0" err="1">
                          <a:effectLst/>
                        </a:rPr>
                        <a:t>Ollama</a:t>
                      </a:r>
                      <a:r>
                        <a:rPr lang="en-IN" sz="1800" dirty="0">
                          <a:effectLst/>
                        </a:rPr>
                        <a:t>/Gemini), fast-paths</a:t>
                      </a:r>
                    </a:p>
                  </a:txBody>
                  <a:tcPr marL="90045" marR="90045" marT="45023" marB="45023" anchor="ctr"/>
                </a:tc>
                <a:extLst>
                  <a:ext uri="{0D108BD9-81ED-4DB2-BD59-A6C34878D82A}">
                    <a16:rowId xmlns:a16="http://schemas.microsoft.com/office/drawing/2014/main" val="796357909"/>
                  </a:ext>
                </a:extLst>
              </a:tr>
              <a:tr h="666334">
                <a:tc>
                  <a:txBody>
                    <a:bodyPr/>
                    <a:lstStyle/>
                    <a:p>
                      <a:pPr indent="0">
                        <a:buNone/>
                      </a:pPr>
                      <a:r>
                        <a:rPr lang="en-IN" sz="1800">
                          <a:effectLst/>
                        </a:rPr>
                        <a:t>Memory Manager</a:t>
                      </a:r>
                    </a:p>
                  </a:txBody>
                  <a:tcPr marL="90045" marR="90045" marT="45023" marB="45023" anchor="ctr"/>
                </a:tc>
                <a:tc>
                  <a:txBody>
                    <a:bodyPr/>
                    <a:lstStyle/>
                    <a:p>
                      <a:pPr indent="0">
                        <a:buNone/>
                      </a:pPr>
                      <a:r>
                        <a:rPr lang="en-IN" sz="1800" dirty="0" err="1">
                          <a:effectLst/>
                        </a:rPr>
                        <a:t>src</a:t>
                      </a:r>
                      <a:r>
                        <a:rPr lang="en-IN" sz="1800" dirty="0">
                          <a:effectLst/>
                        </a:rPr>
                        <a:t>/memory.js</a:t>
                      </a:r>
                    </a:p>
                    <a:p>
                      <a:pPr indent="0">
                        <a:buNone/>
                      </a:pPr>
                      <a:r>
                        <a:rPr lang="en-IN" sz="1800" dirty="0">
                          <a:effectLst/>
                        </a:rPr>
                        <a:t>(data/</a:t>
                      </a:r>
                      <a:r>
                        <a:rPr lang="en-IN" sz="1800" dirty="0" err="1">
                          <a:effectLst/>
                        </a:rPr>
                        <a:t>memory.json</a:t>
                      </a:r>
                      <a:r>
                        <a:rPr lang="en-IN" sz="1800" dirty="0">
                          <a:effectLst/>
                        </a:rPr>
                        <a:t>)</a:t>
                      </a:r>
                    </a:p>
                  </a:txBody>
                  <a:tcPr marL="90045" marR="90045" marT="45023" marB="45023" anchor="ctr"/>
                </a:tc>
                <a:tc>
                  <a:txBody>
                    <a:bodyPr/>
                    <a:lstStyle/>
                    <a:p>
                      <a:pPr indent="0">
                        <a:buNone/>
                      </a:pPr>
                      <a:r>
                        <a:rPr lang="en-IN" sz="1800">
                          <a:effectLst/>
                        </a:rPr>
                        <a:t>Long-term disk persistence &amp; short-term in-memory history</a:t>
                      </a:r>
                    </a:p>
                  </a:txBody>
                  <a:tcPr marL="90045" marR="90045" marT="45023" marB="45023" anchor="ctr"/>
                </a:tc>
                <a:extLst>
                  <a:ext uri="{0D108BD9-81ED-4DB2-BD59-A6C34878D82A}">
                    <a16:rowId xmlns:a16="http://schemas.microsoft.com/office/drawing/2014/main" val="4187675616"/>
                  </a:ext>
                </a:extLst>
              </a:tr>
              <a:tr h="666334">
                <a:tc>
                  <a:txBody>
                    <a:bodyPr/>
                    <a:lstStyle/>
                    <a:p>
                      <a:pPr indent="0">
                        <a:buNone/>
                      </a:pPr>
                      <a:r>
                        <a:rPr lang="en-IN" sz="1800">
                          <a:effectLst/>
                        </a:rPr>
                        <a:t>Tool Definitions</a:t>
                      </a:r>
                    </a:p>
                  </a:txBody>
                  <a:tcPr marL="90045" marR="90045" marT="45023" marB="45023" anchor="ctr"/>
                </a:tc>
                <a:tc>
                  <a:txBody>
                    <a:bodyPr/>
                    <a:lstStyle/>
                    <a:p>
                      <a:pPr indent="0">
                        <a:buNone/>
                      </a:pPr>
                      <a:r>
                        <a:rPr lang="en-IN" sz="1800">
                          <a:effectLst/>
                        </a:rPr>
                        <a:t>src/tools.js</a:t>
                      </a:r>
                    </a:p>
                  </a:txBody>
                  <a:tcPr marL="90045" marR="90045" marT="45023" marB="45023" anchor="ctr"/>
                </a:tc>
                <a:tc>
                  <a:txBody>
                    <a:bodyPr/>
                    <a:lstStyle/>
                    <a:p>
                      <a:pPr indent="0">
                        <a:buNone/>
                      </a:pPr>
                      <a:r>
                        <a:rPr lang="en-IN" sz="1800">
                          <a:effectLst/>
                        </a:rPr>
                        <a:t>OpenAPI schemas defining tool parameters for LLM</a:t>
                      </a:r>
                    </a:p>
                  </a:txBody>
                  <a:tcPr marL="90045" marR="90045" marT="45023" marB="45023" anchor="ctr"/>
                </a:tc>
                <a:extLst>
                  <a:ext uri="{0D108BD9-81ED-4DB2-BD59-A6C34878D82A}">
                    <a16:rowId xmlns:a16="http://schemas.microsoft.com/office/drawing/2014/main" val="3588582822"/>
                  </a:ext>
                </a:extLst>
              </a:tr>
              <a:tr h="666334">
                <a:tc>
                  <a:txBody>
                    <a:bodyPr/>
                    <a:lstStyle/>
                    <a:p>
                      <a:pPr indent="0">
                        <a:buNone/>
                      </a:pPr>
                      <a:r>
                        <a:rPr lang="en-IN" sz="1800">
                          <a:effectLst/>
                        </a:rPr>
                        <a:t>Tool Execution</a:t>
                      </a:r>
                    </a:p>
                  </a:txBody>
                  <a:tcPr marL="90045" marR="90045" marT="45023" marB="45023" anchor="ctr"/>
                </a:tc>
                <a:tc>
                  <a:txBody>
                    <a:bodyPr/>
                    <a:lstStyle/>
                    <a:p>
                      <a:pPr indent="0">
                        <a:buNone/>
                      </a:pPr>
                      <a:r>
                        <a:rPr lang="en-IN" sz="1800">
                          <a:effectLst/>
                        </a:rPr>
                        <a:t>src/toolImpl.js</a:t>
                      </a:r>
                    </a:p>
                  </a:txBody>
                  <a:tcPr marL="90045" marR="90045" marT="45023" marB="45023" anchor="ctr"/>
                </a:tc>
                <a:tc>
                  <a:txBody>
                    <a:bodyPr/>
                    <a:lstStyle/>
                    <a:p>
                      <a:pPr indent="0">
                        <a:buNone/>
                      </a:pPr>
                      <a:r>
                        <a:rPr lang="en-IN" sz="1800" dirty="0">
                          <a:effectLst/>
                        </a:rPr>
                        <a:t>Data access functions against </a:t>
                      </a:r>
                    </a:p>
                    <a:p>
                      <a:pPr indent="0">
                        <a:buNone/>
                      </a:pPr>
                      <a:r>
                        <a:rPr lang="en-IN" sz="1800" dirty="0">
                          <a:effectLst/>
                        </a:rPr>
                        <a:t>data/pm-</a:t>
                      </a:r>
                      <a:r>
                        <a:rPr lang="en-IN" sz="1800" dirty="0" err="1">
                          <a:effectLst/>
                        </a:rPr>
                        <a:t>data.json</a:t>
                      </a:r>
                      <a:endParaRPr lang="en-IN" sz="1800" dirty="0">
                        <a:effectLst/>
                      </a:endParaRPr>
                    </a:p>
                  </a:txBody>
                  <a:tcPr marL="90045" marR="90045" marT="45023" marB="45023" anchor="ctr"/>
                </a:tc>
                <a:extLst>
                  <a:ext uri="{0D108BD9-81ED-4DB2-BD59-A6C34878D82A}">
                    <a16:rowId xmlns:a16="http://schemas.microsoft.com/office/drawing/2014/main" val="2940751013"/>
                  </a:ext>
                </a:extLst>
              </a:tr>
            </a:tbl>
          </a:graphicData>
        </a:graphic>
      </p:graphicFrame>
    </p:spTree>
    <p:extLst>
      <p:ext uri="{BB962C8B-B14F-4D97-AF65-F5344CB8AC3E}">
        <p14:creationId xmlns:p14="http://schemas.microsoft.com/office/powerpoint/2010/main" val="3460651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4ABDB-5310-A34B-6172-D4489141F50C}"/>
              </a:ext>
            </a:extLst>
          </p:cNvPr>
          <p:cNvSpPr txBox="1"/>
          <p:nvPr/>
        </p:nvSpPr>
        <p:spPr>
          <a:xfrm>
            <a:off x="434502" y="223736"/>
            <a:ext cx="11322995" cy="5601533"/>
          </a:xfrm>
          <a:prstGeom prst="rect">
            <a:avLst/>
          </a:prstGeom>
          <a:noFill/>
        </p:spPr>
        <p:txBody>
          <a:bodyPr wrap="square" rtlCol="0">
            <a:spAutoFit/>
          </a:bodyPr>
          <a:lstStyle/>
          <a:p>
            <a:r>
              <a:rPr lang="en-IN" dirty="0"/>
              <a:t>Tech Stack Breakdown</a:t>
            </a:r>
          </a:p>
          <a:p>
            <a:endParaRPr lang="en-IN" dirty="0"/>
          </a:p>
          <a:p>
            <a:r>
              <a:rPr lang="en-IN" b="1" dirty="0"/>
              <a:t>1. Core Server &amp; Runtime</a:t>
            </a:r>
          </a:p>
          <a:p>
            <a:pPr lvl="0"/>
            <a:r>
              <a:rPr lang="en-IN" b="1" dirty="0"/>
              <a:t>Node.js</a:t>
            </a:r>
            <a:r>
              <a:rPr lang="en-IN" dirty="0"/>
              <a:t>: JavaScript runtime environment using </a:t>
            </a:r>
            <a:r>
              <a:rPr lang="en-IN" dirty="0" err="1"/>
              <a:t>CommonJS</a:t>
            </a:r>
            <a:r>
              <a:rPr lang="en-IN" dirty="0"/>
              <a:t> modules.</a:t>
            </a:r>
          </a:p>
          <a:p>
            <a:pPr lvl="0"/>
            <a:r>
              <a:rPr lang="en-IN" b="1" dirty="0"/>
              <a:t>Express.js</a:t>
            </a:r>
            <a:r>
              <a:rPr lang="en-IN" dirty="0"/>
              <a:t> (^4.19.2): Web framework hosting the REST API server (POST /agent).</a:t>
            </a:r>
          </a:p>
          <a:p>
            <a:pPr lvl="0"/>
            <a:endParaRPr lang="en-IN" dirty="0"/>
          </a:p>
          <a:p>
            <a:r>
              <a:rPr lang="en-IN" b="1" dirty="0"/>
              <a:t>2. AI Engine &amp; LLM Integrations</a:t>
            </a:r>
          </a:p>
          <a:p>
            <a:pPr lvl="0"/>
            <a:r>
              <a:rPr lang="en-IN" b="1" dirty="0" err="1"/>
              <a:t>Ollama</a:t>
            </a:r>
            <a:r>
              <a:rPr lang="en-IN" b="1" dirty="0"/>
              <a:t> API</a:t>
            </a:r>
            <a:r>
              <a:rPr lang="en-IN" dirty="0"/>
              <a:t> (http://127.0.0.1:11434): Local LLM runtime supporting models like llama3.2 and qwen3:4b via native tool-calling JSON payloads.</a:t>
            </a:r>
          </a:p>
          <a:p>
            <a:pPr lvl="0"/>
            <a:r>
              <a:rPr lang="en-IN" b="1" dirty="0"/>
              <a:t>Google Gemini API</a:t>
            </a:r>
            <a:r>
              <a:rPr lang="en-IN" dirty="0"/>
              <a:t> (v1beta REST API): Cloud LLM provider supporting models like gemini-3.5-flash-lite.</a:t>
            </a:r>
          </a:p>
          <a:p>
            <a:pPr lvl="0"/>
            <a:r>
              <a:rPr lang="en-IN" b="1" dirty="0"/>
              <a:t>Axios</a:t>
            </a:r>
            <a:r>
              <a:rPr lang="en-IN" dirty="0"/>
              <a:t> (^1.7.7): HTTP client for making API requests to local </a:t>
            </a:r>
            <a:r>
              <a:rPr lang="en-IN" dirty="0" err="1"/>
              <a:t>Ollama</a:t>
            </a:r>
            <a:r>
              <a:rPr lang="en-IN" dirty="0"/>
              <a:t> and Google Gemini endpoints.</a:t>
            </a:r>
          </a:p>
          <a:p>
            <a:r>
              <a:rPr lang="en-IN" b="1" dirty="0">
                <a:solidFill>
                  <a:srgbClr val="0F172A"/>
                </a:solidFill>
              </a:rPr>
              <a:t>Cross-Provider Adapter: </a:t>
            </a:r>
            <a:r>
              <a:rPr lang="en-IN" dirty="0"/>
              <a:t>Normalizes Gemini function calling schemas to standard OpenAI/</a:t>
            </a:r>
            <a:r>
              <a:rPr lang="en-IN" dirty="0" err="1"/>
              <a:t>Ollama</a:t>
            </a:r>
            <a:r>
              <a:rPr lang="en-IN" dirty="0"/>
              <a:t> message format.</a:t>
            </a:r>
          </a:p>
          <a:p>
            <a:pPr lvl="0"/>
            <a:endParaRPr lang="en-IN" b="1" dirty="0"/>
          </a:p>
          <a:p>
            <a:r>
              <a:rPr lang="en-IN" b="1" dirty="0"/>
              <a:t>3. Data &amp; Persistence Layer</a:t>
            </a:r>
          </a:p>
          <a:p>
            <a:pPr lvl="0"/>
            <a:r>
              <a:rPr lang="en-IN" b="1" dirty="0"/>
              <a:t>JSON File Storage</a:t>
            </a:r>
            <a:r>
              <a:rPr lang="en-IN" dirty="0"/>
              <a:t>: Lightweight, file-backed database storage with atomic write protection:</a:t>
            </a:r>
          </a:p>
          <a:p>
            <a:pPr lvl="0"/>
            <a:endParaRPr lang="en-IN" dirty="0"/>
          </a:p>
          <a:p>
            <a:pPr lvl="1"/>
            <a:r>
              <a:rPr lang="en-IN" dirty="0"/>
              <a:t>data/pm-</a:t>
            </a:r>
            <a:r>
              <a:rPr lang="en-IN" dirty="0" err="1"/>
              <a:t>data.json</a:t>
            </a:r>
            <a:r>
              <a:rPr lang="en-IN" dirty="0"/>
              <a:t>: Application dataset (Employees, Projects, Tasks, Project Updates).</a:t>
            </a:r>
          </a:p>
          <a:p>
            <a:pPr lvl="1"/>
            <a:r>
              <a:rPr lang="en-IN" dirty="0"/>
              <a:t>data/</a:t>
            </a:r>
            <a:r>
              <a:rPr lang="en-IN" dirty="0" err="1"/>
              <a:t>memory.json</a:t>
            </a:r>
            <a:r>
              <a:rPr lang="en-IN" dirty="0"/>
              <a:t>: User-isolated long-term memory store (Preferences, Facts, Ownerships).</a:t>
            </a:r>
          </a:p>
          <a:p>
            <a:pPr lvl="1"/>
            <a:endParaRPr lang="en-IN" sz="1600" dirty="0"/>
          </a:p>
        </p:txBody>
      </p:sp>
    </p:spTree>
    <p:extLst>
      <p:ext uri="{BB962C8B-B14F-4D97-AF65-F5344CB8AC3E}">
        <p14:creationId xmlns:p14="http://schemas.microsoft.com/office/powerpoint/2010/main" val="2953384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5A419D-5AE7-5225-441A-82B022F40ADA}"/>
              </a:ext>
            </a:extLst>
          </p:cNvPr>
          <p:cNvSpPr txBox="1"/>
          <p:nvPr/>
        </p:nvSpPr>
        <p:spPr>
          <a:xfrm>
            <a:off x="196984" y="141210"/>
            <a:ext cx="6094378" cy="369332"/>
          </a:xfrm>
          <a:prstGeom prst="rect">
            <a:avLst/>
          </a:prstGeom>
          <a:noFill/>
        </p:spPr>
        <p:txBody>
          <a:bodyPr wrap="square">
            <a:spAutoFit/>
          </a:bodyPr>
          <a:lstStyle/>
          <a:p>
            <a:r>
              <a:rPr lang="en-IN" sz="1800" dirty="0"/>
              <a:t>Major Features &amp; The 18-Tool/function call explanation</a:t>
            </a:r>
            <a:endParaRPr lang="en-IN" dirty="0"/>
          </a:p>
        </p:txBody>
      </p:sp>
      <p:sp>
        <p:nvSpPr>
          <p:cNvPr id="4" name="TextBox 3">
            <a:extLst>
              <a:ext uri="{FF2B5EF4-FFF2-40B4-BE49-F238E27FC236}">
                <a16:creationId xmlns:a16="http://schemas.microsoft.com/office/drawing/2014/main" id="{2AAAF8C1-5F7F-0516-C1F1-BFC8F8C27579}"/>
              </a:ext>
            </a:extLst>
          </p:cNvPr>
          <p:cNvSpPr txBox="1"/>
          <p:nvPr/>
        </p:nvSpPr>
        <p:spPr>
          <a:xfrm>
            <a:off x="321012" y="749029"/>
            <a:ext cx="11108987" cy="5078313"/>
          </a:xfrm>
          <a:prstGeom prst="rect">
            <a:avLst/>
          </a:prstGeom>
          <a:noFill/>
        </p:spPr>
        <p:txBody>
          <a:bodyPr wrap="square" rtlCol="0">
            <a:spAutoFit/>
          </a:bodyPr>
          <a:lstStyle/>
          <a:p>
            <a:r>
              <a:rPr lang="en-IN" b="1" dirty="0"/>
              <a:t>breakdown of the 18 tools in the project:</a:t>
            </a:r>
          </a:p>
          <a:p>
            <a:endParaRPr lang="en-IN" dirty="0"/>
          </a:p>
          <a:p>
            <a:r>
              <a:rPr lang="en-IN" dirty="0"/>
              <a:t>Planning Tools</a:t>
            </a:r>
          </a:p>
          <a:p>
            <a:pPr lvl="0"/>
            <a:r>
              <a:rPr lang="en-IN" b="1" dirty="0"/>
              <a:t>1. </a:t>
            </a:r>
            <a:r>
              <a:rPr lang="en-IN" b="1" dirty="0" err="1"/>
              <a:t>create_plan</a:t>
            </a:r>
            <a:r>
              <a:rPr lang="en-IN" dirty="0"/>
              <a:t>: Sets up a step-by-step execution plan with dependencies before starting a complex multi-project lookup.</a:t>
            </a:r>
          </a:p>
          <a:p>
            <a:pPr lvl="0"/>
            <a:r>
              <a:rPr lang="en-IN" b="1" dirty="0"/>
              <a:t>2. replan</a:t>
            </a:r>
            <a:r>
              <a:rPr lang="en-IN" dirty="0"/>
              <a:t>: Rewrites the plan if a tool fails, data is missing, or contradictory evidence is found.</a:t>
            </a:r>
          </a:p>
          <a:p>
            <a:pPr lvl="0"/>
            <a:endParaRPr lang="en-IN" dirty="0"/>
          </a:p>
          <a:p>
            <a:r>
              <a:rPr lang="en-IN" dirty="0"/>
              <a:t>Employee &amp; Project Discovery</a:t>
            </a:r>
          </a:p>
          <a:p>
            <a:pPr lvl="0"/>
            <a:r>
              <a:rPr lang="en-IN" b="1" dirty="0"/>
              <a:t>3. </a:t>
            </a:r>
            <a:r>
              <a:rPr lang="en-IN" b="1" dirty="0" err="1"/>
              <a:t>get_employee</a:t>
            </a:r>
            <a:r>
              <a:rPr lang="en-IN" dirty="0"/>
              <a:t>: Looks up an employee by ID or partial name (or lists everyone if no query is given).</a:t>
            </a:r>
          </a:p>
          <a:p>
            <a:pPr lvl="0"/>
            <a:r>
              <a:rPr lang="en-IN" b="1" dirty="0"/>
              <a:t>4. </a:t>
            </a:r>
            <a:r>
              <a:rPr lang="en-IN" b="1" dirty="0" err="1"/>
              <a:t>get_project</a:t>
            </a:r>
            <a:r>
              <a:rPr lang="en-IN" dirty="0"/>
              <a:t>: Fetches details for a single project by name or ID.</a:t>
            </a:r>
          </a:p>
          <a:p>
            <a:pPr lvl="0"/>
            <a:r>
              <a:rPr lang="en-IN" b="1" dirty="0"/>
              <a:t>5. </a:t>
            </a:r>
            <a:r>
              <a:rPr lang="en-IN" b="1" dirty="0" err="1"/>
              <a:t>get_projects</a:t>
            </a:r>
            <a:r>
              <a:rPr lang="en-IN" dirty="0"/>
              <a:t>: Lists projects filtered by owner, status, or name.</a:t>
            </a:r>
          </a:p>
          <a:p>
            <a:pPr lvl="0"/>
            <a:endParaRPr lang="en-IN" dirty="0"/>
          </a:p>
          <a:p>
            <a:r>
              <a:rPr lang="en-IN" dirty="0"/>
              <a:t>Task Management</a:t>
            </a:r>
          </a:p>
          <a:p>
            <a:pPr lvl="0"/>
            <a:r>
              <a:rPr lang="en-IN" b="1" dirty="0"/>
              <a:t>6. </a:t>
            </a:r>
            <a:r>
              <a:rPr lang="en-IN" b="1" dirty="0" err="1"/>
              <a:t>get_tasks</a:t>
            </a:r>
            <a:r>
              <a:rPr lang="en-IN" dirty="0"/>
              <a:t>: Fetches a list of tasks filtered by project, assignee, status, pending work, or overdue state.</a:t>
            </a:r>
          </a:p>
          <a:p>
            <a:pPr lvl="0"/>
            <a:r>
              <a:rPr lang="en-IN" b="1" dirty="0"/>
              <a:t>7. </a:t>
            </a:r>
            <a:r>
              <a:rPr lang="en-IN" b="1" dirty="0" err="1"/>
              <a:t>get_task</a:t>
            </a:r>
            <a:r>
              <a:rPr lang="en-IN" dirty="0"/>
              <a:t>: Pulls details for one specific task using its task ID (e.g. TASK1).</a:t>
            </a:r>
          </a:p>
          <a:p>
            <a:pPr lvl="0"/>
            <a:endParaRPr lang="en-IN" dirty="0"/>
          </a:p>
          <a:p>
            <a:pPr lvl="0"/>
            <a:endParaRPr lang="en-IN" dirty="0"/>
          </a:p>
          <a:p>
            <a:endParaRPr lang="en-IN" dirty="0"/>
          </a:p>
        </p:txBody>
      </p:sp>
    </p:spTree>
    <p:extLst>
      <p:ext uri="{BB962C8B-B14F-4D97-AF65-F5344CB8AC3E}">
        <p14:creationId xmlns:p14="http://schemas.microsoft.com/office/powerpoint/2010/main" val="2710922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615B4F-185E-62BC-0FCF-DC0E5C8DECA8}"/>
              </a:ext>
            </a:extLst>
          </p:cNvPr>
          <p:cNvSpPr txBox="1"/>
          <p:nvPr/>
        </p:nvSpPr>
        <p:spPr>
          <a:xfrm>
            <a:off x="542722" y="352183"/>
            <a:ext cx="11106556" cy="6059479"/>
          </a:xfrm>
          <a:prstGeom prst="rect">
            <a:avLst/>
          </a:prstGeom>
          <a:noFill/>
        </p:spPr>
        <p:txBody>
          <a:bodyPr wrap="square">
            <a:spAutoFit/>
          </a:bodyPr>
          <a:lstStyle/>
          <a:p>
            <a:pPr marL="0" marR="0" indent="0" algn="l">
              <a:buNone/>
            </a:pPr>
            <a:r>
              <a:rPr lang="en-IN" b="0" i="0" dirty="0">
                <a:solidFill>
                  <a:schemeClr val="tx1"/>
                </a:solidFill>
                <a:effectLst/>
                <a:latin typeface="+mn-lt"/>
              </a:rPr>
              <a:t>Metrics &amp; Risk Analysis</a:t>
            </a:r>
          </a:p>
          <a:p>
            <a:pPr marL="342900" lvl="0" indent="-342900" algn="l">
              <a:buFont typeface="+mj-lt"/>
              <a:buAutoNum type="arabicPeriod" startAt="8"/>
            </a:pPr>
            <a:r>
              <a:rPr lang="en-IN" sz="1800" b="1" i="0" dirty="0" err="1">
                <a:solidFill>
                  <a:schemeClr val="tx1"/>
                </a:solidFill>
                <a:effectLst/>
                <a:latin typeface="+mn-lt"/>
              </a:rPr>
              <a:t>calculate_project_metrics</a:t>
            </a:r>
            <a:r>
              <a:rPr lang="en-IN" sz="1800" b="0" i="0" dirty="0">
                <a:solidFill>
                  <a:schemeClr val="tx1"/>
                </a:solidFill>
                <a:effectLst/>
                <a:latin typeface="+mn-lt"/>
              </a:rPr>
              <a:t>: Computes completion percentages, total tasks, and overdue counts for a project.</a:t>
            </a:r>
          </a:p>
          <a:p>
            <a:pPr marL="342900" lvl="0" indent="-342900" algn="l">
              <a:buFont typeface="+mj-lt"/>
              <a:buAutoNum type="arabicPeriod" startAt="8"/>
            </a:pPr>
            <a:r>
              <a:rPr lang="en-IN" sz="1800" b="1" i="0" dirty="0" err="1">
                <a:solidFill>
                  <a:schemeClr val="tx1"/>
                </a:solidFill>
                <a:effectLst/>
                <a:latin typeface="+mn-lt"/>
              </a:rPr>
              <a:t>get_project_metrics</a:t>
            </a:r>
            <a:r>
              <a:rPr lang="en-IN" sz="1800" b="0" i="0" dirty="0">
                <a:solidFill>
                  <a:schemeClr val="tx1"/>
                </a:solidFill>
                <a:effectLst/>
                <a:latin typeface="+mn-lt"/>
              </a:rPr>
              <a:t>: Alias for </a:t>
            </a:r>
            <a:r>
              <a:rPr lang="en-IN" sz="1800" b="0" i="0" dirty="0" err="1">
                <a:solidFill>
                  <a:schemeClr val="tx1"/>
                </a:solidFill>
                <a:effectLst/>
                <a:latin typeface="+mn-lt"/>
              </a:rPr>
              <a:t>calculate_project_metrics</a:t>
            </a:r>
            <a:r>
              <a:rPr lang="en-IN" sz="1800" b="0" i="0" dirty="0">
                <a:solidFill>
                  <a:schemeClr val="tx1"/>
                </a:solidFill>
                <a:effectLst/>
                <a:latin typeface="+mn-lt"/>
              </a:rPr>
              <a:t> to calculate delivery metrics.</a:t>
            </a:r>
          </a:p>
          <a:p>
            <a:pPr marL="342900" lvl="0" indent="-342900" algn="l">
              <a:buFont typeface="+mj-lt"/>
              <a:buAutoNum type="arabicPeriod" startAt="8"/>
            </a:pPr>
            <a:r>
              <a:rPr lang="en-IN" sz="1800" b="1" i="0" dirty="0" err="1">
                <a:solidFill>
                  <a:schemeClr val="tx1"/>
                </a:solidFill>
                <a:effectLst/>
                <a:latin typeface="+mn-lt"/>
              </a:rPr>
              <a:t>get_project_updates</a:t>
            </a:r>
            <a:r>
              <a:rPr lang="en-IN" sz="1800" b="0" i="0" dirty="0">
                <a:solidFill>
                  <a:schemeClr val="tx1"/>
                </a:solidFill>
                <a:effectLst/>
                <a:latin typeface="+mn-lt"/>
              </a:rPr>
              <a:t>: Fetches project update logs and flags stale or conflicting risk reports.</a:t>
            </a:r>
          </a:p>
          <a:p>
            <a:pPr marL="342900" lvl="0" indent="-342900" algn="l">
              <a:buFont typeface="+mj-lt"/>
              <a:buAutoNum type="arabicPeriod" startAt="8"/>
            </a:pPr>
            <a:r>
              <a:rPr lang="en-IN" sz="1800" b="1" i="0" dirty="0" err="1">
                <a:solidFill>
                  <a:schemeClr val="tx1"/>
                </a:solidFill>
                <a:effectLst/>
                <a:latin typeface="+mn-lt"/>
              </a:rPr>
              <a:t>find_project_risks</a:t>
            </a:r>
            <a:r>
              <a:rPr lang="en-IN" sz="1800" b="0" i="0" dirty="0">
                <a:solidFill>
                  <a:schemeClr val="tx1"/>
                </a:solidFill>
                <a:effectLst/>
                <a:latin typeface="+mn-lt"/>
              </a:rPr>
              <a:t>: Scans a project to detect bottlenecks like overdue tasks, blocked items, deadline slip, or assignee overload.</a:t>
            </a:r>
          </a:p>
          <a:p>
            <a:pPr marL="342900" lvl="0" indent="-342900" algn="l">
              <a:buFont typeface="+mj-lt"/>
              <a:buAutoNum type="arabicPeriod" startAt="8"/>
            </a:pPr>
            <a:endParaRPr lang="en-IN" dirty="0"/>
          </a:p>
          <a:p>
            <a:r>
              <a:rPr lang="en-IN" dirty="0"/>
              <a:t>Data Mutations (Require Confirmation)</a:t>
            </a:r>
          </a:p>
          <a:p>
            <a:pPr lvl="0"/>
            <a:r>
              <a:rPr lang="en-IN" b="1" dirty="0" err="1"/>
              <a:t>update_task_status</a:t>
            </a:r>
            <a:r>
              <a:rPr lang="en-IN" dirty="0"/>
              <a:t>: Changes task status (</a:t>
            </a:r>
            <a:r>
              <a:rPr lang="en-IN" dirty="0" err="1"/>
              <a:t>todo</a:t>
            </a:r>
            <a:r>
              <a:rPr lang="en-IN" dirty="0"/>
              <a:t>, </a:t>
            </a:r>
            <a:r>
              <a:rPr lang="en-IN" dirty="0" err="1"/>
              <a:t>in_progress</a:t>
            </a:r>
            <a:r>
              <a:rPr lang="en-IN" dirty="0"/>
              <a:t>, blocked, done).</a:t>
            </a:r>
          </a:p>
          <a:p>
            <a:pPr lvl="0"/>
            <a:r>
              <a:rPr lang="en-IN" b="1" dirty="0" err="1"/>
              <a:t>assign_task</a:t>
            </a:r>
            <a:r>
              <a:rPr lang="en-IN" dirty="0"/>
              <a:t>: Reassigns a task to another employee ID.</a:t>
            </a:r>
          </a:p>
          <a:p>
            <a:pPr lvl="0"/>
            <a:r>
              <a:rPr lang="en-IN" b="1" dirty="0" err="1"/>
              <a:t>update_project_update_risk</a:t>
            </a:r>
            <a:r>
              <a:rPr lang="en-IN" dirty="0"/>
              <a:t>: Updates the risk level (low, medium, high) of an existing update report.</a:t>
            </a:r>
          </a:p>
          <a:p>
            <a:pPr lvl="0"/>
            <a:endParaRPr lang="en-IN" dirty="0"/>
          </a:p>
          <a:p>
            <a:r>
              <a:rPr lang="en-IN" dirty="0"/>
              <a:t>Actionable Advice</a:t>
            </a:r>
          </a:p>
          <a:p>
            <a:pPr lvl="0"/>
            <a:r>
              <a:rPr lang="en-IN" b="1" dirty="0" err="1"/>
              <a:t>create_recommendation</a:t>
            </a:r>
            <a:r>
              <a:rPr lang="en-IN" dirty="0"/>
              <a:t>: Saves a proposed action item based on investigation findings without modifying core data.</a:t>
            </a:r>
          </a:p>
          <a:p>
            <a:pPr lvl="0"/>
            <a:endParaRPr lang="en-IN" dirty="0"/>
          </a:p>
          <a:p>
            <a:r>
              <a:rPr lang="en-IN" dirty="0"/>
              <a:t>Long-Term Memory</a:t>
            </a:r>
          </a:p>
          <a:p>
            <a:pPr lvl="0"/>
            <a:r>
              <a:rPr lang="en-IN" b="1" dirty="0"/>
              <a:t>remember</a:t>
            </a:r>
            <a:r>
              <a:rPr lang="en-IN" dirty="0"/>
              <a:t>: Saves a user preference or fact to </a:t>
            </a:r>
            <a:r>
              <a:rPr lang="en-IN" dirty="0" err="1"/>
              <a:t>memory.json</a:t>
            </a:r>
            <a:r>
              <a:rPr lang="en-IN" dirty="0"/>
              <a:t>.</a:t>
            </a:r>
          </a:p>
          <a:p>
            <a:pPr lvl="0"/>
            <a:r>
              <a:rPr lang="en-IN" b="1" dirty="0"/>
              <a:t>forget</a:t>
            </a:r>
            <a:r>
              <a:rPr lang="en-IN" dirty="0"/>
              <a:t>: Deletes a stored memory key for a user.</a:t>
            </a:r>
          </a:p>
          <a:p>
            <a:pPr lvl="0"/>
            <a:r>
              <a:rPr lang="en-IN" b="1" dirty="0" err="1"/>
              <a:t>search_memory</a:t>
            </a:r>
            <a:r>
              <a:rPr lang="en-IN" dirty="0"/>
              <a:t>: Searches stored long-term memories for the active user.</a:t>
            </a:r>
          </a:p>
          <a:p>
            <a:pPr marL="342900" lvl="0" indent="-342900" algn="l">
              <a:buFont typeface="+mj-lt"/>
              <a:buAutoNum type="arabicPeriod" startAt="8"/>
            </a:pPr>
            <a:endParaRPr lang="en-IN" sz="976" b="0" i="0" dirty="0">
              <a:solidFill>
                <a:srgbClr val="CCCCCC"/>
              </a:solidFill>
              <a:effectLst/>
              <a:latin typeface="Segoe WPC"/>
            </a:endParaRPr>
          </a:p>
        </p:txBody>
      </p:sp>
    </p:spTree>
    <p:extLst>
      <p:ext uri="{BB962C8B-B14F-4D97-AF65-F5344CB8AC3E}">
        <p14:creationId xmlns:p14="http://schemas.microsoft.com/office/powerpoint/2010/main" val="1415803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7AB3C5-15E8-A3EC-37B4-B2E9BF350763}"/>
              </a:ext>
            </a:extLst>
          </p:cNvPr>
          <p:cNvSpPr txBox="1"/>
          <p:nvPr/>
        </p:nvSpPr>
        <p:spPr>
          <a:xfrm>
            <a:off x="410993" y="110434"/>
            <a:ext cx="8830284" cy="430887"/>
          </a:xfrm>
          <a:prstGeom prst="rect">
            <a:avLst/>
          </a:prstGeom>
          <a:noFill/>
        </p:spPr>
        <p:txBody>
          <a:bodyPr wrap="square">
            <a:spAutoFit/>
          </a:bodyPr>
          <a:lstStyle/>
          <a:p>
            <a:pPr>
              <a:defRPr sz="2200" b="1">
                <a:solidFill>
                  <a:srgbClr val="0F172A"/>
                </a:solidFill>
                <a:latin typeface="Arial"/>
              </a:defRPr>
            </a:pPr>
            <a:r>
              <a:rPr lang="en-IN" sz="2200" dirty="0"/>
              <a:t>Context &amp; Memory Implementation</a:t>
            </a:r>
          </a:p>
        </p:txBody>
      </p:sp>
      <p:sp>
        <p:nvSpPr>
          <p:cNvPr id="5" name="TextBox 4">
            <a:extLst>
              <a:ext uri="{FF2B5EF4-FFF2-40B4-BE49-F238E27FC236}">
                <a16:creationId xmlns:a16="http://schemas.microsoft.com/office/drawing/2014/main" id="{812C0DC6-8A40-61B1-599A-E6097007E48E}"/>
              </a:ext>
            </a:extLst>
          </p:cNvPr>
          <p:cNvSpPr txBox="1"/>
          <p:nvPr/>
        </p:nvSpPr>
        <p:spPr>
          <a:xfrm>
            <a:off x="323443" y="808165"/>
            <a:ext cx="11699943" cy="584775"/>
          </a:xfrm>
          <a:prstGeom prst="rect">
            <a:avLst/>
          </a:prstGeom>
          <a:noFill/>
        </p:spPr>
        <p:txBody>
          <a:bodyPr wrap="square">
            <a:spAutoFit/>
          </a:bodyPr>
          <a:lstStyle/>
          <a:p>
            <a:pPr marL="0" marR="0" indent="0" algn="l">
              <a:buNone/>
            </a:pPr>
            <a:r>
              <a:rPr lang="en-IN" sz="1600" b="1" i="0" dirty="0">
                <a:solidFill>
                  <a:schemeClr val="tx1"/>
                </a:solidFill>
                <a:effectLst/>
                <a:latin typeface="+mn-lt"/>
              </a:rPr>
              <a:t>1. Two-Tier Memory System Architecture</a:t>
            </a:r>
          </a:p>
          <a:p>
            <a:pPr marL="0" marR="0" indent="0" algn="l">
              <a:buNone/>
            </a:pPr>
            <a:r>
              <a:rPr lang="en-IN" sz="1600" b="0" i="0" dirty="0">
                <a:solidFill>
                  <a:schemeClr val="tx1"/>
                </a:solidFill>
                <a:effectLst/>
                <a:latin typeface="+mn-lt"/>
              </a:rPr>
              <a:t>The project splits memory into </a:t>
            </a:r>
            <a:r>
              <a:rPr lang="en-IN" sz="1600" b="1" i="0" dirty="0">
                <a:solidFill>
                  <a:schemeClr val="tx1"/>
                </a:solidFill>
                <a:effectLst/>
                <a:latin typeface="+mn-lt"/>
              </a:rPr>
              <a:t>Short-Term Context</a:t>
            </a:r>
            <a:r>
              <a:rPr lang="en-IN" sz="1600" b="0" i="0" dirty="0">
                <a:solidFill>
                  <a:schemeClr val="tx1"/>
                </a:solidFill>
                <a:effectLst/>
                <a:latin typeface="+mn-lt"/>
              </a:rPr>
              <a:t> (conversation history) and </a:t>
            </a:r>
            <a:r>
              <a:rPr lang="en-IN" sz="1600" b="1" i="0" dirty="0">
                <a:solidFill>
                  <a:schemeClr val="tx1"/>
                </a:solidFill>
                <a:effectLst/>
                <a:latin typeface="+mn-lt"/>
              </a:rPr>
              <a:t>Long-Term Context</a:t>
            </a:r>
            <a:r>
              <a:rPr lang="en-IN" sz="1600" b="0" i="0" dirty="0">
                <a:solidFill>
                  <a:schemeClr val="tx1"/>
                </a:solidFill>
                <a:effectLst/>
                <a:latin typeface="+mn-lt"/>
              </a:rPr>
              <a:t> (stored user facts &amp; preferences).</a:t>
            </a:r>
            <a:endParaRPr lang="en-IN" sz="1600" b="0" i="0" dirty="0">
              <a:solidFill>
                <a:srgbClr val="CCCCCC"/>
              </a:solidFill>
              <a:effectLst/>
              <a:latin typeface="Segoe WPC"/>
            </a:endParaRPr>
          </a:p>
        </p:txBody>
      </p:sp>
      <p:sp>
        <p:nvSpPr>
          <p:cNvPr id="8" name="Rectangle: Rounded Corners 7">
            <a:extLst>
              <a:ext uri="{FF2B5EF4-FFF2-40B4-BE49-F238E27FC236}">
                <a16:creationId xmlns:a16="http://schemas.microsoft.com/office/drawing/2014/main" id="{9C0FAF34-57D2-CAEF-0FC3-EDF340AE7BEA}"/>
              </a:ext>
            </a:extLst>
          </p:cNvPr>
          <p:cNvSpPr/>
          <p:nvPr/>
        </p:nvSpPr>
        <p:spPr>
          <a:xfrm>
            <a:off x="4203564" y="1673031"/>
            <a:ext cx="2665380" cy="651752"/>
          </a:xfrm>
          <a:prstGeom prst="roundRect">
            <a:avLst>
              <a:gd name="adj" fmla="val 33085"/>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Incoming Request</a:t>
            </a:r>
          </a:p>
          <a:p>
            <a:pPr algn="ctr"/>
            <a:r>
              <a:rPr lang="en-IN" dirty="0">
                <a:solidFill>
                  <a:schemeClr val="tx1"/>
                </a:solidFill>
              </a:rPr>
              <a:t>(</a:t>
            </a:r>
            <a:r>
              <a:rPr lang="en-IN" dirty="0" err="1">
                <a:solidFill>
                  <a:schemeClr val="tx1"/>
                </a:solidFill>
              </a:rPr>
              <a:t>userId</a:t>
            </a:r>
            <a:r>
              <a:rPr lang="en-IN" dirty="0">
                <a:solidFill>
                  <a:schemeClr val="tx1"/>
                </a:solidFill>
              </a:rPr>
              <a:t>, message)</a:t>
            </a:r>
          </a:p>
        </p:txBody>
      </p:sp>
      <p:sp>
        <p:nvSpPr>
          <p:cNvPr id="9" name="Arrow: Down 8">
            <a:extLst>
              <a:ext uri="{FF2B5EF4-FFF2-40B4-BE49-F238E27FC236}">
                <a16:creationId xmlns:a16="http://schemas.microsoft.com/office/drawing/2014/main" id="{36F35891-ADF1-333F-E6A1-207898F4415D}"/>
              </a:ext>
            </a:extLst>
          </p:cNvPr>
          <p:cNvSpPr/>
          <p:nvPr/>
        </p:nvSpPr>
        <p:spPr>
          <a:xfrm>
            <a:off x="5391554" y="2354414"/>
            <a:ext cx="145915" cy="490030"/>
          </a:xfrm>
          <a:prstGeom prst="down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4E1DA208-65DC-1979-153A-091C05141CBD}"/>
              </a:ext>
            </a:extLst>
          </p:cNvPr>
          <p:cNvSpPr/>
          <p:nvPr/>
        </p:nvSpPr>
        <p:spPr>
          <a:xfrm>
            <a:off x="4203564" y="2883803"/>
            <a:ext cx="2665380" cy="651752"/>
          </a:xfrm>
          <a:prstGeom prst="roundRect">
            <a:avLst>
              <a:gd name="adj" fmla="val 33085"/>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src</a:t>
            </a:r>
            <a:r>
              <a:rPr lang="en-IN" dirty="0">
                <a:solidFill>
                  <a:schemeClr val="tx1"/>
                </a:solidFill>
              </a:rPr>
              <a:t>/memory.js Engine</a:t>
            </a:r>
          </a:p>
        </p:txBody>
      </p:sp>
      <p:sp>
        <p:nvSpPr>
          <p:cNvPr id="13" name="Rectangle: Rounded Corners 12">
            <a:extLst>
              <a:ext uri="{FF2B5EF4-FFF2-40B4-BE49-F238E27FC236}">
                <a16:creationId xmlns:a16="http://schemas.microsoft.com/office/drawing/2014/main" id="{08CCEC7D-F253-9BCD-D9A6-A6F55A4DA948}"/>
              </a:ext>
            </a:extLst>
          </p:cNvPr>
          <p:cNvSpPr/>
          <p:nvPr/>
        </p:nvSpPr>
        <p:spPr>
          <a:xfrm>
            <a:off x="612842" y="4412680"/>
            <a:ext cx="3683542" cy="2060378"/>
          </a:xfrm>
          <a:prstGeom prst="roundRect">
            <a:avLst>
              <a:gd name="adj" fmla="val 1233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Short-Term Memory</a:t>
            </a:r>
          </a:p>
          <a:p>
            <a:pPr algn="ctr"/>
            <a:r>
              <a:rPr lang="en-IN" dirty="0">
                <a:solidFill>
                  <a:schemeClr val="tx1"/>
                </a:solidFill>
              </a:rPr>
              <a:t>(In-Memory JS Map)</a:t>
            </a:r>
          </a:p>
          <a:p>
            <a:pPr algn="ctr"/>
            <a:endParaRPr lang="en-IN" dirty="0">
              <a:solidFill>
                <a:schemeClr val="tx1"/>
              </a:solidFill>
            </a:endParaRPr>
          </a:p>
          <a:p>
            <a:pPr algn="ctr"/>
            <a:r>
              <a:rPr lang="en-IN" dirty="0">
                <a:solidFill>
                  <a:schemeClr val="tx1"/>
                </a:solidFill>
              </a:rPr>
              <a:t>- Stores last 8 turns</a:t>
            </a:r>
          </a:p>
          <a:p>
            <a:pPr algn="ctr"/>
            <a:r>
              <a:rPr lang="en-IN" dirty="0">
                <a:solidFill>
                  <a:schemeClr val="tx1"/>
                </a:solidFill>
              </a:rPr>
              <a:t> - Key: </a:t>
            </a:r>
            <a:r>
              <a:rPr lang="en-IN" dirty="0" err="1">
                <a:solidFill>
                  <a:schemeClr val="tx1"/>
                </a:solidFill>
              </a:rPr>
              <a:t>userId</a:t>
            </a:r>
            <a:r>
              <a:rPr lang="en-IN" dirty="0">
                <a:solidFill>
                  <a:schemeClr val="tx1"/>
                </a:solidFill>
              </a:rPr>
              <a:t>::</a:t>
            </a:r>
            <a:r>
              <a:rPr lang="en-IN" dirty="0" err="1">
                <a:solidFill>
                  <a:schemeClr val="tx1"/>
                </a:solidFill>
              </a:rPr>
              <a:t>conversationId</a:t>
            </a:r>
            <a:endParaRPr lang="en-IN" dirty="0">
              <a:solidFill>
                <a:schemeClr val="tx1"/>
              </a:solidFill>
            </a:endParaRPr>
          </a:p>
          <a:p>
            <a:pPr algn="ctr"/>
            <a:r>
              <a:rPr lang="en-IN" dirty="0">
                <a:solidFill>
                  <a:schemeClr val="tx1"/>
                </a:solidFill>
              </a:rPr>
              <a:t>- Lost on server restart</a:t>
            </a:r>
          </a:p>
        </p:txBody>
      </p:sp>
      <p:sp>
        <p:nvSpPr>
          <p:cNvPr id="15" name="Rectangle: Rounded Corners 14">
            <a:extLst>
              <a:ext uri="{FF2B5EF4-FFF2-40B4-BE49-F238E27FC236}">
                <a16:creationId xmlns:a16="http://schemas.microsoft.com/office/drawing/2014/main" id="{32757DA5-B997-11DD-4809-426EAABBDBEB}"/>
              </a:ext>
            </a:extLst>
          </p:cNvPr>
          <p:cNvSpPr/>
          <p:nvPr/>
        </p:nvSpPr>
        <p:spPr>
          <a:xfrm>
            <a:off x="7110921" y="4432447"/>
            <a:ext cx="3797031" cy="2060378"/>
          </a:xfrm>
          <a:prstGeom prst="roundRect">
            <a:avLst>
              <a:gd name="adj" fmla="val 1461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endParaRPr lang="en-IN" dirty="0">
              <a:solidFill>
                <a:schemeClr val="tx1"/>
              </a:solidFill>
            </a:endParaRPr>
          </a:p>
          <a:p>
            <a:pPr algn="ctr"/>
            <a:r>
              <a:rPr lang="en-IN" dirty="0">
                <a:solidFill>
                  <a:schemeClr val="tx1"/>
                </a:solidFill>
              </a:rPr>
              <a:t>Long-Term Memory</a:t>
            </a:r>
          </a:p>
          <a:p>
            <a:pPr algn="ctr"/>
            <a:r>
              <a:rPr lang="en-IN" dirty="0">
                <a:solidFill>
                  <a:schemeClr val="tx1"/>
                </a:solidFill>
              </a:rPr>
              <a:t>(Persistent Disk JSON)</a:t>
            </a:r>
          </a:p>
          <a:p>
            <a:pPr algn="ctr"/>
            <a:endParaRPr lang="en-IN" dirty="0">
              <a:solidFill>
                <a:schemeClr val="tx1"/>
              </a:solidFill>
            </a:endParaRPr>
          </a:p>
          <a:p>
            <a:pPr algn="ctr"/>
            <a:r>
              <a:rPr lang="en-IN" dirty="0">
                <a:solidFill>
                  <a:schemeClr val="tx1"/>
                </a:solidFill>
              </a:rPr>
              <a:t>-File: data/</a:t>
            </a:r>
            <a:r>
              <a:rPr lang="en-IN" dirty="0" err="1">
                <a:solidFill>
                  <a:schemeClr val="tx1"/>
                </a:solidFill>
              </a:rPr>
              <a:t>memory.json</a:t>
            </a:r>
            <a:endParaRPr lang="en-IN" dirty="0">
              <a:solidFill>
                <a:schemeClr val="tx1"/>
              </a:solidFill>
            </a:endParaRPr>
          </a:p>
          <a:p>
            <a:pPr algn="ctr"/>
            <a:r>
              <a:rPr lang="en-IN" dirty="0">
                <a:solidFill>
                  <a:schemeClr val="tx1"/>
                </a:solidFill>
              </a:rPr>
              <a:t>-User-isolated preferences</a:t>
            </a:r>
          </a:p>
          <a:p>
            <a:pPr algn="ctr"/>
            <a:r>
              <a:rPr lang="en-IN" dirty="0">
                <a:solidFill>
                  <a:schemeClr val="tx1"/>
                </a:solidFill>
              </a:rPr>
              <a:t>    - Stemmed RAG search engine</a:t>
            </a:r>
          </a:p>
          <a:p>
            <a:pPr algn="ctr"/>
            <a:endParaRPr lang="en-IN" dirty="0">
              <a:solidFill>
                <a:schemeClr val="tx1"/>
              </a:solidFill>
            </a:endParaRPr>
          </a:p>
          <a:p>
            <a:pPr algn="ctr"/>
            <a:endParaRPr lang="en-IN" dirty="0">
              <a:solidFill>
                <a:schemeClr val="tx1"/>
              </a:solidFill>
            </a:endParaRPr>
          </a:p>
        </p:txBody>
      </p:sp>
      <p:sp>
        <p:nvSpPr>
          <p:cNvPr id="18" name="Arrow: Down 17">
            <a:extLst>
              <a:ext uri="{FF2B5EF4-FFF2-40B4-BE49-F238E27FC236}">
                <a16:creationId xmlns:a16="http://schemas.microsoft.com/office/drawing/2014/main" id="{A7E713EE-2B32-94F0-C17F-10E2C6098390}"/>
              </a:ext>
            </a:extLst>
          </p:cNvPr>
          <p:cNvSpPr/>
          <p:nvPr/>
        </p:nvSpPr>
        <p:spPr>
          <a:xfrm rot="2435611">
            <a:off x="4080984" y="3457917"/>
            <a:ext cx="245159" cy="1032400"/>
          </a:xfrm>
          <a:prstGeom prst="down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749B3929-C5EF-DBB4-D296-07EC89AAA643}"/>
              </a:ext>
            </a:extLst>
          </p:cNvPr>
          <p:cNvSpPr/>
          <p:nvPr/>
        </p:nvSpPr>
        <p:spPr>
          <a:xfrm rot="19177550">
            <a:off x="6994671" y="3462003"/>
            <a:ext cx="220531" cy="1065065"/>
          </a:xfrm>
          <a:prstGeom prst="down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3566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BF0CDE-D649-7680-3518-DB3565825B7D}"/>
              </a:ext>
            </a:extLst>
          </p:cNvPr>
          <p:cNvSpPr txBox="1"/>
          <p:nvPr/>
        </p:nvSpPr>
        <p:spPr>
          <a:xfrm>
            <a:off x="907103" y="485907"/>
            <a:ext cx="9968419" cy="4801314"/>
          </a:xfrm>
          <a:prstGeom prst="rect">
            <a:avLst/>
          </a:prstGeom>
          <a:noFill/>
        </p:spPr>
        <p:txBody>
          <a:bodyPr wrap="square">
            <a:spAutoFit/>
          </a:bodyPr>
          <a:lstStyle/>
          <a:p>
            <a:pPr marL="0" marR="0" indent="0" algn="l">
              <a:buNone/>
            </a:pPr>
            <a:r>
              <a:rPr lang="en-IN" b="1" i="0" dirty="0">
                <a:solidFill>
                  <a:schemeClr val="tx1"/>
                </a:solidFill>
                <a:effectLst/>
                <a:latin typeface="+mn-lt"/>
              </a:rPr>
              <a:t>Short-Term Memory (Conversation History)</a:t>
            </a:r>
          </a:p>
          <a:p>
            <a:pPr marL="0" marR="0" indent="0" algn="l">
              <a:buNone/>
            </a:pPr>
            <a:endParaRPr lang="en-IN" b="1" i="0" dirty="0">
              <a:solidFill>
                <a:schemeClr val="tx1"/>
              </a:solidFill>
              <a:effectLst/>
              <a:latin typeface="+mn-lt"/>
            </a:endParaRPr>
          </a:p>
          <a:p>
            <a:pPr lvl="0" algn="l"/>
            <a:r>
              <a:rPr lang="en-IN" sz="1800" b="1" i="0" dirty="0">
                <a:solidFill>
                  <a:schemeClr val="tx1"/>
                </a:solidFill>
                <a:effectLst/>
                <a:latin typeface="+mn-lt"/>
              </a:rPr>
              <a:t>File</a:t>
            </a:r>
            <a:r>
              <a:rPr lang="en-IN" sz="1800" b="0" i="0" dirty="0">
                <a:solidFill>
                  <a:schemeClr val="tx1"/>
                </a:solidFill>
                <a:effectLst/>
                <a:latin typeface="+mn-lt"/>
              </a:rPr>
              <a:t>: </a:t>
            </a:r>
            <a:r>
              <a:rPr lang="en-IN" sz="1800" b="0" i="0" dirty="0" err="1">
                <a:solidFill>
                  <a:schemeClr val="tx1"/>
                </a:solidFill>
                <a:effectLst/>
                <a:latin typeface="+mn-lt"/>
              </a:rPr>
              <a:t>src</a:t>
            </a:r>
            <a:r>
              <a:rPr lang="en-IN" sz="1800" b="0" i="0" dirty="0">
                <a:solidFill>
                  <a:schemeClr val="tx1"/>
                </a:solidFill>
                <a:effectLst/>
                <a:latin typeface="+mn-lt"/>
              </a:rPr>
              <a:t>/memory.js</a:t>
            </a:r>
          </a:p>
          <a:p>
            <a:pPr lvl="0" algn="l"/>
            <a:endParaRPr lang="en-IN" sz="1800" b="0" i="0" dirty="0">
              <a:solidFill>
                <a:schemeClr val="tx1"/>
              </a:solidFill>
              <a:effectLst/>
              <a:latin typeface="+mn-lt"/>
            </a:endParaRPr>
          </a:p>
          <a:p>
            <a:pPr lvl="0" algn="l"/>
            <a:r>
              <a:rPr lang="en-IN" sz="1800" b="1" i="0" dirty="0">
                <a:solidFill>
                  <a:schemeClr val="tx1"/>
                </a:solidFill>
                <a:effectLst/>
                <a:latin typeface="+mn-lt"/>
              </a:rPr>
              <a:t>Data Structure</a:t>
            </a:r>
            <a:r>
              <a:rPr lang="en-IN" sz="1800" b="0" i="0" dirty="0">
                <a:solidFill>
                  <a:schemeClr val="tx1"/>
                </a:solidFill>
                <a:effectLst/>
                <a:latin typeface="+mn-lt"/>
              </a:rPr>
              <a:t>: An in-memory JavaScript Map() named conversations.</a:t>
            </a:r>
          </a:p>
          <a:p>
            <a:pPr lvl="0" algn="l"/>
            <a:endParaRPr lang="en-IN" sz="1800" b="0" i="0" dirty="0">
              <a:solidFill>
                <a:schemeClr val="tx1"/>
              </a:solidFill>
              <a:effectLst/>
              <a:latin typeface="+mn-lt"/>
            </a:endParaRPr>
          </a:p>
          <a:p>
            <a:pPr lvl="0" algn="l"/>
            <a:r>
              <a:rPr lang="en-IN" sz="1800" b="1" i="0" dirty="0">
                <a:solidFill>
                  <a:schemeClr val="tx1"/>
                </a:solidFill>
                <a:effectLst/>
                <a:latin typeface="+mn-lt"/>
              </a:rPr>
              <a:t>Key Format</a:t>
            </a:r>
            <a:r>
              <a:rPr lang="en-IN" sz="1800" b="0" i="0" dirty="0">
                <a:solidFill>
                  <a:schemeClr val="tx1"/>
                </a:solidFill>
                <a:effectLst/>
                <a:latin typeface="+mn-lt"/>
              </a:rPr>
              <a:t>: ${</a:t>
            </a:r>
            <a:r>
              <a:rPr lang="en-IN" sz="1800" b="0" i="0" dirty="0" err="1">
                <a:solidFill>
                  <a:schemeClr val="tx1"/>
                </a:solidFill>
                <a:effectLst/>
                <a:latin typeface="+mn-lt"/>
              </a:rPr>
              <a:t>normalizeUserId</a:t>
            </a:r>
            <a:r>
              <a:rPr lang="en-IN" sz="1800" b="0" i="0" dirty="0">
                <a:solidFill>
                  <a:schemeClr val="tx1"/>
                </a:solidFill>
                <a:effectLst/>
                <a:latin typeface="+mn-lt"/>
              </a:rPr>
              <a:t>(</a:t>
            </a:r>
            <a:r>
              <a:rPr lang="en-IN" sz="1800" b="0" i="0" dirty="0" err="1">
                <a:solidFill>
                  <a:schemeClr val="tx1"/>
                </a:solidFill>
                <a:effectLst/>
                <a:latin typeface="+mn-lt"/>
              </a:rPr>
              <a:t>userId</a:t>
            </a:r>
            <a:r>
              <a:rPr lang="en-IN" sz="1800" b="0" i="0" dirty="0">
                <a:solidFill>
                  <a:schemeClr val="tx1"/>
                </a:solidFill>
                <a:effectLst/>
                <a:latin typeface="+mn-lt"/>
              </a:rPr>
              <a:t>)}::${</a:t>
            </a:r>
            <a:r>
              <a:rPr lang="en-IN" sz="1800" b="0" i="0" dirty="0" err="1">
                <a:solidFill>
                  <a:schemeClr val="tx1"/>
                </a:solidFill>
                <a:effectLst/>
                <a:latin typeface="+mn-lt"/>
              </a:rPr>
              <a:t>conversationId</a:t>
            </a:r>
            <a:r>
              <a:rPr lang="en-IN" sz="1800" b="0" i="0" dirty="0">
                <a:solidFill>
                  <a:schemeClr val="tx1"/>
                </a:solidFill>
                <a:effectLst/>
                <a:latin typeface="+mn-lt"/>
              </a:rPr>
              <a:t> || 'default’}.</a:t>
            </a:r>
          </a:p>
          <a:p>
            <a:pPr lvl="0" algn="l"/>
            <a:endParaRPr lang="en-IN" sz="1800" b="0" i="0" dirty="0">
              <a:solidFill>
                <a:schemeClr val="tx1"/>
              </a:solidFill>
              <a:effectLst/>
              <a:latin typeface="+mn-lt"/>
            </a:endParaRPr>
          </a:p>
          <a:p>
            <a:pPr lvl="0" algn="l"/>
            <a:endParaRPr lang="en-IN" sz="1800" b="0" i="0" dirty="0">
              <a:solidFill>
                <a:schemeClr val="tx1"/>
              </a:solidFill>
              <a:effectLst/>
              <a:latin typeface="+mn-lt"/>
            </a:endParaRPr>
          </a:p>
          <a:p>
            <a:pPr marL="0" marR="0" indent="0" algn="l">
              <a:buNone/>
            </a:pPr>
            <a:r>
              <a:rPr lang="en-IN" b="0" i="0" dirty="0">
                <a:solidFill>
                  <a:schemeClr val="tx1"/>
                </a:solidFill>
                <a:effectLst/>
                <a:latin typeface="+mn-lt"/>
              </a:rPr>
              <a:t>How It Works:</a:t>
            </a:r>
          </a:p>
          <a:p>
            <a:pPr marL="0" marR="0" indent="0" algn="l">
              <a:buNone/>
            </a:pPr>
            <a:endParaRPr lang="en-IN" b="0" i="0" dirty="0">
              <a:solidFill>
                <a:schemeClr val="tx1"/>
              </a:solidFill>
              <a:effectLst/>
              <a:latin typeface="+mn-lt"/>
            </a:endParaRPr>
          </a:p>
          <a:p>
            <a:pPr marL="342900" lvl="0" indent="-342900" algn="l">
              <a:buFont typeface="+mj-lt"/>
              <a:buAutoNum type="arabicPeriod"/>
            </a:pPr>
            <a:r>
              <a:rPr lang="en-IN" sz="1800" b="1" i="0" dirty="0">
                <a:solidFill>
                  <a:schemeClr val="tx1"/>
                </a:solidFill>
                <a:effectLst/>
                <a:latin typeface="+mn-lt"/>
              </a:rPr>
              <a:t>Recording Turns</a:t>
            </a:r>
            <a:r>
              <a:rPr lang="en-IN" sz="1800" b="0" i="0" dirty="0">
                <a:solidFill>
                  <a:schemeClr val="tx1"/>
                </a:solidFill>
                <a:effectLst/>
                <a:latin typeface="+mn-lt"/>
              </a:rPr>
              <a:t>: When the agent produces a final answer, </a:t>
            </a:r>
            <a:r>
              <a:rPr lang="en-IN" sz="1800" b="0" i="0" dirty="0" err="1">
                <a:solidFill>
                  <a:schemeClr val="tx1"/>
                </a:solidFill>
                <a:effectLst/>
                <a:latin typeface="+mn-lt"/>
              </a:rPr>
              <a:t>memory.recordTurn</a:t>
            </a:r>
            <a:r>
              <a:rPr lang="en-IN" sz="1800" b="0" i="0" dirty="0">
                <a:solidFill>
                  <a:schemeClr val="tx1"/>
                </a:solidFill>
                <a:effectLst/>
                <a:latin typeface="+mn-lt"/>
              </a:rPr>
              <a:t>() pushes</a:t>
            </a:r>
          </a:p>
          <a:p>
            <a:pPr lvl="0" algn="l"/>
            <a:r>
              <a:rPr lang="en-IN" sz="1800" b="0" i="0" dirty="0">
                <a:solidFill>
                  <a:schemeClr val="tx1"/>
                </a:solidFill>
                <a:effectLst/>
                <a:latin typeface="+mn-lt"/>
              </a:rPr>
              <a:t> { </a:t>
            </a:r>
            <a:r>
              <a:rPr lang="en-IN" sz="1800" b="0" i="0" dirty="0" err="1">
                <a:solidFill>
                  <a:schemeClr val="tx1"/>
                </a:solidFill>
                <a:effectLst/>
                <a:latin typeface="+mn-lt"/>
              </a:rPr>
              <a:t>userMessage</a:t>
            </a:r>
            <a:r>
              <a:rPr lang="en-IN" sz="1800" b="0" i="0" dirty="0">
                <a:solidFill>
                  <a:schemeClr val="tx1"/>
                </a:solidFill>
                <a:effectLst/>
                <a:latin typeface="+mn-lt"/>
              </a:rPr>
              <a:t>, </a:t>
            </a:r>
            <a:r>
              <a:rPr lang="en-IN" sz="1800" b="0" i="0" dirty="0" err="1">
                <a:solidFill>
                  <a:schemeClr val="tx1"/>
                </a:solidFill>
                <a:effectLst/>
                <a:latin typeface="+mn-lt"/>
              </a:rPr>
              <a:t>assistantMessage</a:t>
            </a:r>
            <a:r>
              <a:rPr lang="en-IN" sz="1800" b="0" i="0" dirty="0">
                <a:solidFill>
                  <a:schemeClr val="tx1"/>
                </a:solidFill>
                <a:effectLst/>
                <a:latin typeface="+mn-lt"/>
              </a:rPr>
              <a:t>, </a:t>
            </a:r>
            <a:r>
              <a:rPr lang="en-IN" sz="1800" b="0" i="0" dirty="0" err="1">
                <a:solidFill>
                  <a:schemeClr val="tx1"/>
                </a:solidFill>
                <a:effectLst/>
                <a:latin typeface="+mn-lt"/>
              </a:rPr>
              <a:t>recordedAt</a:t>
            </a:r>
            <a:r>
              <a:rPr lang="en-IN" sz="1800" b="0" i="0" dirty="0">
                <a:solidFill>
                  <a:schemeClr val="tx1"/>
                </a:solidFill>
                <a:effectLst/>
                <a:latin typeface="+mn-lt"/>
              </a:rPr>
              <a:t> } into the user's turn array and trims it to a </a:t>
            </a:r>
            <a:r>
              <a:rPr lang="en-IN" sz="1800" b="1" i="0" dirty="0">
                <a:solidFill>
                  <a:schemeClr val="tx1"/>
                </a:solidFill>
                <a:effectLst/>
                <a:latin typeface="+mn-lt"/>
              </a:rPr>
              <a:t>sliding window of the last 8 turns</a:t>
            </a:r>
            <a:r>
              <a:rPr lang="en-IN" sz="1800" b="0" i="0" dirty="0">
                <a:solidFill>
                  <a:schemeClr val="tx1"/>
                </a:solidFill>
                <a:effectLst/>
                <a:latin typeface="+mn-lt"/>
              </a:rPr>
              <a:t>.</a:t>
            </a:r>
          </a:p>
          <a:p>
            <a:pPr lvl="0" algn="l"/>
            <a:endParaRPr lang="en-IN" sz="1800" b="0" i="0" dirty="0">
              <a:solidFill>
                <a:schemeClr val="tx1"/>
              </a:solidFill>
              <a:effectLst/>
              <a:latin typeface="+mn-lt"/>
            </a:endParaRPr>
          </a:p>
          <a:p>
            <a:pPr lvl="0" algn="l"/>
            <a:r>
              <a:rPr lang="en-IN" sz="1800" b="1" i="0" dirty="0">
                <a:solidFill>
                  <a:schemeClr val="tx1"/>
                </a:solidFill>
                <a:effectLst/>
                <a:latin typeface="+mn-lt"/>
              </a:rPr>
              <a:t>2. Retrieval</a:t>
            </a:r>
            <a:r>
              <a:rPr lang="en-IN" sz="1800" b="0" i="0" dirty="0">
                <a:solidFill>
                  <a:schemeClr val="tx1"/>
                </a:solidFill>
                <a:effectLst/>
                <a:latin typeface="+mn-lt"/>
              </a:rPr>
              <a:t>: Before calling the LLM, </a:t>
            </a:r>
            <a:r>
              <a:rPr lang="en-IN" sz="1800" b="0" i="0" dirty="0" err="1">
                <a:solidFill>
                  <a:schemeClr val="tx1"/>
                </a:solidFill>
                <a:effectLst/>
                <a:latin typeface="+mn-lt"/>
              </a:rPr>
              <a:t>memory.getRecentTurns</a:t>
            </a:r>
            <a:r>
              <a:rPr lang="en-IN" sz="1800" b="0" i="0" dirty="0">
                <a:solidFill>
                  <a:schemeClr val="tx1"/>
                </a:solidFill>
                <a:effectLst/>
                <a:latin typeface="+mn-lt"/>
              </a:rPr>
              <a:t>() extracts recent turns to give the LLM multi-turn conversational awareness.</a:t>
            </a:r>
            <a:endParaRPr lang="en-IN" sz="1800" b="0" i="0" dirty="0">
              <a:solidFill>
                <a:srgbClr val="CCCCCC"/>
              </a:solidFill>
              <a:effectLst/>
              <a:latin typeface="Segoe WPC"/>
            </a:endParaRPr>
          </a:p>
        </p:txBody>
      </p:sp>
    </p:spTree>
    <p:extLst>
      <p:ext uri="{BB962C8B-B14F-4D97-AF65-F5344CB8AC3E}">
        <p14:creationId xmlns:p14="http://schemas.microsoft.com/office/powerpoint/2010/main" val="3360435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D9F9DE-ECEA-31DE-90C2-97A9172FD2F0}"/>
              </a:ext>
            </a:extLst>
          </p:cNvPr>
          <p:cNvSpPr txBox="1"/>
          <p:nvPr/>
        </p:nvSpPr>
        <p:spPr>
          <a:xfrm>
            <a:off x="184827" y="477533"/>
            <a:ext cx="11819106" cy="1477328"/>
          </a:xfrm>
          <a:prstGeom prst="rect">
            <a:avLst/>
          </a:prstGeom>
          <a:noFill/>
        </p:spPr>
        <p:txBody>
          <a:bodyPr wrap="square">
            <a:spAutoFit/>
          </a:bodyPr>
          <a:lstStyle/>
          <a:p>
            <a:pPr marL="0" marR="0" indent="0" algn="l">
              <a:buNone/>
            </a:pPr>
            <a:r>
              <a:rPr lang="en-IN" b="1" i="0" dirty="0">
                <a:solidFill>
                  <a:schemeClr val="tx1"/>
                </a:solidFill>
                <a:effectLst/>
                <a:latin typeface="+mn-lt"/>
              </a:rPr>
              <a:t>Long-Term Memory (User Preferences &amp; Facts)</a:t>
            </a:r>
          </a:p>
          <a:p>
            <a:pPr marL="0" marR="0" indent="0" algn="l">
              <a:buNone/>
            </a:pPr>
            <a:endParaRPr lang="en-IN" b="1" i="0" dirty="0">
              <a:solidFill>
                <a:schemeClr val="tx1"/>
              </a:solidFill>
              <a:effectLst/>
              <a:latin typeface="+mn-lt"/>
            </a:endParaRPr>
          </a:p>
          <a:p>
            <a:pPr lvl="0" algn="l"/>
            <a:r>
              <a:rPr lang="en-IN" sz="1800" b="1" i="0" dirty="0">
                <a:solidFill>
                  <a:schemeClr val="tx1"/>
                </a:solidFill>
                <a:effectLst/>
                <a:latin typeface="+mn-lt"/>
              </a:rPr>
              <a:t>File</a:t>
            </a:r>
            <a:r>
              <a:rPr lang="en-IN" sz="1800" b="0" i="0" dirty="0">
                <a:solidFill>
                  <a:schemeClr val="tx1"/>
                </a:solidFill>
                <a:effectLst/>
                <a:latin typeface="+mn-lt"/>
              </a:rPr>
              <a:t>: </a:t>
            </a:r>
            <a:r>
              <a:rPr lang="en-IN" sz="1800" b="0" i="0" dirty="0" err="1">
                <a:solidFill>
                  <a:schemeClr val="tx1"/>
                </a:solidFill>
                <a:effectLst/>
                <a:latin typeface="+mn-lt"/>
              </a:rPr>
              <a:t>src</a:t>
            </a:r>
            <a:r>
              <a:rPr lang="en-IN" sz="1800" b="0" i="0" dirty="0">
                <a:solidFill>
                  <a:schemeClr val="tx1"/>
                </a:solidFill>
                <a:effectLst/>
                <a:latin typeface="+mn-lt"/>
              </a:rPr>
              <a:t>/memory.js &amp;  data/</a:t>
            </a:r>
            <a:r>
              <a:rPr lang="en-IN" sz="1800" b="0" i="0" dirty="0" err="1">
                <a:solidFill>
                  <a:schemeClr val="tx1"/>
                </a:solidFill>
                <a:effectLst/>
                <a:latin typeface="+mn-lt"/>
              </a:rPr>
              <a:t>memory.json</a:t>
            </a:r>
            <a:endParaRPr lang="en-IN" sz="1800" b="0" i="0" dirty="0">
              <a:solidFill>
                <a:schemeClr val="tx1"/>
              </a:solidFill>
              <a:effectLst/>
              <a:latin typeface="+mn-lt"/>
            </a:endParaRPr>
          </a:p>
          <a:p>
            <a:pPr lvl="0" algn="l"/>
            <a:endParaRPr lang="en-IN" sz="1800" b="0" i="0" dirty="0">
              <a:solidFill>
                <a:schemeClr val="tx1"/>
              </a:solidFill>
              <a:effectLst/>
              <a:latin typeface="+mn-lt"/>
            </a:endParaRPr>
          </a:p>
          <a:p>
            <a:pPr lvl="0"/>
            <a:r>
              <a:rPr lang="en-IN" sz="1800" b="1" i="0" dirty="0">
                <a:solidFill>
                  <a:schemeClr val="tx1"/>
                </a:solidFill>
                <a:effectLst/>
                <a:latin typeface="+mn-lt"/>
              </a:rPr>
              <a:t>Storage</a:t>
            </a:r>
            <a:r>
              <a:rPr lang="en-IN" sz="1800" b="0" i="0" dirty="0">
                <a:solidFill>
                  <a:schemeClr val="tx1"/>
                </a:solidFill>
                <a:effectLst/>
                <a:latin typeface="+mn-lt"/>
              </a:rPr>
              <a:t>: Persistent JSON file on disk. Each user has their own isolated memory list under users[</a:t>
            </a:r>
            <a:r>
              <a:rPr lang="en-IN" sz="1800" b="0" i="0" dirty="0" err="1">
                <a:solidFill>
                  <a:schemeClr val="tx1"/>
                </a:solidFill>
                <a:effectLst/>
                <a:latin typeface="+mn-lt"/>
              </a:rPr>
              <a:t>normalizedUserId</a:t>
            </a:r>
            <a:r>
              <a:rPr lang="en-IN" sz="1800" b="0" i="0" dirty="0">
                <a:solidFill>
                  <a:schemeClr val="tx1"/>
                </a:solidFill>
                <a:effectLst/>
                <a:latin typeface="+mn-lt"/>
              </a:rPr>
              <a:t>]</a:t>
            </a:r>
            <a:endParaRPr lang="en-IN" sz="1800" b="0" i="0" dirty="0">
              <a:solidFill>
                <a:srgbClr val="CCCCCC"/>
              </a:solidFill>
              <a:effectLst/>
              <a:latin typeface="Segoe WPC"/>
            </a:endParaRPr>
          </a:p>
        </p:txBody>
      </p:sp>
      <p:sp>
        <p:nvSpPr>
          <p:cNvPr id="5" name="TextBox 4">
            <a:extLst>
              <a:ext uri="{FF2B5EF4-FFF2-40B4-BE49-F238E27FC236}">
                <a16:creationId xmlns:a16="http://schemas.microsoft.com/office/drawing/2014/main" id="{E3049428-38DD-297F-760B-E263ED2F1B43}"/>
              </a:ext>
            </a:extLst>
          </p:cNvPr>
          <p:cNvSpPr txBox="1"/>
          <p:nvPr/>
        </p:nvSpPr>
        <p:spPr>
          <a:xfrm>
            <a:off x="459631" y="2346919"/>
            <a:ext cx="5338054" cy="4031873"/>
          </a:xfrm>
          <a:prstGeom prst="rect">
            <a:avLst/>
          </a:prstGeom>
          <a:noFill/>
        </p:spPr>
        <p:txBody>
          <a:bodyPr wrap="square">
            <a:spAutoFit/>
          </a:bodyPr>
          <a:lstStyle/>
          <a:p>
            <a:r>
              <a:rPr lang="en-IN" sz="1600" dirty="0"/>
              <a:t>{</a:t>
            </a:r>
          </a:p>
          <a:p>
            <a:r>
              <a:rPr lang="en-IN" sz="1600" dirty="0"/>
              <a:t>  "users": {</a:t>
            </a:r>
          </a:p>
          <a:p>
            <a:r>
              <a:rPr lang="en-IN" sz="1600" dirty="0"/>
              <a:t>    "sathvik": {</a:t>
            </a:r>
          </a:p>
          <a:p>
            <a:r>
              <a:rPr lang="en-IN" sz="1600" dirty="0"/>
              <a:t>      "memories": [</a:t>
            </a:r>
          </a:p>
          <a:p>
            <a:r>
              <a:rPr lang="en-IN" sz="1600" dirty="0"/>
              <a:t>        {</a:t>
            </a:r>
          </a:p>
          <a:p>
            <a:r>
              <a:rPr lang="en-IN" sz="1600" dirty="0"/>
              <a:t>          "id": "MEM_1789628050995_1",</a:t>
            </a:r>
          </a:p>
          <a:p>
            <a:r>
              <a:rPr lang="en-IN" sz="1600" dirty="0"/>
              <a:t>          "key": "focus",</a:t>
            </a:r>
          </a:p>
          <a:p>
            <a:r>
              <a:rPr lang="en-IN" sz="1600" dirty="0"/>
              <a:t>          "content": "Project I want to focus on is project delta.",</a:t>
            </a:r>
          </a:p>
          <a:p>
            <a:r>
              <a:rPr lang="en-IN" sz="1600" dirty="0"/>
              <a:t>          "type": "preference",</a:t>
            </a:r>
          </a:p>
          <a:p>
            <a:r>
              <a:rPr lang="en-IN" sz="1600" dirty="0"/>
              <a:t>          "tags": ["user-preference"],</a:t>
            </a:r>
          </a:p>
          <a:p>
            <a:r>
              <a:rPr lang="en-IN" sz="1600" dirty="0"/>
              <a:t>          "</a:t>
            </a:r>
            <a:r>
              <a:rPr lang="en-IN" sz="1600" dirty="0" err="1"/>
              <a:t>updatedAt</a:t>
            </a:r>
            <a:r>
              <a:rPr lang="en-IN" sz="1600" dirty="0"/>
              <a:t>": "2026-09-17T06:59:12.040Z"</a:t>
            </a:r>
          </a:p>
          <a:p>
            <a:r>
              <a:rPr lang="en-IN" sz="1600" dirty="0"/>
              <a:t>        }</a:t>
            </a:r>
          </a:p>
          <a:p>
            <a:r>
              <a:rPr lang="en-IN" sz="1600" dirty="0"/>
              <a:t>      ]</a:t>
            </a:r>
          </a:p>
          <a:p>
            <a:r>
              <a:rPr lang="en-IN" sz="1600" dirty="0"/>
              <a:t>    }</a:t>
            </a:r>
          </a:p>
          <a:p>
            <a:r>
              <a:rPr lang="en-IN" sz="1600" dirty="0"/>
              <a:t>  }</a:t>
            </a:r>
          </a:p>
          <a:p>
            <a:r>
              <a:rPr lang="en-IN" sz="1600" dirty="0"/>
              <a:t>}</a:t>
            </a:r>
          </a:p>
        </p:txBody>
      </p:sp>
      <p:sp>
        <p:nvSpPr>
          <p:cNvPr id="7" name="TextBox 6">
            <a:extLst>
              <a:ext uri="{FF2B5EF4-FFF2-40B4-BE49-F238E27FC236}">
                <a16:creationId xmlns:a16="http://schemas.microsoft.com/office/drawing/2014/main" id="{D0A2088B-388A-381E-13FC-BE1FEFE1E219}"/>
              </a:ext>
            </a:extLst>
          </p:cNvPr>
          <p:cNvSpPr txBox="1"/>
          <p:nvPr/>
        </p:nvSpPr>
        <p:spPr>
          <a:xfrm>
            <a:off x="6510236" y="2349472"/>
            <a:ext cx="5338054" cy="4031873"/>
          </a:xfrm>
          <a:prstGeom prst="rect">
            <a:avLst/>
          </a:prstGeom>
          <a:noFill/>
        </p:spPr>
        <p:txBody>
          <a:bodyPr wrap="square">
            <a:spAutoFit/>
          </a:bodyPr>
          <a:lstStyle/>
          <a:p>
            <a:r>
              <a:rPr lang="en-IN" sz="1600" dirty="0"/>
              <a:t>{</a:t>
            </a:r>
          </a:p>
          <a:p>
            <a:r>
              <a:rPr lang="en-IN" sz="1600" dirty="0"/>
              <a:t>  "users": {</a:t>
            </a:r>
          </a:p>
          <a:p>
            <a:r>
              <a:rPr lang="en-IN" sz="1600" dirty="0"/>
              <a:t>    </a:t>
            </a:r>
            <a:r>
              <a:rPr lang="en-US" sz="1600" dirty="0"/>
              <a:t> "</a:t>
            </a:r>
            <a:r>
              <a:rPr lang="en-US" sz="1600" dirty="0" err="1"/>
              <a:t>suresh</a:t>
            </a:r>
            <a:r>
              <a:rPr lang="en-US" sz="1600" dirty="0"/>
              <a:t>": {</a:t>
            </a:r>
          </a:p>
          <a:p>
            <a:r>
              <a:rPr lang="en-US" sz="1600" dirty="0"/>
              <a:t>      "memories": [</a:t>
            </a:r>
          </a:p>
          <a:p>
            <a:r>
              <a:rPr lang="en-US" sz="1600" dirty="0"/>
              <a:t>        {</a:t>
            </a:r>
          </a:p>
          <a:p>
            <a:r>
              <a:rPr lang="en-US" sz="1600" dirty="0"/>
              <a:t>          "id": "MEM_1789632475229_1",</a:t>
            </a:r>
          </a:p>
          <a:p>
            <a:r>
              <a:rPr lang="en-US" sz="1600" dirty="0"/>
              <a:t>          "key": "preference",</a:t>
            </a:r>
          </a:p>
          <a:p>
            <a:r>
              <a:rPr lang="en-US" sz="1600" dirty="0"/>
              <a:t>          "content": "The task I want to do today is updating 	upd4 to risk level high.",</a:t>
            </a:r>
          </a:p>
          <a:p>
            <a:r>
              <a:rPr lang="en-US" sz="1600" dirty="0"/>
              <a:t>          "type": "preference",</a:t>
            </a:r>
          </a:p>
          <a:p>
            <a:r>
              <a:rPr lang="en-US" sz="1600" dirty="0"/>
              <a:t>          "tags": [user-preference"</a:t>
            </a:r>
          </a:p>
          <a:p>
            <a:r>
              <a:rPr lang="en-US" sz="1600" dirty="0"/>
              <a:t>          "</a:t>
            </a:r>
            <a:r>
              <a:rPr lang="en-US" sz="1600" dirty="0" err="1"/>
              <a:t>updatedAt</a:t>
            </a:r>
            <a:r>
              <a:rPr lang="en-US" sz="1600" dirty="0"/>
              <a:t>": "2026-09-17T08:07:55.229Z"</a:t>
            </a:r>
          </a:p>
          <a:p>
            <a:r>
              <a:rPr lang="en-US" sz="1600" dirty="0"/>
              <a:t>        }</a:t>
            </a:r>
          </a:p>
          <a:p>
            <a:r>
              <a:rPr lang="en-US" sz="1600" dirty="0"/>
              <a:t>      ]</a:t>
            </a:r>
          </a:p>
          <a:p>
            <a:r>
              <a:rPr lang="en-US" sz="1600" dirty="0"/>
              <a:t>    },</a:t>
            </a:r>
          </a:p>
          <a:p>
            <a:r>
              <a:rPr lang="en-IN" sz="1600" dirty="0"/>
              <a:t>}</a:t>
            </a:r>
          </a:p>
        </p:txBody>
      </p:sp>
    </p:spTree>
    <p:extLst>
      <p:ext uri="{BB962C8B-B14F-4D97-AF65-F5344CB8AC3E}">
        <p14:creationId xmlns:p14="http://schemas.microsoft.com/office/powerpoint/2010/main" val="1706493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438A05-73AD-5F5C-5C1B-942E79AA6256}"/>
              </a:ext>
            </a:extLst>
          </p:cNvPr>
          <p:cNvSpPr txBox="1"/>
          <p:nvPr/>
        </p:nvSpPr>
        <p:spPr>
          <a:xfrm>
            <a:off x="165370" y="215698"/>
            <a:ext cx="11303541" cy="3970318"/>
          </a:xfrm>
          <a:prstGeom prst="rect">
            <a:avLst/>
          </a:prstGeom>
          <a:noFill/>
        </p:spPr>
        <p:txBody>
          <a:bodyPr wrap="square">
            <a:spAutoFit/>
          </a:bodyPr>
          <a:lstStyle/>
          <a:p>
            <a:pPr marL="0" marR="0" indent="0" algn="l">
              <a:buNone/>
            </a:pPr>
            <a:r>
              <a:rPr lang="en-IN" b="0" i="0" dirty="0">
                <a:solidFill>
                  <a:schemeClr val="tx1"/>
                </a:solidFill>
                <a:effectLst/>
                <a:latin typeface="+mn-lt"/>
              </a:rPr>
              <a:t>Core Memory Mechanisms:</a:t>
            </a:r>
          </a:p>
          <a:p>
            <a:pPr marL="0" marR="0" indent="0" algn="l">
              <a:buNone/>
            </a:pPr>
            <a:endParaRPr lang="en-IN" b="0" i="0" dirty="0">
              <a:solidFill>
                <a:schemeClr val="tx1"/>
              </a:solidFill>
              <a:effectLst/>
              <a:latin typeface="+mn-lt"/>
            </a:endParaRPr>
          </a:p>
          <a:p>
            <a:pPr lvl="0" algn="l"/>
            <a:r>
              <a:rPr lang="en-IN" sz="1800" b="1" i="0" dirty="0">
                <a:solidFill>
                  <a:schemeClr val="tx1"/>
                </a:solidFill>
                <a:effectLst/>
                <a:latin typeface="+mn-lt"/>
              </a:rPr>
              <a:t>User Isolation &amp; Normalization</a:t>
            </a:r>
            <a:r>
              <a:rPr lang="en-IN" sz="1800" b="0" i="0" dirty="0">
                <a:solidFill>
                  <a:schemeClr val="tx1"/>
                </a:solidFill>
                <a:effectLst/>
                <a:latin typeface="+mn-lt"/>
              </a:rPr>
              <a:t>: </a:t>
            </a:r>
            <a:r>
              <a:rPr lang="en-IN" sz="1800" b="0" i="0" dirty="0" err="1">
                <a:solidFill>
                  <a:schemeClr val="tx1"/>
                </a:solidFill>
                <a:effectLst/>
                <a:latin typeface="+mn-lt"/>
              </a:rPr>
              <a:t>normalizeUserId</a:t>
            </a:r>
            <a:r>
              <a:rPr lang="en-IN" sz="1800" b="0" i="0" dirty="0">
                <a:solidFill>
                  <a:schemeClr val="tx1"/>
                </a:solidFill>
                <a:effectLst/>
                <a:latin typeface="+mn-lt"/>
              </a:rPr>
              <a:t>() converts user IDs to lower case (sathvik), ensuring "Sathvik" and "sathvik" access the exact same memory namespace while preventing cross-user leaks.</a:t>
            </a:r>
          </a:p>
          <a:p>
            <a:pPr lvl="0" algn="l"/>
            <a:endParaRPr lang="en-IN" sz="1800" b="0" i="0" dirty="0">
              <a:solidFill>
                <a:schemeClr val="tx1"/>
              </a:solidFill>
              <a:effectLst/>
              <a:latin typeface="+mn-lt"/>
            </a:endParaRPr>
          </a:p>
          <a:p>
            <a:pPr lvl="0" algn="l"/>
            <a:r>
              <a:rPr lang="en-IN" sz="1800" b="1" i="0" dirty="0">
                <a:solidFill>
                  <a:schemeClr val="tx1"/>
                </a:solidFill>
                <a:effectLst/>
                <a:latin typeface="+mn-lt"/>
              </a:rPr>
              <a:t>Stemmed RAG Engine</a:t>
            </a:r>
            <a:r>
              <a:rPr lang="en-IN" sz="1800" b="0" i="0" dirty="0">
                <a:solidFill>
                  <a:schemeClr val="tx1"/>
                </a:solidFill>
                <a:effectLst/>
                <a:latin typeface="+mn-lt"/>
              </a:rPr>
              <a:t>:  </a:t>
            </a:r>
            <a:r>
              <a:rPr lang="en-IN" sz="1800" b="0" i="0" dirty="0" err="1">
                <a:solidFill>
                  <a:schemeClr val="tx1"/>
                </a:solidFill>
                <a:effectLst/>
                <a:latin typeface="+mn-lt"/>
              </a:rPr>
              <a:t>memory.search</a:t>
            </a:r>
            <a:r>
              <a:rPr lang="en-IN" sz="1800" b="0" i="0" dirty="0">
                <a:solidFill>
                  <a:schemeClr val="tx1"/>
                </a:solidFill>
                <a:effectLst/>
                <a:latin typeface="+mn-lt"/>
              </a:rPr>
              <a:t>() uses a custom stemmer (stem()) to match word roots:</a:t>
            </a:r>
          </a:p>
          <a:p>
            <a:pPr marL="285750" indent="-285750">
              <a:buFont typeface="+mj-lt"/>
              <a:buAutoNum type="arabicPeriod"/>
            </a:pPr>
            <a:r>
              <a:rPr lang="en-IN" b="0" i="0" dirty="0">
                <a:solidFill>
                  <a:schemeClr val="tx1"/>
                </a:solidFill>
                <a:effectLst/>
                <a:latin typeface="+mn-lt"/>
              </a:rPr>
              <a:t>wanted $\</a:t>
            </a:r>
            <a:r>
              <a:rPr lang="en-IN" b="0" i="0" dirty="0" err="1">
                <a:solidFill>
                  <a:schemeClr val="tx1"/>
                </a:solidFill>
                <a:effectLst/>
                <a:latin typeface="+mn-lt"/>
              </a:rPr>
              <a:t>rightarrow</a:t>
            </a:r>
            <a:r>
              <a:rPr lang="en-IN" b="0" i="0" dirty="0">
                <a:solidFill>
                  <a:schemeClr val="tx1"/>
                </a:solidFill>
                <a:effectLst/>
                <a:latin typeface="+mn-lt"/>
              </a:rPr>
              <a:t>$ want</a:t>
            </a:r>
          </a:p>
          <a:p>
            <a:pPr marL="285750" indent="-285750">
              <a:buFont typeface="+mj-lt"/>
              <a:buAutoNum type="arabicPeriod"/>
            </a:pPr>
            <a:r>
              <a:rPr lang="en-IN" b="0" i="0" dirty="0">
                <a:solidFill>
                  <a:schemeClr val="tx1"/>
                </a:solidFill>
                <a:effectLst/>
                <a:latin typeface="+mn-lt"/>
              </a:rPr>
              <a:t>projects $\</a:t>
            </a:r>
            <a:r>
              <a:rPr lang="en-IN" b="0" i="0" dirty="0" err="1">
                <a:solidFill>
                  <a:schemeClr val="tx1"/>
                </a:solidFill>
                <a:effectLst/>
                <a:latin typeface="+mn-lt"/>
              </a:rPr>
              <a:t>rightarrow</a:t>
            </a:r>
            <a:r>
              <a:rPr lang="en-IN" b="0" i="0" dirty="0">
                <a:solidFill>
                  <a:schemeClr val="tx1"/>
                </a:solidFill>
                <a:effectLst/>
                <a:latin typeface="+mn-lt"/>
              </a:rPr>
              <a:t>$ project</a:t>
            </a:r>
          </a:p>
          <a:p>
            <a:pPr marL="285750" indent="-285750">
              <a:buFont typeface="+mj-lt"/>
              <a:buAutoNum type="arabicPeriod"/>
            </a:pPr>
            <a:r>
              <a:rPr lang="en-IN" b="0" i="0" dirty="0">
                <a:solidFill>
                  <a:schemeClr val="tx1"/>
                </a:solidFill>
                <a:effectLst/>
                <a:latin typeface="+mn-lt"/>
              </a:rPr>
              <a:t>memories $\</a:t>
            </a:r>
            <a:r>
              <a:rPr lang="en-IN" b="0" i="0" dirty="0" err="1">
                <a:solidFill>
                  <a:schemeClr val="tx1"/>
                </a:solidFill>
                <a:effectLst/>
                <a:latin typeface="+mn-lt"/>
              </a:rPr>
              <a:t>rightarrow</a:t>
            </a:r>
            <a:r>
              <a:rPr lang="en-IN" b="0" i="0" dirty="0">
                <a:solidFill>
                  <a:schemeClr val="tx1"/>
                </a:solidFill>
                <a:effectLst/>
                <a:latin typeface="+mn-lt"/>
              </a:rPr>
              <a:t>$ remember If an exact keyword match fails or the query asks a general memory question (e.g. </a:t>
            </a:r>
            <a:r>
              <a:rPr lang="en-IN" b="0" i="1" dirty="0">
                <a:solidFill>
                  <a:schemeClr val="tx1"/>
                </a:solidFill>
                <a:effectLst/>
                <a:latin typeface="+mn-lt"/>
              </a:rPr>
              <a:t>"what did I ask you to remember?"</a:t>
            </a:r>
            <a:r>
              <a:rPr lang="en-IN" b="0" i="0" dirty="0">
                <a:solidFill>
                  <a:schemeClr val="tx1"/>
                </a:solidFill>
                <a:effectLst/>
                <a:latin typeface="+mn-lt"/>
              </a:rPr>
              <a:t>), it automatically falls back to returning the user's stored memories sorted by recency (</a:t>
            </a:r>
            <a:r>
              <a:rPr lang="en-IN" b="0" i="0" dirty="0" err="1">
                <a:solidFill>
                  <a:schemeClr val="tx1"/>
                </a:solidFill>
                <a:effectLst/>
                <a:latin typeface="+mn-lt"/>
              </a:rPr>
              <a:t>updatedAt</a:t>
            </a:r>
            <a:r>
              <a:rPr lang="en-IN" b="0" i="0" dirty="0">
                <a:solidFill>
                  <a:schemeClr val="tx1"/>
                </a:solidFill>
                <a:effectLst/>
                <a:latin typeface="+mn-lt"/>
              </a:rPr>
              <a:t>).</a:t>
            </a:r>
          </a:p>
          <a:p>
            <a:pPr marL="285750" indent="-285750">
              <a:buFont typeface="+mj-lt"/>
              <a:buAutoNum type="arabicPeriod"/>
            </a:pPr>
            <a:endParaRPr lang="en-IN" b="0" i="0" dirty="0">
              <a:solidFill>
                <a:schemeClr val="tx1"/>
              </a:solidFill>
              <a:effectLst/>
              <a:latin typeface="+mn-lt"/>
            </a:endParaRPr>
          </a:p>
          <a:p>
            <a:pPr lvl="0" algn="l"/>
            <a:r>
              <a:rPr lang="en-IN" sz="1800" b="1" i="0" dirty="0">
                <a:solidFill>
                  <a:schemeClr val="tx1"/>
                </a:solidFill>
                <a:effectLst/>
                <a:latin typeface="+mn-lt"/>
              </a:rPr>
              <a:t>Safe Atomic Persistence</a:t>
            </a:r>
            <a:r>
              <a:rPr lang="en-IN" sz="1800" b="0" i="0" dirty="0">
                <a:solidFill>
                  <a:schemeClr val="tx1"/>
                </a:solidFill>
                <a:effectLst/>
                <a:latin typeface="+mn-lt"/>
              </a:rPr>
              <a:t>: </a:t>
            </a:r>
            <a:r>
              <a:rPr lang="en-IN" sz="1800" b="0" i="0" dirty="0" err="1">
                <a:solidFill>
                  <a:schemeClr val="tx1"/>
                </a:solidFill>
                <a:effectLst/>
                <a:latin typeface="+mn-lt"/>
              </a:rPr>
              <a:t>writeStore</a:t>
            </a:r>
            <a:r>
              <a:rPr lang="en-IN" sz="1800" b="0" i="0" dirty="0">
                <a:solidFill>
                  <a:schemeClr val="tx1"/>
                </a:solidFill>
                <a:effectLst/>
                <a:latin typeface="+mn-lt"/>
              </a:rPr>
              <a:t>() writes updates to a .</a:t>
            </a:r>
            <a:r>
              <a:rPr lang="en-IN" sz="1800" b="0" i="0" dirty="0" err="1">
                <a:solidFill>
                  <a:schemeClr val="tx1"/>
                </a:solidFill>
                <a:effectLst/>
                <a:latin typeface="+mn-lt"/>
              </a:rPr>
              <a:t>tmp</a:t>
            </a:r>
            <a:r>
              <a:rPr lang="en-IN" sz="1800" b="0" i="0" dirty="0">
                <a:solidFill>
                  <a:schemeClr val="tx1"/>
                </a:solidFill>
                <a:effectLst/>
                <a:latin typeface="+mn-lt"/>
              </a:rPr>
              <a:t> file before calling </a:t>
            </a:r>
            <a:r>
              <a:rPr lang="en-IN" sz="1800" b="0" i="0" dirty="0" err="1">
                <a:solidFill>
                  <a:schemeClr val="tx1"/>
                </a:solidFill>
                <a:effectLst/>
                <a:latin typeface="+mn-lt"/>
              </a:rPr>
              <a:t>fs.renameSync</a:t>
            </a:r>
            <a:r>
              <a:rPr lang="en-IN" sz="1800" b="0" i="0" dirty="0">
                <a:solidFill>
                  <a:schemeClr val="tx1"/>
                </a:solidFill>
                <a:effectLst/>
                <a:latin typeface="+mn-lt"/>
              </a:rPr>
              <a:t>(), with a fallback to </a:t>
            </a:r>
            <a:r>
              <a:rPr lang="en-IN" sz="1800" b="0" i="0" dirty="0" err="1">
                <a:solidFill>
                  <a:schemeClr val="tx1"/>
                </a:solidFill>
                <a:effectLst/>
                <a:latin typeface="+mn-lt"/>
              </a:rPr>
              <a:t>fs.writeFileSync</a:t>
            </a:r>
            <a:r>
              <a:rPr lang="en-IN" sz="1800" b="0" i="0" dirty="0">
                <a:solidFill>
                  <a:schemeClr val="tx1"/>
                </a:solidFill>
                <a:effectLst/>
                <a:latin typeface="+mn-lt"/>
              </a:rPr>
              <a:t>() to handle Windows file locking gracefully</a:t>
            </a:r>
            <a:endParaRPr lang="en-IN" sz="976" b="0" i="0" dirty="0">
              <a:solidFill>
                <a:srgbClr val="CCCCCC"/>
              </a:solidFill>
              <a:effectLst/>
              <a:latin typeface="Segoe WPC"/>
            </a:endParaRPr>
          </a:p>
        </p:txBody>
      </p:sp>
    </p:spTree>
    <p:extLst>
      <p:ext uri="{BB962C8B-B14F-4D97-AF65-F5344CB8AC3E}">
        <p14:creationId xmlns:p14="http://schemas.microsoft.com/office/powerpoint/2010/main" val="86535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66D06E-CB57-5025-EE3B-2D3912C7A620}"/>
              </a:ext>
            </a:extLst>
          </p:cNvPr>
          <p:cNvPicPr>
            <a:picLocks noChangeAspect="1"/>
          </p:cNvPicPr>
          <p:nvPr/>
        </p:nvPicPr>
        <p:blipFill>
          <a:blip r:embed="rId2"/>
          <a:stretch>
            <a:fillRect/>
          </a:stretch>
        </p:blipFill>
        <p:spPr>
          <a:xfrm>
            <a:off x="5385816" y="1056508"/>
            <a:ext cx="6440424" cy="4689629"/>
          </a:xfrm>
          <a:prstGeom prst="rect">
            <a:avLst/>
          </a:prstGeom>
        </p:spPr>
      </p:pic>
      <p:sp>
        <p:nvSpPr>
          <p:cNvPr id="8" name="TextBox 7">
            <a:extLst>
              <a:ext uri="{FF2B5EF4-FFF2-40B4-BE49-F238E27FC236}">
                <a16:creationId xmlns:a16="http://schemas.microsoft.com/office/drawing/2014/main" id="{1B33A1B0-A9C4-B30F-5989-2B89E94DD5E3}"/>
              </a:ext>
            </a:extLst>
          </p:cNvPr>
          <p:cNvSpPr txBox="1"/>
          <p:nvPr/>
        </p:nvSpPr>
        <p:spPr>
          <a:xfrm>
            <a:off x="365760" y="1056508"/>
            <a:ext cx="3904683" cy="1992918"/>
          </a:xfrm>
          <a:prstGeom prst="rect">
            <a:avLst/>
          </a:prstGeom>
          <a:noFill/>
        </p:spPr>
        <p:txBody>
          <a:bodyPr wrap="square">
            <a:spAutoFit/>
          </a:bodyPr>
          <a:lstStyle/>
          <a:p>
            <a:pPr marL="0" marR="0" indent="-228600">
              <a:lnSpc>
                <a:spcPct val="90000"/>
              </a:lnSpc>
              <a:spcAft>
                <a:spcPts val="600"/>
              </a:spcAft>
              <a:buFont typeface="Arial" panose="020B0604020202020204" pitchFamily="34" charset="0"/>
              <a:buChar char="•"/>
            </a:pPr>
            <a:r>
              <a:rPr lang="en-US" sz="1800" b="1" i="0" dirty="0">
                <a:effectLst/>
              </a:rPr>
              <a:t>How Memory &amp; Context are Injected into the Model</a:t>
            </a:r>
          </a:p>
          <a:p>
            <a:pPr marL="0" marR="0" indent="-228600">
              <a:lnSpc>
                <a:spcPct val="90000"/>
              </a:lnSpc>
              <a:spcAft>
                <a:spcPts val="600"/>
              </a:spcAft>
              <a:buFont typeface="Arial" panose="020B0604020202020204" pitchFamily="34" charset="0"/>
              <a:buChar char="•"/>
            </a:pPr>
            <a:endParaRPr lang="en-US" sz="1800" b="1" i="0" dirty="0">
              <a:effectLst/>
            </a:endParaRPr>
          </a:p>
          <a:p>
            <a:pPr marR="0">
              <a:lnSpc>
                <a:spcPct val="90000"/>
              </a:lnSpc>
              <a:spcAft>
                <a:spcPts val="600"/>
              </a:spcAft>
            </a:pPr>
            <a:r>
              <a:rPr lang="en-US" sz="1800" b="0" i="0" dirty="0">
                <a:effectLst/>
              </a:rPr>
              <a:t>In </a:t>
            </a:r>
            <a:r>
              <a:rPr lang="en-US" sz="1800" b="0" i="0" dirty="0" err="1">
                <a:effectLst/>
              </a:rPr>
              <a:t>src</a:t>
            </a:r>
            <a:r>
              <a:rPr lang="en-US" sz="1800" b="0" i="0" dirty="0">
                <a:effectLst/>
              </a:rPr>
              <a:t>/agent.js, before invoking </a:t>
            </a:r>
            <a:r>
              <a:rPr lang="en-US" sz="1800" b="0" i="0" dirty="0" err="1">
                <a:effectLst/>
              </a:rPr>
              <a:t>Ollama</a:t>
            </a:r>
            <a:r>
              <a:rPr lang="en-US" sz="1800" b="0" i="0" dirty="0">
                <a:effectLst/>
              </a:rPr>
              <a:t> or Gemini, the orchestrator constructs a system context message:</a:t>
            </a:r>
          </a:p>
        </p:txBody>
      </p:sp>
    </p:spTree>
    <p:extLst>
      <p:ext uri="{BB962C8B-B14F-4D97-AF65-F5344CB8AC3E}">
        <p14:creationId xmlns:p14="http://schemas.microsoft.com/office/powerpoint/2010/main" val="3523129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56257A-3FDC-D022-ED04-B59D132C05A0}"/>
              </a:ext>
            </a:extLst>
          </p:cNvPr>
          <p:cNvSpPr txBox="1"/>
          <p:nvPr/>
        </p:nvSpPr>
        <p:spPr>
          <a:xfrm>
            <a:off x="323088" y="639193"/>
            <a:ext cx="3887604" cy="1977547"/>
          </a:xfrm>
          <a:prstGeom prst="rect">
            <a:avLst/>
          </a:prstGeom>
        </p:spPr>
        <p:txBody>
          <a:bodyPr vert="horz" lIns="91440" tIns="45720" rIns="91440" bIns="45720" rtlCol="0" anchor="t" anchorCtr="0">
            <a:normAutofit/>
          </a:bodyPr>
          <a:lstStyle/>
          <a:p>
            <a:pPr marL="285750" marR="0" indent="-285750">
              <a:lnSpc>
                <a:spcPct val="90000"/>
              </a:lnSpc>
              <a:spcBef>
                <a:spcPct val="0"/>
              </a:spcBef>
              <a:spcAft>
                <a:spcPts val="600"/>
              </a:spcAft>
              <a:buFont typeface="Arial" panose="020B0604020202020204" pitchFamily="34" charset="0"/>
              <a:buChar char="•"/>
            </a:pPr>
            <a:r>
              <a:rPr lang="en-US" b="1" i="0" kern="1200" dirty="0">
                <a:solidFill>
                  <a:schemeClr val="tx1"/>
                </a:solidFill>
                <a:effectLst/>
                <a:latin typeface="+mj-lt"/>
                <a:ea typeface="+mj-ea"/>
                <a:cs typeface="+mj-cs"/>
              </a:rPr>
              <a:t>Tool Context (</a:t>
            </a:r>
            <a:r>
              <a:rPr lang="en-US" b="1" i="0" kern="1200" dirty="0" err="1">
                <a:solidFill>
                  <a:schemeClr val="tx1"/>
                </a:solidFill>
                <a:effectLst/>
                <a:latin typeface="+mj-lt"/>
                <a:ea typeface="+mj-ea"/>
                <a:cs typeface="+mj-cs"/>
              </a:rPr>
              <a:t>createContext</a:t>
            </a:r>
            <a:r>
              <a:rPr lang="en-US" b="1" i="0" kern="1200" dirty="0">
                <a:solidFill>
                  <a:schemeClr val="tx1"/>
                </a:solidFill>
                <a:effectLst/>
                <a:latin typeface="+mj-lt"/>
                <a:ea typeface="+mj-ea"/>
                <a:cs typeface="+mj-cs"/>
              </a:rPr>
              <a:t> in </a:t>
            </a:r>
            <a:r>
              <a:rPr lang="en-US" b="1" i="0" kern="1200" dirty="0" err="1">
                <a:solidFill>
                  <a:schemeClr val="tx1"/>
                </a:solidFill>
                <a:effectLst/>
                <a:latin typeface="+mj-lt"/>
                <a:ea typeface="+mj-ea"/>
                <a:cs typeface="+mj-cs"/>
              </a:rPr>
              <a:t>src</a:t>
            </a:r>
            <a:r>
              <a:rPr lang="en-US" b="1" i="0" kern="1200" dirty="0">
                <a:solidFill>
                  <a:schemeClr val="tx1"/>
                </a:solidFill>
                <a:effectLst/>
                <a:latin typeface="+mj-lt"/>
                <a:ea typeface="+mj-ea"/>
                <a:cs typeface="+mj-cs"/>
              </a:rPr>
              <a:t>/toolImpl.js)</a:t>
            </a:r>
          </a:p>
          <a:p>
            <a:pPr marL="0" marR="0" indent="0">
              <a:lnSpc>
                <a:spcPct val="90000"/>
              </a:lnSpc>
              <a:spcBef>
                <a:spcPct val="0"/>
              </a:spcBef>
              <a:spcAft>
                <a:spcPts val="600"/>
              </a:spcAft>
            </a:pPr>
            <a:endParaRPr lang="en-US" b="1" i="0" kern="1200" dirty="0">
              <a:solidFill>
                <a:schemeClr val="tx1"/>
              </a:solidFill>
              <a:effectLst/>
              <a:latin typeface="+mj-lt"/>
              <a:ea typeface="+mj-ea"/>
              <a:cs typeface="+mj-cs"/>
            </a:endParaRPr>
          </a:p>
          <a:p>
            <a:pPr marL="0" marR="0" indent="0">
              <a:lnSpc>
                <a:spcPct val="90000"/>
              </a:lnSpc>
              <a:spcBef>
                <a:spcPct val="0"/>
              </a:spcBef>
              <a:spcAft>
                <a:spcPts val="600"/>
              </a:spcAft>
            </a:pPr>
            <a:r>
              <a:rPr lang="en-US" b="0" i="0" kern="1200" dirty="0">
                <a:solidFill>
                  <a:schemeClr val="tx1"/>
                </a:solidFill>
                <a:effectLst/>
                <a:latin typeface="+mj-lt"/>
                <a:ea typeface="+mj-ea"/>
                <a:cs typeface="+mj-cs"/>
              </a:rPr>
              <a:t>Separate from conversational memory, each request creates an </a:t>
            </a:r>
            <a:r>
              <a:rPr lang="en-US" b="1" i="0" kern="1200" dirty="0">
                <a:solidFill>
                  <a:schemeClr val="tx1"/>
                </a:solidFill>
                <a:effectLst/>
                <a:latin typeface="+mj-lt"/>
                <a:ea typeface="+mj-ea"/>
                <a:cs typeface="+mj-cs"/>
              </a:rPr>
              <a:t>execution context</a:t>
            </a:r>
            <a:r>
              <a:rPr lang="en-US" b="0" i="0" kern="1200" dirty="0">
                <a:solidFill>
                  <a:schemeClr val="tx1"/>
                </a:solidFill>
                <a:effectLst/>
                <a:latin typeface="+mj-lt"/>
                <a:ea typeface="+mj-ea"/>
                <a:cs typeface="+mj-cs"/>
              </a:rPr>
              <a:t>:</a:t>
            </a:r>
          </a:p>
        </p:txBody>
      </p:sp>
      <p:pic>
        <p:nvPicPr>
          <p:cNvPr id="5" name="Picture 4">
            <a:extLst>
              <a:ext uri="{FF2B5EF4-FFF2-40B4-BE49-F238E27FC236}">
                <a16:creationId xmlns:a16="http://schemas.microsoft.com/office/drawing/2014/main" id="{CDDE696A-DC6E-59E1-C6C5-DCB583BD287D}"/>
              </a:ext>
            </a:extLst>
          </p:cNvPr>
          <p:cNvPicPr>
            <a:picLocks noChangeAspect="1"/>
          </p:cNvPicPr>
          <p:nvPr/>
        </p:nvPicPr>
        <p:blipFill>
          <a:blip r:embed="rId2"/>
          <a:stretch>
            <a:fillRect/>
          </a:stretch>
        </p:blipFill>
        <p:spPr>
          <a:xfrm>
            <a:off x="4654296" y="1169735"/>
            <a:ext cx="7214616" cy="4491097"/>
          </a:xfrm>
          <a:prstGeom prst="rect">
            <a:avLst/>
          </a:prstGeom>
        </p:spPr>
      </p:pic>
    </p:spTree>
    <p:extLst>
      <p:ext uri="{BB962C8B-B14F-4D97-AF65-F5344CB8AC3E}">
        <p14:creationId xmlns:p14="http://schemas.microsoft.com/office/powerpoint/2010/main" val="3642555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CB7D43-FC7F-B322-8BAA-4C15B2AD74EE}"/>
              </a:ext>
            </a:extLst>
          </p:cNvPr>
          <p:cNvSpPr txBox="1"/>
          <p:nvPr/>
        </p:nvSpPr>
        <p:spPr>
          <a:xfrm>
            <a:off x="214009" y="437267"/>
            <a:ext cx="8100707" cy="430887"/>
          </a:xfrm>
          <a:prstGeom prst="rect">
            <a:avLst/>
          </a:prstGeom>
          <a:noFill/>
        </p:spPr>
        <p:txBody>
          <a:bodyPr wrap="square">
            <a:spAutoFit/>
          </a:bodyPr>
          <a:lstStyle/>
          <a:p>
            <a:pPr>
              <a:defRPr sz="2200" b="1">
                <a:solidFill>
                  <a:srgbClr val="0F172A"/>
                </a:solidFill>
                <a:latin typeface="Arial"/>
              </a:defRPr>
            </a:pPr>
            <a:r>
              <a:rPr lang="en-US" sz="2200" dirty="0">
                <a:solidFill>
                  <a:schemeClr val="accent1">
                    <a:lumMod val="60000"/>
                    <a:lumOff val="40000"/>
                  </a:schemeClr>
                </a:solidFill>
              </a:rPr>
              <a:t>Security &amp; Safety Guardrails Implemented in Code</a:t>
            </a:r>
          </a:p>
        </p:txBody>
      </p:sp>
      <p:sp>
        <p:nvSpPr>
          <p:cNvPr id="5" name="TextBox 4">
            <a:extLst>
              <a:ext uri="{FF2B5EF4-FFF2-40B4-BE49-F238E27FC236}">
                <a16:creationId xmlns:a16="http://schemas.microsoft.com/office/drawing/2014/main" id="{22C358A7-FE01-62F5-B83D-5BA5D1E0FDAC}"/>
              </a:ext>
            </a:extLst>
          </p:cNvPr>
          <p:cNvSpPr txBox="1"/>
          <p:nvPr/>
        </p:nvSpPr>
        <p:spPr>
          <a:xfrm>
            <a:off x="418288" y="1245859"/>
            <a:ext cx="11196538" cy="2015936"/>
          </a:xfrm>
          <a:prstGeom prst="rect">
            <a:avLst/>
          </a:prstGeom>
          <a:noFill/>
        </p:spPr>
        <p:txBody>
          <a:bodyPr wrap="square">
            <a:spAutoFit/>
          </a:bodyPr>
          <a:lstStyle/>
          <a:p>
            <a:pPr algn="ctr">
              <a:defRPr sz="1500" b="1">
                <a:solidFill>
                  <a:srgbClr val="0F172A"/>
                </a:solidFill>
                <a:latin typeface="Arial"/>
              </a:defRPr>
            </a:pPr>
            <a:r>
              <a:rPr lang="en-IN" sz="2000" dirty="0"/>
              <a:t>Application Guardrail Layer</a:t>
            </a:r>
          </a:p>
          <a:p>
            <a:pPr algn="ctr">
              <a:defRPr sz="1500" b="1">
                <a:solidFill>
                  <a:srgbClr val="0F172A"/>
                </a:solidFill>
                <a:latin typeface="Arial"/>
              </a:defRPr>
            </a:pPr>
            <a:endParaRPr lang="en-IN" sz="2000" dirty="0"/>
          </a:p>
          <a:p>
            <a:pPr>
              <a:spcBef>
                <a:spcPts val="600"/>
              </a:spcBef>
              <a:defRPr sz="1200">
                <a:solidFill>
                  <a:srgbClr val="334155"/>
                </a:solidFill>
                <a:latin typeface="Arial"/>
              </a:defRPr>
            </a:pPr>
            <a:r>
              <a:rPr lang="en-IN" sz="1400" b="1" dirty="0">
                <a:solidFill>
                  <a:srgbClr val="0F172A"/>
                </a:solidFill>
              </a:rPr>
              <a:t>• Confirmation Gate Enforcement: </a:t>
            </a:r>
            <a:r>
              <a:rPr lang="en-IN" sz="1400" dirty="0" err="1"/>
              <a:t>mutatingTools</a:t>
            </a:r>
            <a:r>
              <a:rPr lang="en-IN" sz="1400" dirty="0"/>
              <a:t> set { </a:t>
            </a:r>
            <a:r>
              <a:rPr lang="en-IN" sz="1400" dirty="0" err="1"/>
              <a:t>update_task_status</a:t>
            </a:r>
            <a:r>
              <a:rPr lang="en-IN" sz="1400" dirty="0"/>
              <a:t>, </a:t>
            </a:r>
            <a:r>
              <a:rPr lang="en-IN" sz="1400" dirty="0" err="1"/>
              <a:t>assign_task</a:t>
            </a:r>
            <a:r>
              <a:rPr lang="en-IN" sz="1400" dirty="0"/>
              <a:t> } requires explicit confirmed: true flag in payload.</a:t>
            </a:r>
          </a:p>
          <a:p>
            <a:pPr>
              <a:spcBef>
                <a:spcPts val="600"/>
              </a:spcBef>
              <a:defRPr sz="1200">
                <a:solidFill>
                  <a:srgbClr val="334155"/>
                </a:solidFill>
                <a:latin typeface="Arial"/>
              </a:defRPr>
            </a:pPr>
            <a:r>
              <a:rPr lang="en-IN" sz="1400" b="1" dirty="0">
                <a:solidFill>
                  <a:srgbClr val="0F172A"/>
                </a:solidFill>
              </a:rPr>
              <a:t>• Argument Pattern Regex Guards: </a:t>
            </a:r>
            <a:r>
              <a:rPr lang="en-IN" sz="1400" dirty="0" err="1"/>
              <a:t>validateToolArguments</a:t>
            </a:r>
            <a:r>
              <a:rPr lang="en-IN" sz="1400" dirty="0"/>
              <a:t> checks </a:t>
            </a:r>
            <a:r>
              <a:rPr lang="en-IN" sz="1400" dirty="0" err="1"/>
              <a:t>taskId</a:t>
            </a:r>
            <a:r>
              <a:rPr lang="en-IN" sz="1400" dirty="0"/>
              <a:t> /^TASK[0-9]+$/ and </a:t>
            </a:r>
            <a:r>
              <a:rPr lang="en-IN" sz="1400" dirty="0" err="1"/>
              <a:t>assigneeId</a:t>
            </a:r>
            <a:r>
              <a:rPr lang="en-IN" sz="1400" dirty="0"/>
              <a:t> /^EMP[0-9]+$/ before JS execution.</a:t>
            </a:r>
          </a:p>
          <a:p>
            <a:pPr>
              <a:spcBef>
                <a:spcPts val="600"/>
              </a:spcBef>
              <a:defRPr sz="1200">
                <a:solidFill>
                  <a:srgbClr val="334155"/>
                </a:solidFill>
                <a:latin typeface="Arial"/>
              </a:defRPr>
            </a:pPr>
            <a:r>
              <a:rPr lang="en-IN" sz="1400" b="1" dirty="0">
                <a:solidFill>
                  <a:srgbClr val="0F172A"/>
                </a:solidFill>
              </a:rPr>
              <a:t>• Request Deduplication Cache: </a:t>
            </a:r>
            <a:r>
              <a:rPr lang="en-IN" sz="1400" dirty="0" err="1"/>
              <a:t>callCache</a:t>
            </a:r>
            <a:r>
              <a:rPr lang="en-IN" sz="1400" dirty="0"/>
              <a:t> Map builds key from </a:t>
            </a:r>
            <a:r>
              <a:rPr lang="en-IN" sz="1400" dirty="0" err="1"/>
              <a:t>toolName</a:t>
            </a:r>
            <a:r>
              <a:rPr lang="en-IN" sz="1400" dirty="0"/>
              <a:t> + sorted JSON </a:t>
            </a:r>
            <a:r>
              <a:rPr lang="en-IN" sz="1400" dirty="0" err="1"/>
              <a:t>args</a:t>
            </a:r>
            <a:r>
              <a:rPr lang="en-IN" sz="1400" dirty="0"/>
              <a:t>. Duplicate calls within a request return cached output immediately.</a:t>
            </a:r>
          </a:p>
        </p:txBody>
      </p:sp>
      <p:sp>
        <p:nvSpPr>
          <p:cNvPr id="7" name="TextBox 6">
            <a:extLst>
              <a:ext uri="{FF2B5EF4-FFF2-40B4-BE49-F238E27FC236}">
                <a16:creationId xmlns:a16="http://schemas.microsoft.com/office/drawing/2014/main" id="{20DD72AA-31C0-87CF-D30B-4B384D005A9E}"/>
              </a:ext>
            </a:extLst>
          </p:cNvPr>
          <p:cNvSpPr txBox="1"/>
          <p:nvPr/>
        </p:nvSpPr>
        <p:spPr>
          <a:xfrm>
            <a:off x="330740" y="4176755"/>
            <a:ext cx="11284086" cy="1277273"/>
          </a:xfrm>
          <a:prstGeom prst="rect">
            <a:avLst/>
          </a:prstGeom>
          <a:noFill/>
        </p:spPr>
        <p:txBody>
          <a:bodyPr wrap="square">
            <a:spAutoFit/>
          </a:bodyPr>
          <a:lstStyle/>
          <a:p>
            <a:pPr algn="ctr">
              <a:defRPr sz="1500" b="1">
                <a:solidFill>
                  <a:srgbClr val="0F172A"/>
                </a:solidFill>
                <a:latin typeface="Arial"/>
              </a:defRPr>
            </a:pPr>
            <a:r>
              <a:rPr lang="en-US" sz="2000" dirty="0"/>
              <a:t>Failure Handling &amp; Safety Stops</a:t>
            </a:r>
          </a:p>
          <a:p>
            <a:pPr>
              <a:spcBef>
                <a:spcPts val="600"/>
              </a:spcBef>
              <a:defRPr sz="1200">
                <a:solidFill>
                  <a:srgbClr val="334155"/>
                </a:solidFill>
                <a:latin typeface="Arial"/>
              </a:defRPr>
            </a:pPr>
            <a:r>
              <a:rPr lang="en-US" sz="1400" b="1" dirty="0">
                <a:solidFill>
                  <a:srgbClr val="0F172A"/>
                </a:solidFill>
              </a:rPr>
              <a:t>• LLM Connection Failure Catch: </a:t>
            </a:r>
            <a:r>
              <a:rPr lang="en-US" sz="1400" dirty="0"/>
              <a:t>If </a:t>
            </a:r>
            <a:r>
              <a:rPr lang="en-US" sz="1400" dirty="0" err="1"/>
              <a:t>Ollama</a:t>
            </a:r>
            <a:r>
              <a:rPr lang="en-US" sz="1400" dirty="0"/>
              <a:t>/Gemini API fails, run terminates with stopped: '</a:t>
            </a:r>
            <a:r>
              <a:rPr lang="en-US" sz="1400" dirty="0" err="1"/>
              <a:t>model_error</a:t>
            </a:r>
            <a:r>
              <a:rPr lang="en-US" sz="1400" dirty="0"/>
              <a:t>' and incomplete evidence warning.</a:t>
            </a:r>
          </a:p>
          <a:p>
            <a:pPr>
              <a:spcBef>
                <a:spcPts val="600"/>
              </a:spcBef>
              <a:defRPr sz="1200">
                <a:solidFill>
                  <a:srgbClr val="334155"/>
                </a:solidFill>
                <a:latin typeface="Arial"/>
              </a:defRPr>
            </a:pPr>
            <a:r>
              <a:rPr lang="en-US" sz="1400" b="1" dirty="0">
                <a:solidFill>
                  <a:srgbClr val="0F172A"/>
                </a:solidFill>
              </a:rPr>
              <a:t>• Iteration Limit Cap: </a:t>
            </a:r>
            <a:r>
              <a:rPr lang="en-US" sz="1400" dirty="0"/>
              <a:t>MAX_ITERATIONS = 15 prevents runaway loops, terminating gracefully with stopped: '</a:t>
            </a:r>
            <a:r>
              <a:rPr lang="en-US" sz="1400" dirty="0" err="1"/>
              <a:t>max_iterations</a:t>
            </a:r>
            <a:r>
              <a:rPr lang="en-US" sz="1400" dirty="0"/>
              <a:t>'.</a:t>
            </a:r>
          </a:p>
          <a:p>
            <a:pPr>
              <a:spcBef>
                <a:spcPts val="600"/>
              </a:spcBef>
              <a:defRPr sz="1200">
                <a:solidFill>
                  <a:srgbClr val="334155"/>
                </a:solidFill>
                <a:latin typeface="Arial"/>
              </a:defRPr>
            </a:pPr>
            <a:r>
              <a:rPr lang="en-US" sz="1400" b="1" dirty="0">
                <a:solidFill>
                  <a:srgbClr val="0F172A"/>
                </a:solidFill>
              </a:rPr>
              <a:t>• Execution Trace Auditing: </a:t>
            </a:r>
            <a:r>
              <a:rPr lang="en-US" sz="1400" dirty="0"/>
              <a:t>Every tool call attempt, arguments, and outcome are logged in </a:t>
            </a:r>
            <a:r>
              <a:rPr lang="en-US" sz="1400" dirty="0" err="1"/>
              <a:t>executionTrace</a:t>
            </a:r>
            <a:r>
              <a:rPr lang="en-US" sz="1400" dirty="0"/>
              <a:t> array.</a:t>
            </a:r>
          </a:p>
        </p:txBody>
      </p:sp>
    </p:spTree>
    <p:extLst>
      <p:ext uri="{BB962C8B-B14F-4D97-AF65-F5344CB8AC3E}">
        <p14:creationId xmlns:p14="http://schemas.microsoft.com/office/powerpoint/2010/main" val="529770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B30946-C45D-932F-7B50-361596446D24}"/>
              </a:ext>
            </a:extLst>
          </p:cNvPr>
          <p:cNvSpPr txBox="1"/>
          <p:nvPr/>
        </p:nvSpPr>
        <p:spPr>
          <a:xfrm>
            <a:off x="505838" y="304987"/>
            <a:ext cx="6378912" cy="430887"/>
          </a:xfrm>
          <a:prstGeom prst="rect">
            <a:avLst/>
          </a:prstGeom>
          <a:noFill/>
        </p:spPr>
        <p:txBody>
          <a:bodyPr wrap="square">
            <a:spAutoFit/>
          </a:bodyPr>
          <a:lstStyle/>
          <a:p>
            <a:pPr>
              <a:defRPr sz="2200" b="1">
                <a:solidFill>
                  <a:srgbClr val="0F172A"/>
                </a:solidFill>
                <a:latin typeface="Arial"/>
              </a:defRPr>
            </a:pPr>
            <a:r>
              <a:rPr lang="en-IN" sz="2200" dirty="0"/>
              <a:t>Limitations &amp; Open Failure Modes</a:t>
            </a:r>
          </a:p>
        </p:txBody>
      </p:sp>
      <p:sp>
        <p:nvSpPr>
          <p:cNvPr id="4" name="Rounded Rectangle 2">
            <a:extLst>
              <a:ext uri="{FF2B5EF4-FFF2-40B4-BE49-F238E27FC236}">
                <a16:creationId xmlns:a16="http://schemas.microsoft.com/office/drawing/2014/main" id="{4B2E36BB-2070-930F-5233-498B50FD8AD7}"/>
              </a:ext>
            </a:extLst>
          </p:cNvPr>
          <p:cNvSpPr/>
          <p:nvPr/>
        </p:nvSpPr>
        <p:spPr>
          <a:xfrm>
            <a:off x="581973" y="1353117"/>
            <a:ext cx="5175504" cy="4754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0F172A"/>
                </a:solidFill>
                <a:latin typeface="Arial"/>
              </a:defRPr>
            </a:pPr>
            <a:endParaRPr lang="en-IN" dirty="0"/>
          </a:p>
          <a:p>
            <a:pPr algn="ctr">
              <a:defRPr sz="1500" b="1">
                <a:solidFill>
                  <a:srgbClr val="0F172A"/>
                </a:solidFill>
                <a:latin typeface="Arial"/>
              </a:defRPr>
            </a:pPr>
            <a:endParaRPr lang="en-IN" dirty="0"/>
          </a:p>
          <a:p>
            <a:pPr algn="ctr">
              <a:defRPr sz="1500" b="1">
                <a:solidFill>
                  <a:srgbClr val="0F172A"/>
                </a:solidFill>
                <a:latin typeface="Arial"/>
              </a:defRPr>
            </a:pPr>
            <a:r>
              <a:rPr dirty="0"/>
              <a:t>Architectural &amp; Tool-Calling Limits</a:t>
            </a:r>
          </a:p>
          <a:p>
            <a:pPr>
              <a:spcBef>
                <a:spcPts val="600"/>
              </a:spcBef>
              <a:defRPr sz="1200">
                <a:solidFill>
                  <a:srgbClr val="334155"/>
                </a:solidFill>
                <a:latin typeface="Arial"/>
              </a:defRPr>
            </a:pPr>
            <a:r>
              <a:rPr b="1" dirty="0">
                <a:solidFill>
                  <a:srgbClr val="0F172A"/>
                </a:solidFill>
              </a:rPr>
              <a:t>• Iteration Cap Ceiling: </a:t>
            </a:r>
            <a:r>
              <a:rPr dirty="0"/>
              <a:t>Max iteration limit (15) prevents deep multi-project traversal if queries are overly complex.</a:t>
            </a:r>
          </a:p>
          <a:p>
            <a:pPr>
              <a:spcBef>
                <a:spcPts val="600"/>
              </a:spcBef>
              <a:defRPr sz="1200">
                <a:solidFill>
                  <a:srgbClr val="334155"/>
                </a:solidFill>
                <a:latin typeface="Arial"/>
              </a:defRPr>
            </a:pPr>
            <a:r>
              <a:rPr b="1" dirty="0">
                <a:solidFill>
                  <a:srgbClr val="0F172A"/>
                </a:solidFill>
              </a:rPr>
              <a:t>• Local LLM Reasoning Caps: </a:t>
            </a:r>
            <a:r>
              <a:rPr dirty="0"/>
              <a:t>Smaller local models (Llama 3.2 3B/4B) struggle with nested multi-tool reasoning chains compared to cloud LLMs.</a:t>
            </a:r>
          </a:p>
          <a:p>
            <a:pPr>
              <a:spcBef>
                <a:spcPts val="600"/>
              </a:spcBef>
              <a:defRPr sz="1200">
                <a:solidFill>
                  <a:srgbClr val="334155"/>
                </a:solidFill>
                <a:latin typeface="Arial"/>
              </a:defRPr>
            </a:pPr>
            <a:r>
              <a:rPr b="1" dirty="0">
                <a:solidFill>
                  <a:srgbClr val="0F172A"/>
                </a:solidFill>
              </a:rPr>
              <a:t>• Keyword Memory Search Limitations: </a:t>
            </a:r>
            <a:r>
              <a:rPr dirty="0"/>
              <a:t>Exact token overlap memory search can fail on semantic synonyms (e.g. 'urgent' vs 'priority').</a:t>
            </a:r>
          </a:p>
        </p:txBody>
      </p:sp>
      <p:sp>
        <p:nvSpPr>
          <p:cNvPr id="5" name="Rounded Rectangle 3">
            <a:extLst>
              <a:ext uri="{FF2B5EF4-FFF2-40B4-BE49-F238E27FC236}">
                <a16:creationId xmlns:a16="http://schemas.microsoft.com/office/drawing/2014/main" id="{C33EB9BE-8AE0-F8DA-CDF5-225ACA23B134}"/>
              </a:ext>
            </a:extLst>
          </p:cNvPr>
          <p:cNvSpPr/>
          <p:nvPr/>
        </p:nvSpPr>
        <p:spPr>
          <a:xfrm>
            <a:off x="6269152" y="1353117"/>
            <a:ext cx="5175504" cy="4754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0F172A"/>
                </a:solidFill>
                <a:latin typeface="Arial"/>
              </a:defRPr>
            </a:pPr>
            <a:r>
              <a:rPr dirty="0"/>
              <a:t>Rate Limits &amp; Operational Constraints</a:t>
            </a:r>
          </a:p>
          <a:p>
            <a:pPr>
              <a:spcBef>
                <a:spcPts val="600"/>
              </a:spcBef>
              <a:defRPr sz="1200">
                <a:solidFill>
                  <a:srgbClr val="334155"/>
                </a:solidFill>
                <a:latin typeface="Arial"/>
              </a:defRPr>
            </a:pPr>
            <a:r>
              <a:rPr b="1" dirty="0">
                <a:solidFill>
                  <a:srgbClr val="0F172A"/>
                </a:solidFill>
              </a:rPr>
              <a:t>• Cloud Provider Rate Limits: </a:t>
            </a:r>
            <a:r>
              <a:rPr dirty="0"/>
              <a:t>Gemini free tier (15 RPM) rapidly triggers 429 errors during </a:t>
            </a:r>
            <a:r>
              <a:rPr lang="en-IN" dirty="0"/>
              <a:t>logic intensive</a:t>
            </a:r>
            <a:r>
              <a:rPr dirty="0"/>
              <a:t> multi-step loops.</a:t>
            </a:r>
          </a:p>
          <a:p>
            <a:pPr>
              <a:spcBef>
                <a:spcPts val="600"/>
              </a:spcBef>
              <a:defRPr sz="1200">
                <a:solidFill>
                  <a:srgbClr val="334155"/>
                </a:solidFill>
                <a:latin typeface="Arial"/>
              </a:defRPr>
            </a:pPr>
            <a:r>
              <a:rPr b="1" dirty="0">
                <a:solidFill>
                  <a:srgbClr val="0F172A"/>
                </a:solidFill>
              </a:rPr>
              <a:t>• Single-Threaded Execution: </a:t>
            </a:r>
            <a:r>
              <a:rPr dirty="0"/>
              <a:t>Tool execution loop runs sequentially per request; parallel tool calls are not </a:t>
            </a:r>
            <a:r>
              <a:rPr lang="en-IN" dirty="0"/>
              <a:t>implemented in my project</a:t>
            </a:r>
            <a:r>
              <a:rPr dirty="0"/>
              <a:t>.</a:t>
            </a:r>
          </a:p>
        </p:txBody>
      </p:sp>
    </p:spTree>
    <p:extLst>
      <p:ext uri="{BB962C8B-B14F-4D97-AF65-F5344CB8AC3E}">
        <p14:creationId xmlns:p14="http://schemas.microsoft.com/office/powerpoint/2010/main" val="2658321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17F62E-0979-0C22-8609-2DB4C3FC9A5D}"/>
              </a:ext>
            </a:extLst>
          </p:cNvPr>
          <p:cNvSpPr txBox="1"/>
          <p:nvPr/>
        </p:nvSpPr>
        <p:spPr>
          <a:xfrm>
            <a:off x="401264" y="287126"/>
            <a:ext cx="11592940" cy="1200329"/>
          </a:xfrm>
          <a:prstGeom prst="rect">
            <a:avLst/>
          </a:prstGeom>
          <a:noFill/>
        </p:spPr>
        <p:txBody>
          <a:bodyPr wrap="square">
            <a:spAutoFit/>
          </a:bodyPr>
          <a:lstStyle/>
          <a:p>
            <a:r>
              <a:rPr lang="en-IN" b="1" dirty="0"/>
              <a:t>Agent Testing</a:t>
            </a:r>
          </a:p>
          <a:p>
            <a:endParaRPr lang="en-IN" b="1" dirty="0"/>
          </a:p>
          <a:p>
            <a:r>
              <a:rPr lang="en-IN" dirty="0"/>
              <a:t>We will test  our Ai agent with different requests and document them here along with request body, expected answer, actual answer, pass/fail, </a:t>
            </a:r>
            <a:r>
              <a:rPr lang="en-IN" dirty="0" err="1"/>
              <a:t>tool_calls</a:t>
            </a:r>
            <a:endParaRPr lang="en-IN" dirty="0"/>
          </a:p>
        </p:txBody>
      </p:sp>
      <p:sp>
        <p:nvSpPr>
          <p:cNvPr id="5" name="TextBox 4">
            <a:extLst>
              <a:ext uri="{FF2B5EF4-FFF2-40B4-BE49-F238E27FC236}">
                <a16:creationId xmlns:a16="http://schemas.microsoft.com/office/drawing/2014/main" id="{DACEED24-4805-8031-B9C5-0ABCBA25059C}"/>
              </a:ext>
            </a:extLst>
          </p:cNvPr>
          <p:cNvSpPr txBox="1"/>
          <p:nvPr/>
        </p:nvSpPr>
        <p:spPr>
          <a:xfrm>
            <a:off x="401265" y="2067182"/>
            <a:ext cx="4696030" cy="4072910"/>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1:</a:t>
            </a:r>
            <a:endParaRPr lang="en-IN" sz="16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message":"who</a:t>
            </a:r>
            <a:r>
              <a:rPr lang="en-IN" sz="1600" dirty="0">
                <a:effectLst/>
                <a:latin typeface="+mn-lt"/>
                <a:ea typeface="Calibri" panose="020F0502020204030204" pitchFamily="34" charset="0"/>
                <a:cs typeface="Mangal" panose="02040503050203030202" pitchFamily="18" charset="0"/>
              </a:rPr>
              <a:t> is the employee with employee id emp2",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John doe</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The employee with employee ID emp2 is John Doe, who works in the Operations department as a Designer.</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Tool calls made: </a:t>
            </a:r>
            <a:r>
              <a:rPr lang="en-IN" sz="1600" dirty="0" err="1">
                <a:effectLst/>
                <a:latin typeface="+mn-lt"/>
                <a:ea typeface="Calibri" panose="020F0502020204030204" pitchFamily="34" charset="0"/>
                <a:cs typeface="Mangal" panose="02040503050203030202" pitchFamily="18" charset="0"/>
              </a:rPr>
              <a:t>get_employee</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7" name="TextBox 6">
            <a:extLst>
              <a:ext uri="{FF2B5EF4-FFF2-40B4-BE49-F238E27FC236}">
                <a16:creationId xmlns:a16="http://schemas.microsoft.com/office/drawing/2014/main" id="{75147BC2-9908-DB1C-C0BA-E33D016CE79A}"/>
              </a:ext>
            </a:extLst>
          </p:cNvPr>
          <p:cNvSpPr txBox="1"/>
          <p:nvPr/>
        </p:nvSpPr>
        <p:spPr>
          <a:xfrm>
            <a:off x="5826869" y="2067182"/>
            <a:ext cx="5058382" cy="3334246"/>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2:</a:t>
            </a:r>
            <a:endParaRPr lang="en-IN" sz="16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message":"how</a:t>
            </a:r>
            <a:r>
              <a:rPr lang="en-IN" sz="1600" dirty="0">
                <a:effectLst/>
                <a:latin typeface="+mn-lt"/>
                <a:ea typeface="Calibri" panose="020F0502020204030204" pitchFamily="34" charset="0"/>
                <a:cs typeface="Mangal" panose="02040503050203030202" pitchFamily="18" charset="0"/>
              </a:rPr>
              <a:t> many projects does john smith own",</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1 project called project beta</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John Smith owns 1 project, Project Beta.</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Tool calls made: </a:t>
            </a:r>
            <a:r>
              <a:rPr lang="en-IN" sz="1600" dirty="0" err="1">
                <a:effectLst/>
                <a:latin typeface="+mn-lt"/>
                <a:ea typeface="Calibri" panose="020F0502020204030204" pitchFamily="34" charset="0"/>
                <a:cs typeface="Mangal" panose="02040503050203030202" pitchFamily="18" charset="0"/>
              </a:rPr>
              <a:t>get_projects</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050586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43AAD3-1D70-EB6A-1CB7-230D516E207B}"/>
              </a:ext>
            </a:extLst>
          </p:cNvPr>
          <p:cNvSpPr txBox="1"/>
          <p:nvPr/>
        </p:nvSpPr>
        <p:spPr>
          <a:xfrm>
            <a:off x="187258" y="373747"/>
            <a:ext cx="5622586" cy="4811574"/>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3:</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message":"how</a:t>
            </a:r>
            <a:r>
              <a:rPr lang="en-IN" sz="1600" dirty="0">
                <a:effectLst/>
                <a:latin typeface="+mn-lt"/>
                <a:ea typeface="Calibri" panose="020F0502020204030204" pitchFamily="34" charset="0"/>
                <a:cs typeface="Mangal" panose="02040503050203030202" pitchFamily="18" charset="0"/>
              </a:rPr>
              <a:t> many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tasks does john have",</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Should ask us to clarify which john as there are John smith and john doe in our data</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"I've retrieved John's projects, but I need more information to determine which John you are referring to. There are two John's in the system: John Smith from the Engineering department and John Doe from the Operations department. Can you please clarify which John's projects you would like to know about?",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Tool calls made: </a:t>
            </a:r>
            <a:r>
              <a:rPr lang="en-IN" sz="1600" dirty="0" err="1">
                <a:effectLst/>
                <a:latin typeface="+mn-lt"/>
                <a:ea typeface="Calibri" panose="020F0502020204030204" pitchFamily="34" charset="0"/>
                <a:cs typeface="Mangal" panose="02040503050203030202" pitchFamily="18" charset="0"/>
              </a:rPr>
              <a:t>get_tasks</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7" name="TextBox 6">
            <a:extLst>
              <a:ext uri="{FF2B5EF4-FFF2-40B4-BE49-F238E27FC236}">
                <a16:creationId xmlns:a16="http://schemas.microsoft.com/office/drawing/2014/main" id="{F5F187B4-110C-30B9-7F7A-D17D8F4CCAC4}"/>
              </a:ext>
            </a:extLst>
          </p:cNvPr>
          <p:cNvSpPr txBox="1"/>
          <p:nvPr/>
        </p:nvSpPr>
        <p:spPr>
          <a:xfrm>
            <a:off x="6281636" y="301676"/>
            <a:ext cx="5622586" cy="6319679"/>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4:</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message":"how</a:t>
            </a:r>
            <a:r>
              <a:rPr lang="en-IN" sz="1600" dirty="0">
                <a:effectLst/>
                <a:latin typeface="+mn-lt"/>
                <a:ea typeface="Calibri" panose="020F0502020204030204" pitchFamily="34" charset="0"/>
                <a:cs typeface="Mangal" panose="02040503050203030202" pitchFamily="18" charset="0"/>
              </a:rPr>
              <a:t> many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tasks does john smith have",</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7</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John Smith has 6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tasks. Here are the details of each task:\n\n1. Fix login bug (ID: TASK1, due date: 2026-08-01, status: </a:t>
            </a:r>
            <a:r>
              <a:rPr lang="en-IN" sz="1600" dirty="0" err="1">
                <a:effectLst/>
                <a:latin typeface="+mn-lt"/>
                <a:ea typeface="Calibri" panose="020F0502020204030204" pitchFamily="34" charset="0"/>
                <a:cs typeface="Mangal" panose="02040503050203030202" pitchFamily="18" charset="0"/>
              </a:rPr>
              <a:t>in_progress</a:t>
            </a:r>
            <a:r>
              <a:rPr lang="en-IN" sz="1600" dirty="0">
                <a:effectLst/>
                <a:latin typeface="+mn-lt"/>
                <a:ea typeface="Calibri" panose="020F0502020204030204" pitchFamily="34" charset="0"/>
                <a:cs typeface="Mangal" panose="02040503050203030202" pitchFamily="18" charset="0"/>
              </a:rPr>
              <a:t>)\n2. Write API contract (ID: TASK5, due date: 2026-08-25, status: </a:t>
            </a:r>
            <a:r>
              <a:rPr lang="en-IN" sz="1600" dirty="0" err="1">
                <a:effectLst/>
                <a:latin typeface="+mn-lt"/>
                <a:ea typeface="Calibri" panose="020F0502020204030204" pitchFamily="34" charset="0"/>
                <a:cs typeface="Mangal" panose="02040503050203030202" pitchFamily="18" charset="0"/>
              </a:rPr>
              <a:t>in_progress</a:t>
            </a:r>
            <a:r>
              <a:rPr lang="en-IN" sz="1600" dirty="0">
                <a:effectLst/>
                <a:latin typeface="+mn-lt"/>
                <a:ea typeface="Calibri" panose="020F0502020204030204" pitchFamily="34" charset="0"/>
                <a:cs typeface="Mangal" panose="02040503050203030202" pitchFamily="18" charset="0"/>
              </a:rPr>
              <a:t>)\n3. Delivery task 21 (ID: TASK21, due date: 2026-10-20, status: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estimated hours: 9, actual hours: 9)\n4. Delivery task 41 (ID: TASK41, due date: 2026-10-20, status: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estimated hours: 9, actual hours: 11)\n5. Delivery task 61 (ID: TASK61, due date: 2026-10-20, status: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estimated hours: 9, actual hours: 13)\n6. Delivery task 101 (ID: TASK101, due date: 2026-10-20, status: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 estimated hours: 9, actual hours: 8)\n\</a:t>
            </a:r>
            <a:r>
              <a:rPr lang="en-IN" sz="1600" dirty="0" err="1">
                <a:effectLst/>
                <a:latin typeface="+mn-lt"/>
                <a:ea typeface="Calibri" panose="020F0502020204030204" pitchFamily="34" charset="0"/>
                <a:cs typeface="Mangal" panose="02040503050203030202" pitchFamily="18" charset="0"/>
              </a:rPr>
              <a:t>nPlease</a:t>
            </a:r>
            <a:r>
              <a:rPr lang="en-IN" sz="1600" dirty="0">
                <a:effectLst/>
                <a:latin typeface="+mn-lt"/>
                <a:ea typeface="Calibri" panose="020F0502020204030204" pitchFamily="34" charset="0"/>
                <a:cs typeface="Mangal" panose="02040503050203030202" pitchFamily="18" charset="0"/>
              </a:rPr>
              <a:t> note that the actual hours and estimated hours are included in the task details.</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800" dirty="0">
                <a:effectLst/>
                <a:latin typeface="+mn-lt"/>
                <a:ea typeface="Calibri" panose="020F0502020204030204" pitchFamily="34" charset="0"/>
                <a:cs typeface="Mangal" panose="02040503050203030202" pitchFamily="18" charset="0"/>
              </a:rPr>
              <a:t>Tool calls made: </a:t>
            </a:r>
            <a:r>
              <a:rPr lang="en-IN" sz="1800" dirty="0" err="1">
                <a:effectLst/>
                <a:latin typeface="+mn-lt"/>
                <a:ea typeface="Calibri" panose="020F0502020204030204" pitchFamily="34" charset="0"/>
                <a:cs typeface="Mangal" panose="02040503050203030202" pitchFamily="18" charset="0"/>
              </a:rPr>
              <a:t>get_tasks</a:t>
            </a:r>
            <a:endParaRPr lang="en-IN" sz="1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786318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2B21B1-95EC-12E8-D7B2-E92E95AB0FD8}"/>
              </a:ext>
            </a:extLst>
          </p:cNvPr>
          <p:cNvSpPr txBox="1"/>
          <p:nvPr/>
        </p:nvSpPr>
        <p:spPr>
          <a:xfrm>
            <a:off x="430448" y="399641"/>
            <a:ext cx="5055952" cy="4693593"/>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5:</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message":"what</a:t>
            </a:r>
            <a:r>
              <a:rPr lang="en-IN" sz="1600" dirty="0">
                <a:effectLst/>
                <a:latin typeface="+mn-lt"/>
                <a:ea typeface="Calibri" panose="020F0502020204030204" pitchFamily="34" charset="0"/>
                <a:cs typeface="Mangal" panose="02040503050203030202" pitchFamily="18" charset="0"/>
              </a:rPr>
              <a:t> is the status of task9",</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blocked</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 Task 9, \"Delivery task 9\", is currently blocked and has an estimated hours of 12, with 6 hours actually worked. The task is associated with project PROJ_ALPHA and is assigned to EMP9. The due date for the task is October 20, 2026.</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Tool calls made: </a:t>
            </a:r>
            <a:r>
              <a:rPr lang="en-IN" sz="1600" dirty="0" err="1">
                <a:effectLst/>
                <a:latin typeface="+mn-lt"/>
                <a:ea typeface="Calibri" panose="020F0502020204030204" pitchFamily="34" charset="0"/>
                <a:cs typeface="Mangal" panose="02040503050203030202" pitchFamily="18" charset="0"/>
              </a:rPr>
              <a:t>get_task</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557F16D2-ED98-3B3E-567D-019281528915}"/>
              </a:ext>
            </a:extLst>
          </p:cNvPr>
          <p:cNvSpPr txBox="1"/>
          <p:nvPr/>
        </p:nvSpPr>
        <p:spPr>
          <a:xfrm>
            <a:off x="5809843" y="399641"/>
            <a:ext cx="6094378" cy="3206006"/>
          </a:xfrm>
          <a:prstGeom prst="rect">
            <a:avLst/>
          </a:prstGeom>
          <a:noFill/>
        </p:spPr>
        <p:txBody>
          <a:bodyPr wrap="square">
            <a:spAutoFit/>
          </a:bodyPr>
          <a:lstStyle/>
          <a:p>
            <a:pPr>
              <a:lnSpc>
                <a:spcPct val="100000"/>
              </a:lnSpc>
              <a:spcAft>
                <a:spcPts val="1000"/>
              </a:spcAft>
              <a:buNone/>
            </a:pPr>
            <a:r>
              <a:rPr lang="en-IN" sz="1600" b="1" dirty="0">
                <a:effectLst/>
                <a:latin typeface="+mn-lt"/>
                <a:ea typeface="Calibri" panose="020F0502020204030204" pitchFamily="34" charset="0"/>
                <a:cs typeface="Mangal" panose="02040503050203030202" pitchFamily="18" charset="0"/>
              </a:rPr>
              <a:t>Request 6:</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a:t>
            </a:r>
            <a:r>
              <a:rPr lang="en-IN" sz="1600" dirty="0" err="1">
                <a:effectLst/>
                <a:latin typeface="+mn-lt"/>
                <a:ea typeface="Calibri" panose="020F0502020204030204" pitchFamily="34" charset="0"/>
                <a:cs typeface="Mangal" panose="02040503050203030202" pitchFamily="18" charset="0"/>
              </a:rPr>
              <a:t>message":"change</a:t>
            </a:r>
            <a:r>
              <a:rPr lang="en-IN" sz="1600" dirty="0">
                <a:effectLst/>
                <a:latin typeface="+mn-lt"/>
                <a:ea typeface="Calibri" panose="020F0502020204030204" pitchFamily="34" charset="0"/>
                <a:cs typeface="Mangal" panose="02040503050203030202" pitchFamily="18" charset="0"/>
              </a:rPr>
              <a:t> the status of task9 to </a:t>
            </a:r>
            <a:r>
              <a:rPr lang="en-IN" sz="1600" dirty="0" err="1">
                <a:effectLst/>
                <a:latin typeface="+mn-lt"/>
                <a:ea typeface="Calibri" panose="020F0502020204030204" pitchFamily="34" charset="0"/>
                <a:cs typeface="Mangal" panose="02040503050203030202" pitchFamily="18" charset="0"/>
              </a:rPr>
              <a:t>todo</a:t>
            </a: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Expected answer: conformation is required</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Actual answer : Confirmation is required before changing task data. Resubmit the request with confirmed=true to proceed.</a:t>
            </a:r>
          </a:p>
          <a:p>
            <a:pPr>
              <a:lnSpc>
                <a:spcPct val="100000"/>
              </a:lnSpc>
              <a:spcAft>
                <a:spcPts val="1000"/>
              </a:spcAft>
              <a:buNone/>
            </a:pPr>
            <a:r>
              <a:rPr lang="en-IN" sz="1600" dirty="0">
                <a:effectLst/>
                <a:latin typeface="+mn-lt"/>
                <a:ea typeface="Calibri" panose="020F0502020204030204" pitchFamily="34" charset="0"/>
                <a:cs typeface="Mangal" panose="02040503050203030202" pitchFamily="18" charset="0"/>
              </a:rPr>
              <a:t>Result: PASS</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833570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6B5996-4AB1-60FC-BC04-F79798243602}"/>
              </a:ext>
            </a:extLst>
          </p:cNvPr>
          <p:cNvSpPr txBox="1"/>
          <p:nvPr/>
        </p:nvSpPr>
        <p:spPr>
          <a:xfrm>
            <a:off x="430449" y="281267"/>
            <a:ext cx="4754394" cy="3616375"/>
          </a:xfrm>
          <a:prstGeom prst="rect">
            <a:avLst/>
          </a:prstGeom>
          <a:noFill/>
        </p:spPr>
        <p:txBody>
          <a:bodyPr wrap="square">
            <a:spAutoFit/>
          </a:bodyPr>
          <a:lstStyle/>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Request 7:</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a:t>
            </a:r>
            <a:r>
              <a:rPr lang="en-IN" sz="1400" dirty="0" err="1">
                <a:effectLst/>
                <a:latin typeface="+mn-lt"/>
                <a:ea typeface="Calibri" panose="020F0502020204030204" pitchFamily="34" charset="0"/>
                <a:cs typeface="Mangal" panose="02040503050203030202" pitchFamily="18" charset="0"/>
              </a:rPr>
              <a:t>message":"change</a:t>
            </a:r>
            <a:r>
              <a:rPr lang="en-IN" sz="1400" dirty="0">
                <a:effectLst/>
                <a:latin typeface="+mn-lt"/>
                <a:ea typeface="Calibri" panose="020F0502020204030204" pitchFamily="34" charset="0"/>
                <a:cs typeface="Mangal" panose="02040503050203030202" pitchFamily="18" charset="0"/>
              </a:rPr>
              <a:t> the status of task9 to </a:t>
            </a:r>
            <a:r>
              <a:rPr lang="en-IN" sz="1400" dirty="0" err="1">
                <a:effectLst/>
                <a:latin typeface="+mn-lt"/>
                <a:ea typeface="Calibri" panose="020F0502020204030204" pitchFamily="34" charset="0"/>
                <a:cs typeface="Mangal" panose="02040503050203030202" pitchFamily="18" charset="0"/>
              </a:rPr>
              <a:t>todo</a:t>
            </a: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Expected answer: task9 is updated successfully to </a:t>
            </a:r>
            <a:r>
              <a:rPr lang="en-IN" sz="1400" dirty="0" err="1">
                <a:effectLst/>
                <a:latin typeface="+mn-lt"/>
                <a:ea typeface="Calibri" panose="020F0502020204030204" pitchFamily="34" charset="0"/>
                <a:cs typeface="Mangal" panose="02040503050203030202" pitchFamily="18" charset="0"/>
              </a:rPr>
              <a:t>todo</a:t>
            </a:r>
            <a:endParaRPr lang="en-IN" sz="14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Actual answer : Task 9 has been updated to the \"</a:t>
            </a:r>
            <a:r>
              <a:rPr lang="en-IN" sz="1400" dirty="0" err="1">
                <a:effectLst/>
                <a:latin typeface="+mn-lt"/>
                <a:ea typeface="Calibri" panose="020F0502020204030204" pitchFamily="34" charset="0"/>
                <a:cs typeface="Mangal" panose="02040503050203030202" pitchFamily="18" charset="0"/>
              </a:rPr>
              <a:t>todo</a:t>
            </a:r>
            <a:r>
              <a:rPr lang="en-IN" sz="1400" dirty="0">
                <a:effectLst/>
                <a:latin typeface="+mn-lt"/>
                <a:ea typeface="Calibri" panose="020F0502020204030204" pitchFamily="34" charset="0"/>
                <a:cs typeface="Mangal" panose="02040503050203030202" pitchFamily="18" charset="0"/>
              </a:rPr>
              <a:t>\" status.</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Tool calls made: </a:t>
            </a:r>
            <a:r>
              <a:rPr lang="en-IN" sz="1400" dirty="0" err="1">
                <a:effectLst/>
                <a:latin typeface="+mn-lt"/>
                <a:ea typeface="Calibri" panose="020F0502020204030204" pitchFamily="34" charset="0"/>
                <a:cs typeface="Mangal" panose="02040503050203030202" pitchFamily="18" charset="0"/>
              </a:rPr>
              <a:t>update_task_status</a:t>
            </a:r>
            <a:r>
              <a:rPr lang="en-IN" sz="1400" dirty="0">
                <a:effectLst/>
                <a:latin typeface="+mn-lt"/>
                <a:ea typeface="Calibri" panose="020F0502020204030204" pitchFamily="34" charset="0"/>
                <a:cs typeface="Mangal" panose="02040503050203030202" pitchFamily="18" charset="0"/>
              </a:rPr>
              <a:t>, </a:t>
            </a:r>
            <a:r>
              <a:rPr lang="en-IN" sz="1400" dirty="0" err="1">
                <a:effectLst/>
                <a:latin typeface="+mn-lt"/>
                <a:ea typeface="Calibri" panose="020F0502020204030204" pitchFamily="34" charset="0"/>
                <a:cs typeface="Mangal" panose="02040503050203030202" pitchFamily="18" charset="0"/>
              </a:rPr>
              <a:t>get_task</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C614BE44-F8D9-6A99-FB06-9BD85A58ADED}"/>
              </a:ext>
            </a:extLst>
          </p:cNvPr>
          <p:cNvSpPr txBox="1"/>
          <p:nvPr/>
        </p:nvSpPr>
        <p:spPr>
          <a:xfrm>
            <a:off x="5184843" y="281267"/>
            <a:ext cx="6094378" cy="4478149"/>
          </a:xfrm>
          <a:prstGeom prst="rect">
            <a:avLst/>
          </a:prstGeom>
          <a:noFill/>
        </p:spPr>
        <p:txBody>
          <a:bodyPr wrap="square">
            <a:spAutoFit/>
          </a:bodyPr>
          <a:lstStyle/>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Request 8:</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a:t>
            </a:r>
            <a:r>
              <a:rPr lang="en-IN" sz="1400" dirty="0" err="1">
                <a:effectLst/>
                <a:latin typeface="+mn-lt"/>
                <a:ea typeface="Calibri" panose="020F0502020204030204" pitchFamily="34" charset="0"/>
                <a:cs typeface="Mangal" panose="02040503050203030202" pitchFamily="18" charset="0"/>
              </a:rPr>
              <a:t>message":"give</a:t>
            </a:r>
            <a:r>
              <a:rPr lang="en-IN" sz="1400" dirty="0">
                <a:effectLst/>
                <a:latin typeface="+mn-lt"/>
                <a:ea typeface="Calibri" panose="020F0502020204030204" pitchFamily="34" charset="0"/>
                <a:cs typeface="Mangal" panose="02040503050203030202" pitchFamily="18" charset="0"/>
              </a:rPr>
              <a:t> me the project metrics of project alpha",</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Expected answer: gives all the metrics</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Actual answer : For Project Alpha, the current project metrics are:\n\n- Name: Project Alpha\n- Status: Active\n- Owner: EMP3\n- Start Date: 2026-01-01\n- Deadline: 2026-09-30\n- Budget: $250,000\n- Total Tasks: 13\n- Done Tasks: 4\n- In Progress Tasks: 1\n- Todo Tasks: 8\n- Overdue Tasks: 2\n- Completion Rate: 31%\n\</a:t>
            </a:r>
            <a:r>
              <a:rPr lang="en-IN" sz="1400" dirty="0" err="1">
                <a:effectLst/>
                <a:latin typeface="+mn-lt"/>
                <a:ea typeface="Calibri" panose="020F0502020204030204" pitchFamily="34" charset="0"/>
                <a:cs typeface="Mangal" panose="02040503050203030202" pitchFamily="18" charset="0"/>
              </a:rPr>
              <a:t>nWould</a:t>
            </a:r>
            <a:r>
              <a:rPr lang="en-IN" sz="1400" dirty="0">
                <a:effectLst/>
                <a:latin typeface="+mn-lt"/>
                <a:ea typeface="Calibri" panose="020F0502020204030204" pitchFamily="34" charset="0"/>
                <a:cs typeface="Mangal" panose="02040503050203030202" pitchFamily="18" charset="0"/>
              </a:rPr>
              <a:t> you like to see any changes or is there another tool call you'd like to make?</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Tool calls made: </a:t>
            </a:r>
            <a:r>
              <a:rPr lang="en-IN" sz="1400" dirty="0" err="1">
                <a:effectLst/>
                <a:latin typeface="+mn-lt"/>
                <a:ea typeface="Calibri" panose="020F0502020204030204" pitchFamily="34" charset="0"/>
                <a:cs typeface="Mangal" panose="02040503050203030202" pitchFamily="18" charset="0"/>
              </a:rPr>
              <a:t>get_project_metrics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863121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045EC9-1F57-0914-8B6B-7D4A728ECA18}"/>
              </a:ext>
            </a:extLst>
          </p:cNvPr>
          <p:cNvSpPr txBox="1"/>
          <p:nvPr/>
        </p:nvSpPr>
        <p:spPr>
          <a:xfrm>
            <a:off x="184826" y="153976"/>
            <a:ext cx="7947497" cy="5899051"/>
          </a:xfrm>
          <a:prstGeom prst="rect">
            <a:avLst/>
          </a:prstGeom>
          <a:noFill/>
        </p:spPr>
        <p:txBody>
          <a:bodyPr wrap="square">
            <a:spAutoFit/>
          </a:bodyPr>
          <a:lstStyle/>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Request 9:</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marL="137160">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r>
              <a:rPr lang="en-IN" sz="1400" dirty="0" err="1">
                <a:effectLst/>
                <a:latin typeface="+mn-lt"/>
                <a:ea typeface="Calibri" panose="020F0502020204030204" pitchFamily="34" charset="0"/>
                <a:cs typeface="Mangal" panose="02040503050203030202" pitchFamily="18" charset="0"/>
              </a:rPr>
              <a:t>message":"give</a:t>
            </a:r>
            <a:r>
              <a:rPr lang="en-IN" sz="1400" dirty="0">
                <a:effectLst/>
                <a:latin typeface="+mn-lt"/>
                <a:ea typeface="Calibri" panose="020F0502020204030204" pitchFamily="34" charset="0"/>
                <a:cs typeface="Mangal" panose="02040503050203030202" pitchFamily="18" charset="0"/>
              </a:rPr>
              <a:t> me the project metrics of project alpha and give me the project updates of project alpha too",</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Expected answer: gives everything we asked</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Actual answer : Here are the project metrics and updates for Project Alpha:\n\n**Project Metrics:**\n\n* Project Name: Project Alpha\n* Status: Active\n* Owner: EMP3\n* Start Date: 2026-01-01\n* Deadline: 2026-09-30\n* Budget: $250,000\n* Total Tasks: 13\n* Done Tasks: 4\n* In Progress Tasks: 1\n* Todo Tasks: 8\n* Overdue Tasks: 2\n* Completion Rate: 31%\n\n**Project Updates:**\n\n* Total updates: 4\n* Updates:\n\t+ ID: UPD1, Update Date: 2026-09-10, Description: Weekly delivery update, Risk Level: High\n\t+ ID: UPD9, Update Date: 2026-01-01, Description: Old status update, Risk Level: Low\n\t+ ID: UPD10, Update Date: 2026-09-14, Description: Critical dependency discovered, Risk Level: High\n\t+ ID: UPD18, Update Date: 2026-09-01, Description: Additional delivery observation, Risk Level: Medium\n\</a:t>
            </a:r>
            <a:r>
              <a:rPr lang="en-IN" sz="1400" dirty="0" err="1">
                <a:effectLst/>
                <a:latin typeface="+mn-lt"/>
                <a:ea typeface="Calibri" panose="020F0502020204030204" pitchFamily="34" charset="0"/>
                <a:cs typeface="Mangal" panose="02040503050203030202" pitchFamily="18" charset="0"/>
              </a:rPr>
              <a:t>nNote</a:t>
            </a:r>
            <a:r>
              <a:rPr lang="en-IN" sz="1400" dirty="0">
                <a:effectLst/>
                <a:latin typeface="+mn-lt"/>
                <a:ea typeface="Calibri" panose="020F0502020204030204" pitchFamily="34" charset="0"/>
                <a:cs typeface="Mangal" panose="02040503050203030202" pitchFamily="18" charset="0"/>
              </a:rPr>
              <a:t>: The updates have some stale and conflicting update IDs, which may indicate issues with the update history.</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400" dirty="0">
                <a:effectLst/>
                <a:latin typeface="+mn-lt"/>
                <a:ea typeface="Calibri" panose="020F0502020204030204" pitchFamily="34" charset="0"/>
                <a:cs typeface="Mangal" panose="02040503050203030202" pitchFamily="18" charset="0"/>
              </a:rPr>
              <a:t>Tool calls made:  </a:t>
            </a:r>
            <a:r>
              <a:rPr lang="en-IN" sz="1400" dirty="0" err="1">
                <a:effectLst/>
                <a:latin typeface="+mn-lt"/>
                <a:ea typeface="Calibri" panose="020F0502020204030204" pitchFamily="34" charset="0"/>
                <a:cs typeface="Mangal" panose="02040503050203030202" pitchFamily="18" charset="0"/>
              </a:rPr>
              <a:t>get_project_metrics</a:t>
            </a:r>
            <a:r>
              <a:rPr lang="en-IN" sz="1400" dirty="0">
                <a:effectLst/>
                <a:latin typeface="+mn-lt"/>
                <a:ea typeface="Calibri" panose="020F0502020204030204" pitchFamily="34" charset="0"/>
                <a:cs typeface="Mangal" panose="02040503050203030202" pitchFamily="18" charset="0"/>
              </a:rPr>
              <a:t>, </a:t>
            </a:r>
            <a:r>
              <a:rPr lang="en-IN" sz="1400" dirty="0" err="1">
                <a:effectLst/>
                <a:latin typeface="+mn-lt"/>
                <a:ea typeface="Calibri" panose="020F0502020204030204" pitchFamily="34" charset="0"/>
                <a:cs typeface="Mangal" panose="02040503050203030202" pitchFamily="18" charset="0"/>
              </a:rPr>
              <a:t>get_project_updates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857437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753AC-BC08-24A9-035A-17A9549E6D7D}"/>
              </a:ext>
            </a:extLst>
          </p:cNvPr>
          <p:cNvSpPr txBox="1"/>
          <p:nvPr/>
        </p:nvSpPr>
        <p:spPr>
          <a:xfrm>
            <a:off x="330740" y="133566"/>
            <a:ext cx="5155660" cy="4770537"/>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10:</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marL="137160">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r>
              <a:rPr lang="en-IN" sz="1200" dirty="0" err="1">
                <a:effectLst/>
                <a:latin typeface="+mn-lt"/>
                <a:ea typeface="Calibri" panose="020F0502020204030204" pitchFamily="34" charset="0"/>
                <a:cs typeface="Mangal" panose="02040503050203030202" pitchFamily="18" charset="0"/>
              </a:rPr>
              <a:t>message":"how</a:t>
            </a:r>
            <a:r>
              <a:rPr lang="en-IN" sz="1200" dirty="0">
                <a:effectLst/>
                <a:latin typeface="+mn-lt"/>
                <a:ea typeface="Calibri" panose="020F0502020204030204" pitchFamily="34" charset="0"/>
                <a:cs typeface="Mangal" panose="02040503050203030202" pitchFamily="18" charset="0"/>
              </a:rPr>
              <a:t> many project updates does project beta have? and how many of them are high risk",</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total 3 updates and high risk 0</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  Replan: Before fetching the project updates, let's first retrieve the project details using '</a:t>
            </a:r>
            <a:r>
              <a:rPr lang="en-IN" sz="1200" dirty="0" err="1">
                <a:effectLst/>
                <a:latin typeface="+mn-lt"/>
                <a:ea typeface="Calibri" panose="020F0502020204030204" pitchFamily="34" charset="0"/>
                <a:cs typeface="Mangal" panose="02040503050203030202" pitchFamily="18" charset="0"/>
              </a:rPr>
              <a:t>get_project</a:t>
            </a:r>
            <a:r>
              <a:rPr lang="en-IN" sz="1200" dirty="0">
                <a:effectLst/>
                <a:latin typeface="+mn-lt"/>
                <a:ea typeface="Calibri" panose="020F0502020204030204" pitchFamily="34" charset="0"/>
                <a:cs typeface="Mangal" panose="02040503050203030202" pitchFamily="18" charset="0"/>
              </a:rPr>
              <a:t>'. \n\</a:t>
            </a:r>
            <a:r>
              <a:rPr lang="en-IN" sz="1200" dirty="0" err="1">
                <a:effectLst/>
                <a:latin typeface="+mn-lt"/>
                <a:ea typeface="Calibri" panose="020F0502020204030204" pitchFamily="34" charset="0"/>
                <a:cs typeface="Mangal" panose="02040503050203030202" pitchFamily="18" charset="0"/>
              </a:rPr>
              <a:t>nPlease</a:t>
            </a:r>
            <a:r>
              <a:rPr lang="en-IN" sz="1200" dirty="0">
                <a:effectLst/>
                <a:latin typeface="+mn-lt"/>
                <a:ea typeface="Calibri" panose="020F0502020204030204" pitchFamily="34" charset="0"/>
                <a:cs typeface="Mangal" panose="02040503050203030202" pitchFamily="18" charset="0"/>
              </a:rPr>
              <a:t> confirm if you would like to proceed with getting the project details?.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FAILURE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Tool calls made: </a:t>
            </a:r>
            <a:r>
              <a:rPr lang="en-IN" sz="1200" dirty="0" err="1">
                <a:effectLst/>
                <a:latin typeface="+mn-lt"/>
                <a:ea typeface="Calibri" panose="020F0502020204030204" pitchFamily="34" charset="0"/>
                <a:cs typeface="Mangal" panose="02040503050203030202" pitchFamily="18" charset="0"/>
              </a:rPr>
              <a:t>get_project_updates</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So this call is a failure because Llama3.2 is nor smart enough to handle multi-step tool calls. This can be fixed by changing the models</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Resending it but this time with a different local model(qwen3:4b)</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C6228417-8B8E-C71E-59DE-DB04651EEA5C}"/>
              </a:ext>
            </a:extLst>
          </p:cNvPr>
          <p:cNvSpPr txBox="1"/>
          <p:nvPr/>
        </p:nvSpPr>
        <p:spPr>
          <a:xfrm>
            <a:off x="5839027" y="133566"/>
            <a:ext cx="5532607" cy="5991384"/>
          </a:xfrm>
          <a:prstGeom prst="rect">
            <a:avLst/>
          </a:prstGeom>
          <a:noFill/>
        </p:spPr>
        <p:txBody>
          <a:bodyPr wrap="square">
            <a:spAutoFit/>
          </a:bodyPr>
          <a:lstStyle/>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t>
            </a:r>
          </a:p>
          <a:p>
            <a:pPr marL="137160">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t>
            </a:r>
            <a:r>
              <a:rPr lang="en-IN" sz="900" dirty="0" err="1">
                <a:effectLst/>
                <a:latin typeface="+mn-lt"/>
                <a:ea typeface="Calibri" panose="020F0502020204030204" pitchFamily="34" charset="0"/>
                <a:cs typeface="Mangal" panose="02040503050203030202" pitchFamily="18" charset="0"/>
              </a:rPr>
              <a:t>message":"how</a:t>
            </a:r>
            <a:r>
              <a:rPr lang="en-IN" sz="900" dirty="0">
                <a:effectLst/>
                <a:latin typeface="+mn-lt"/>
                <a:ea typeface="Calibri" panose="020F0502020204030204" pitchFamily="34" charset="0"/>
                <a:cs typeface="Mangal" panose="02040503050203030202" pitchFamily="18" charset="0"/>
              </a:rPr>
              <a:t> many project updates does project beta have? and how many of them are high risk",</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"model": "qwen3:4b",</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Expected answer: total 3 updates and high risk 0</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Actual answer : Project Beta has **3 updates** with **0 high-risk updates**. All updates are either low or medium risk (no high-risk entries). The system flags all updates as conflicting, but this does not affect the count of high-risk items. \n\n&lt;</a:t>
            </a:r>
            <a:r>
              <a:rPr lang="en-IN" sz="900" dirty="0" err="1">
                <a:effectLst/>
                <a:latin typeface="+mn-lt"/>
                <a:ea typeface="Calibri" panose="020F0502020204030204" pitchFamily="34" charset="0"/>
                <a:cs typeface="Mangal" panose="02040503050203030202" pitchFamily="18" charset="0"/>
              </a:rPr>
              <a:t>final_answer</a:t>
            </a:r>
            <a:r>
              <a:rPr lang="en-IN" sz="900" dirty="0">
                <a:effectLst/>
                <a:latin typeface="+mn-lt"/>
                <a:ea typeface="Calibri" panose="020F0502020204030204" pitchFamily="34" charset="0"/>
                <a:cs typeface="Mangal" panose="02040503050203030202" pitchFamily="18" charset="0"/>
              </a:rPr>
              <a:t>&gt;\</a:t>
            </a:r>
            <a:r>
              <a:rPr lang="en-IN" sz="900" dirty="0" err="1">
                <a:effectLst/>
                <a:latin typeface="+mn-lt"/>
                <a:ea typeface="Calibri" panose="020F0502020204030204" pitchFamily="34" charset="0"/>
                <a:cs typeface="Mangal" panose="02040503050203030202" pitchFamily="18" charset="0"/>
              </a:rPr>
              <a:t>nProject</a:t>
            </a:r>
            <a:r>
              <a:rPr lang="en-IN" sz="900" dirty="0">
                <a:effectLst/>
                <a:latin typeface="+mn-lt"/>
                <a:ea typeface="Calibri" panose="020F0502020204030204" pitchFamily="34" charset="0"/>
                <a:cs typeface="Mangal" panose="02040503050203030202" pitchFamily="18" charset="0"/>
              </a:rPr>
              <a:t> Beta has 3 updates, with 0 high-risk updates.\n&lt;/</a:t>
            </a:r>
            <a:r>
              <a:rPr lang="en-IN" sz="900" dirty="0" err="1">
                <a:effectLst/>
                <a:latin typeface="+mn-lt"/>
                <a:ea typeface="Calibri" panose="020F0502020204030204" pitchFamily="34" charset="0"/>
                <a:cs typeface="Mangal" panose="02040503050203030202" pitchFamily="18" charset="0"/>
              </a:rPr>
              <a:t>final_answer</a:t>
            </a:r>
            <a:r>
              <a:rPr lang="en-IN" sz="900" dirty="0">
                <a:effectLst/>
                <a:latin typeface="+mn-lt"/>
                <a:ea typeface="Calibri" panose="020F0502020204030204" pitchFamily="34" charset="0"/>
                <a:cs typeface="Mangal" panose="02040503050203030202" pitchFamily="18" charset="0"/>
              </a:rPr>
              <a:t>&gt;.</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Tool calls made: </a:t>
            </a:r>
            <a:r>
              <a:rPr lang="en-IN" sz="900" dirty="0" err="1">
                <a:effectLst/>
                <a:latin typeface="+mn-lt"/>
                <a:ea typeface="Calibri" panose="020F0502020204030204" pitchFamily="34" charset="0"/>
                <a:cs typeface="Mangal" panose="02040503050203030202" pitchFamily="18" charset="0"/>
              </a:rPr>
              <a:t>get_project</a:t>
            </a:r>
            <a:r>
              <a:rPr lang="en-IN" sz="900" dirty="0">
                <a:effectLst/>
                <a:latin typeface="+mn-lt"/>
                <a:ea typeface="Calibri" panose="020F0502020204030204" pitchFamily="34" charset="0"/>
                <a:cs typeface="Mangal" panose="02040503050203030202" pitchFamily="18" charset="0"/>
              </a:rPr>
              <a:t>, </a:t>
            </a:r>
            <a:r>
              <a:rPr lang="en-IN" sz="900" dirty="0" err="1">
                <a:effectLst/>
                <a:latin typeface="+mn-lt"/>
                <a:ea typeface="Calibri" panose="020F0502020204030204" pitchFamily="34" charset="0"/>
                <a:cs typeface="Mangal" panose="02040503050203030202" pitchFamily="18" charset="0"/>
              </a:rPr>
              <a:t>get_projects</a:t>
            </a:r>
            <a:r>
              <a:rPr lang="en-IN" sz="900" dirty="0">
                <a:effectLst/>
                <a:latin typeface="+mn-lt"/>
                <a:ea typeface="Calibri" panose="020F0502020204030204" pitchFamily="34" charset="0"/>
                <a:cs typeface="Mangal" panose="02040503050203030202" pitchFamily="18" charset="0"/>
              </a:rPr>
              <a:t>, </a:t>
            </a:r>
            <a:r>
              <a:rPr lang="en-IN" sz="900" dirty="0" err="1">
                <a:effectLst/>
                <a:latin typeface="+mn-lt"/>
                <a:ea typeface="Calibri" panose="020F0502020204030204" pitchFamily="34" charset="0"/>
                <a:cs typeface="Mangal" panose="02040503050203030202" pitchFamily="18" charset="0"/>
              </a:rPr>
              <a:t>get_project_updates</a:t>
            </a:r>
            <a:endParaRPr lang="en-IN" sz="9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So it passed for a different model, this means our local llama3.2 sometimes is not smart enough to do multi step tasks. And Gemini is also working too</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a:t>
            </a:r>
            <a:r>
              <a:rPr lang="en-IN" sz="900" dirty="0" err="1">
                <a:effectLst/>
                <a:latin typeface="+mn-lt"/>
                <a:ea typeface="Calibri" panose="020F0502020204030204" pitchFamily="34" charset="0"/>
                <a:cs typeface="Mangal" panose="02040503050203030202" pitchFamily="18" charset="0"/>
              </a:rPr>
              <a:t>message":"how</a:t>
            </a:r>
            <a:r>
              <a:rPr lang="en-IN" sz="900" dirty="0">
                <a:effectLst/>
                <a:latin typeface="+mn-lt"/>
                <a:ea typeface="Calibri" panose="020F0502020204030204" pitchFamily="34" charset="0"/>
                <a:cs typeface="Mangal" panose="02040503050203030202" pitchFamily="18" charset="0"/>
              </a:rPr>
              <a:t> many project updates does project beta have? and how many of them are high risk",</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"model": "Gemini-3.5-flash-lite",</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Expected answer: total 3 updates and high risk 0</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Actual answer: Project Beta has **3** project updates in total. \n\</a:t>
            </a:r>
            <a:r>
              <a:rPr lang="en-IN" sz="900" dirty="0" err="1">
                <a:effectLst/>
                <a:latin typeface="+mn-lt"/>
                <a:ea typeface="Calibri" panose="020F0502020204030204" pitchFamily="34" charset="0"/>
                <a:cs typeface="Mangal" panose="02040503050203030202" pitchFamily="18" charset="0"/>
              </a:rPr>
              <a:t>nOf</a:t>
            </a:r>
            <a:r>
              <a:rPr lang="en-IN" sz="900" dirty="0">
                <a:effectLst/>
                <a:latin typeface="+mn-lt"/>
                <a:ea typeface="Calibri" panose="020F0502020204030204" pitchFamily="34" charset="0"/>
                <a:cs typeface="Mangal" panose="02040503050203030202" pitchFamily="18" charset="0"/>
              </a:rPr>
              <a:t> those updates:\n- **0** are high risk (there are 2 medium-risk updates and 1 low-risk update)</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900" dirty="0">
                <a:effectLst/>
                <a:latin typeface="+mn-lt"/>
                <a:ea typeface="Calibri" panose="020F0502020204030204" pitchFamily="34" charset="0"/>
                <a:cs typeface="Mangal" panose="02040503050203030202" pitchFamily="18" charset="0"/>
              </a:rPr>
              <a:t>Tool calls made: </a:t>
            </a:r>
            <a:r>
              <a:rPr lang="en-IN" sz="900" dirty="0" err="1">
                <a:effectLst/>
                <a:latin typeface="+mn-lt"/>
                <a:ea typeface="Calibri" panose="020F0502020204030204" pitchFamily="34" charset="0"/>
                <a:cs typeface="Mangal" panose="02040503050203030202" pitchFamily="18" charset="0"/>
              </a:rPr>
              <a:t>get_project</a:t>
            </a:r>
            <a:r>
              <a:rPr lang="en-IN" sz="900" dirty="0">
                <a:effectLst/>
                <a:latin typeface="+mn-lt"/>
                <a:ea typeface="Calibri" panose="020F0502020204030204" pitchFamily="34" charset="0"/>
                <a:cs typeface="Mangal" panose="02040503050203030202" pitchFamily="18" charset="0"/>
              </a:rPr>
              <a:t>, </a:t>
            </a:r>
            <a:r>
              <a:rPr lang="en-IN" sz="900" dirty="0" err="1">
                <a:effectLst/>
                <a:latin typeface="+mn-lt"/>
                <a:ea typeface="Calibri" panose="020F0502020204030204" pitchFamily="34" charset="0"/>
                <a:cs typeface="Mangal" panose="02040503050203030202" pitchFamily="18" charset="0"/>
              </a:rPr>
              <a:t>get_projects</a:t>
            </a:r>
            <a:r>
              <a:rPr lang="en-IN" sz="900" dirty="0">
                <a:effectLst/>
                <a:latin typeface="+mn-lt"/>
                <a:ea typeface="Calibri" panose="020F0502020204030204" pitchFamily="34" charset="0"/>
                <a:cs typeface="Mangal" panose="02040503050203030202" pitchFamily="18" charset="0"/>
              </a:rPr>
              <a:t>, </a:t>
            </a:r>
            <a:r>
              <a:rPr lang="en-IN" sz="900" dirty="0" err="1">
                <a:effectLst/>
                <a:latin typeface="+mn-lt"/>
                <a:ea typeface="Calibri" panose="020F0502020204030204" pitchFamily="34" charset="0"/>
                <a:cs typeface="Mangal" panose="02040503050203030202" pitchFamily="18" charset="0"/>
              </a:rPr>
              <a:t>get_project_updates</a:t>
            </a:r>
            <a:endParaRPr lang="en-IN" sz="9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615481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87400D-10B3-0699-68CB-64129CD5EA22}"/>
              </a:ext>
            </a:extLst>
          </p:cNvPr>
          <p:cNvSpPr txBox="1"/>
          <p:nvPr/>
        </p:nvSpPr>
        <p:spPr>
          <a:xfrm>
            <a:off x="265078" y="174491"/>
            <a:ext cx="4900309" cy="4457631"/>
          </a:xfrm>
          <a:prstGeom prst="rect">
            <a:avLst/>
          </a:prstGeom>
          <a:noFill/>
        </p:spPr>
        <p:txBody>
          <a:bodyPr wrap="square">
            <a:spAutoFit/>
          </a:bodyPr>
          <a:lstStyle/>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Next we will test how our agent remembers context and stores history. For this we also need to pass </a:t>
            </a:r>
            <a:r>
              <a:rPr lang="en-IN" sz="1200" b="1" dirty="0" err="1">
                <a:effectLst/>
                <a:latin typeface="+mn-lt"/>
                <a:ea typeface="Calibri" panose="020F0502020204030204" pitchFamily="34" charset="0"/>
                <a:cs typeface="Mangal" panose="02040503050203030202" pitchFamily="18" charset="0"/>
              </a:rPr>
              <a:t>userId</a:t>
            </a:r>
            <a:r>
              <a:rPr lang="en-IN" sz="1200" b="1" dirty="0">
                <a:effectLst/>
                <a:latin typeface="+mn-lt"/>
                <a:ea typeface="Calibri" panose="020F0502020204030204" pitchFamily="34" charset="0"/>
                <a:cs typeface="Mangal" panose="02040503050203030202" pitchFamily="18" charset="0"/>
              </a:rPr>
              <a:t> in the request body.</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11:</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message":"remember</a:t>
            </a:r>
            <a:r>
              <a:rPr lang="en-IN" sz="1200" dirty="0">
                <a:effectLst/>
                <a:latin typeface="+mn-lt"/>
                <a:ea typeface="Calibri" panose="020F0502020204030204" pitchFamily="34" charset="0"/>
                <a:cs typeface="Mangal" panose="02040503050203030202" pitchFamily="18" charset="0"/>
              </a:rPr>
              <a:t> the project I want to focus on is project alpha",</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"sathvik"</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Ok successfully remembered</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"I've successfully remembered the project you'd like to focus on, which is \"Project Alpha\". This information will be stored in my memory for future reference. What's the next step or question you'd like to ask about Project Alpha?</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PASS</a:t>
            </a:r>
          </a:p>
          <a:p>
            <a:pPr>
              <a:buNone/>
            </a:pPr>
            <a:r>
              <a:rPr lang="en-IN" sz="1200" dirty="0">
                <a:effectLst/>
                <a:latin typeface="+mn-lt"/>
                <a:ea typeface="Calibri" panose="020F0502020204030204" pitchFamily="34" charset="0"/>
                <a:cs typeface="Mangal" panose="02040503050203030202" pitchFamily="18" charset="0"/>
              </a:rPr>
              <a:t>Tool calls made: remember</a:t>
            </a:r>
            <a:endParaRPr lang="en-IN" sz="1200" dirty="0"/>
          </a:p>
        </p:txBody>
      </p:sp>
      <p:sp>
        <p:nvSpPr>
          <p:cNvPr id="5" name="TextBox 4">
            <a:extLst>
              <a:ext uri="{FF2B5EF4-FFF2-40B4-BE49-F238E27FC236}">
                <a16:creationId xmlns:a16="http://schemas.microsoft.com/office/drawing/2014/main" id="{AE18CF49-6D61-08A5-2C87-DD3B8CD1376F}"/>
              </a:ext>
            </a:extLst>
          </p:cNvPr>
          <p:cNvSpPr txBox="1"/>
          <p:nvPr/>
        </p:nvSpPr>
        <p:spPr>
          <a:xfrm>
            <a:off x="5741750" y="174491"/>
            <a:ext cx="6094378" cy="3406061"/>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message":"what</a:t>
            </a:r>
            <a:r>
              <a:rPr lang="en-IN" sz="1200" dirty="0">
                <a:effectLst/>
                <a:latin typeface="+mn-lt"/>
                <a:ea typeface="Calibri" panose="020F0502020204030204" pitchFamily="34" charset="0"/>
                <a:cs typeface="Mangal" panose="02040503050203030202" pitchFamily="18" charset="0"/>
              </a:rPr>
              <a:t> is the project I want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"sathvik"</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a:t>
            </a:r>
            <a:r>
              <a:rPr lang="en-IN" sz="1200" dirty="0" err="1">
                <a:effectLst/>
                <a:latin typeface="+mn-lt"/>
                <a:ea typeface="Calibri" panose="020F0502020204030204" pitchFamily="34" charset="0"/>
                <a:cs typeface="Mangal" panose="02040503050203030202" pitchFamily="18" charset="0"/>
              </a:rPr>
              <a:t>Proj</a:t>
            </a:r>
            <a:r>
              <a:rPr lang="en-IN" sz="1200" dirty="0">
                <a:effectLst/>
                <a:latin typeface="+mn-lt"/>
                <a:ea typeface="Calibri" panose="020F0502020204030204" pitchFamily="34" charset="0"/>
                <a:cs typeface="Mangal" panose="02040503050203030202" pitchFamily="18" charset="0"/>
              </a:rPr>
              <a:t> alpha</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a:t>
            </a:r>
            <a:r>
              <a:rPr lang="en-IN" sz="1200" dirty="0">
                <a:solidFill>
                  <a:schemeClr val="tx1"/>
                </a:solidFill>
                <a:effectLst/>
                <a:latin typeface="+mn-lt"/>
                <a:ea typeface="Times New Roman" panose="02020603050405020304" pitchFamily="18" charset="0"/>
                <a:cs typeface="Mangal" panose="02040503050203030202" pitchFamily="18" charset="0"/>
              </a:rPr>
              <a:t> </a:t>
            </a:r>
            <a:r>
              <a:rPr lang="en-IN" sz="1200" dirty="0">
                <a:effectLst/>
                <a:latin typeface="+mn-lt"/>
                <a:ea typeface="Calibri" panose="020F0502020204030204" pitchFamily="34" charset="0"/>
                <a:cs typeface="Mangal" panose="02040503050203030202" pitchFamily="18" charset="0"/>
              </a:rPr>
              <a:t>Project you  want to focus on is project alpha”.</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Tool calls made: </a:t>
            </a:r>
            <a:r>
              <a:rPr lang="en-IN" sz="1200" dirty="0" err="1">
                <a:effectLst/>
                <a:latin typeface="+mn-lt"/>
                <a:ea typeface="Calibri" panose="020F0502020204030204" pitchFamily="34" charset="0"/>
                <a:cs typeface="Mangal" panose="02040503050203030202" pitchFamily="18" charset="0"/>
              </a:rPr>
              <a:t>search_memory</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702470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393DF8-3023-85C8-F1D7-842AEC33BD78}"/>
              </a:ext>
            </a:extLst>
          </p:cNvPr>
          <p:cNvSpPr txBox="1"/>
          <p:nvPr/>
        </p:nvSpPr>
        <p:spPr>
          <a:xfrm>
            <a:off x="352627" y="136961"/>
            <a:ext cx="4822488" cy="4585871"/>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13:</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Now we are changing the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and asking the same question, it shouldn’t answer us since we don’t have anything stored in memory for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 so this means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message":"what</a:t>
            </a:r>
            <a:r>
              <a:rPr lang="en-IN" sz="1200" dirty="0">
                <a:effectLst/>
                <a:latin typeface="+mn-lt"/>
                <a:ea typeface="Calibri" panose="020F0502020204030204" pitchFamily="34" charset="0"/>
                <a:cs typeface="Mangal" panose="02040503050203030202" pitchFamily="18" charset="0"/>
              </a:rPr>
              <a:t> is the project I want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Nothing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 do not have a saved preference for you yet.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So this means our models doesn’t mix context, one user's memories must never affect another user's conversation.</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43873D66-6341-862A-57C9-DF0DD09FABD0}"/>
              </a:ext>
            </a:extLst>
          </p:cNvPr>
          <p:cNvSpPr txBox="1"/>
          <p:nvPr/>
        </p:nvSpPr>
        <p:spPr>
          <a:xfrm>
            <a:off x="5255367" y="114102"/>
            <a:ext cx="6094378" cy="6324808"/>
          </a:xfrm>
          <a:prstGeom prst="rect">
            <a:avLst/>
          </a:prstGeom>
          <a:noFill/>
        </p:spPr>
        <p:txBody>
          <a:bodyPr wrap="square">
            <a:spAutoFit/>
          </a:bodyPr>
          <a:lstStyle/>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Request 14:</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Updating our memory, now in the </a:t>
            </a:r>
            <a:r>
              <a:rPr lang="en-IN" sz="1000" dirty="0" err="1">
                <a:effectLst/>
                <a:latin typeface="+mn-lt"/>
                <a:ea typeface="Calibri" panose="020F0502020204030204" pitchFamily="34" charset="0"/>
                <a:cs typeface="Mangal" panose="02040503050203030202" pitchFamily="18" charset="0"/>
              </a:rPr>
              <a:t>memory.json</a:t>
            </a:r>
            <a:r>
              <a:rPr lang="en-IN" sz="1000" dirty="0">
                <a:effectLst/>
                <a:latin typeface="+mn-lt"/>
                <a:ea typeface="Calibri" panose="020F0502020204030204" pitchFamily="34" charset="0"/>
                <a:cs typeface="Mangal" panose="02040503050203030202" pitchFamily="18" charset="0"/>
              </a:rPr>
              <a:t> file it is updated too</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a:t>
            </a:r>
            <a:r>
              <a:rPr lang="en-IN" sz="1000" dirty="0" err="1">
                <a:effectLst/>
                <a:latin typeface="+mn-lt"/>
                <a:ea typeface="Calibri" panose="020F0502020204030204" pitchFamily="34" charset="0"/>
                <a:cs typeface="Mangal" panose="02040503050203030202" pitchFamily="18" charset="0"/>
              </a:rPr>
              <a:t>message":"I</a:t>
            </a:r>
            <a:r>
              <a:rPr lang="en-IN" sz="1000" dirty="0">
                <a:effectLst/>
                <a:latin typeface="+mn-lt"/>
                <a:ea typeface="Calibri" panose="020F0502020204030204" pitchFamily="34" charset="0"/>
                <a:cs typeface="Mangal" panose="02040503050203030202" pitchFamily="18" charset="0"/>
              </a:rPr>
              <a:t> no longer want to remember project alpha, instead I want to remember project delta",</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a:t>
            </a:r>
            <a:r>
              <a:rPr lang="en-IN" sz="1000" dirty="0" err="1">
                <a:effectLst/>
                <a:latin typeface="+mn-lt"/>
                <a:ea typeface="Calibri" panose="020F0502020204030204" pitchFamily="34" charset="0"/>
                <a:cs typeface="Mangal" panose="02040503050203030202" pitchFamily="18" charset="0"/>
              </a:rPr>
              <a:t>userId</a:t>
            </a:r>
            <a:r>
              <a:rPr lang="en-IN" sz="1000" dirty="0">
                <a:effectLst/>
                <a:latin typeface="+mn-lt"/>
                <a:ea typeface="Calibri" panose="020F0502020204030204" pitchFamily="34" charset="0"/>
                <a:cs typeface="Mangal" panose="02040503050203030202" pitchFamily="18" charset="0"/>
              </a:rPr>
              <a:t>": "sathvik"</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Expected answer: Ok got it </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Actual answer: Your memory has been updated. The current focus is on project delta. What's the next tool call or question?</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000" b="1" dirty="0">
                <a:effectLst/>
                <a:latin typeface="+mn-lt"/>
                <a:ea typeface="Calibri" panose="020F0502020204030204" pitchFamily="34" charset="0"/>
                <a:cs typeface="Mangal" panose="02040503050203030202" pitchFamily="18" charset="0"/>
              </a:rPr>
              <a:t>Request 15:</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Now if we ask again we should get project delta and not project alpha since our memory is updated</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a:t>
            </a:r>
            <a:r>
              <a:rPr lang="en-IN" sz="1000" dirty="0" err="1">
                <a:effectLst/>
                <a:latin typeface="+mn-lt"/>
                <a:ea typeface="Calibri" panose="020F0502020204030204" pitchFamily="34" charset="0"/>
                <a:cs typeface="Mangal" panose="02040503050203030202" pitchFamily="18" charset="0"/>
              </a:rPr>
              <a:t>message":"what</a:t>
            </a:r>
            <a:r>
              <a:rPr lang="en-IN" sz="1000" dirty="0">
                <a:effectLst/>
                <a:latin typeface="+mn-lt"/>
                <a:ea typeface="Calibri" panose="020F0502020204030204" pitchFamily="34" charset="0"/>
                <a:cs typeface="Mangal" panose="02040503050203030202" pitchFamily="18" charset="0"/>
              </a:rPr>
              <a:t> is the project I want to remember today",</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    "</a:t>
            </a:r>
            <a:r>
              <a:rPr lang="en-IN" sz="1000" dirty="0" err="1">
                <a:effectLst/>
                <a:latin typeface="+mn-lt"/>
                <a:ea typeface="Calibri" panose="020F0502020204030204" pitchFamily="34" charset="0"/>
                <a:cs typeface="Mangal" panose="02040503050203030202" pitchFamily="18" charset="0"/>
              </a:rPr>
              <a:t>userId</a:t>
            </a:r>
            <a:r>
              <a:rPr lang="en-IN" sz="1000" dirty="0">
                <a:effectLst/>
                <a:latin typeface="+mn-lt"/>
                <a:ea typeface="Calibri" panose="020F0502020204030204" pitchFamily="34" charset="0"/>
                <a:cs typeface="Mangal" panose="02040503050203030202" pitchFamily="18" charset="0"/>
              </a:rPr>
              <a:t>": "sathvik"</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Expected answer: project delta </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Actual answer: Project you want to focus on is project delta..</a:t>
            </a:r>
          </a:p>
          <a:p>
            <a:pPr>
              <a:lnSpc>
                <a:spcPct val="100000"/>
              </a:lnSpc>
              <a:spcAft>
                <a:spcPts val="1000"/>
              </a:spcAft>
              <a:buNone/>
            </a:pPr>
            <a:r>
              <a:rPr lang="en-IN" sz="1000" dirty="0">
                <a:effectLst/>
                <a:latin typeface="+mn-lt"/>
                <a:ea typeface="Calibri" panose="020F0502020204030204" pitchFamily="34" charset="0"/>
                <a:cs typeface="Mangal" panose="02040503050203030202" pitchFamily="18" charset="0"/>
              </a:rPr>
              <a:t>Result: PASS</a:t>
            </a:r>
            <a:endParaRPr lang="en-IN" sz="10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951601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D23F1-B1D2-EC3D-B801-675501FFA53F}"/>
              </a:ext>
            </a:extLst>
          </p:cNvPr>
          <p:cNvSpPr txBox="1"/>
          <p:nvPr/>
        </p:nvSpPr>
        <p:spPr>
          <a:xfrm>
            <a:off x="259404" y="105748"/>
            <a:ext cx="5450732" cy="5509200"/>
          </a:xfrm>
          <a:prstGeom prst="rect">
            <a:avLst/>
          </a:prstGeom>
          <a:noFill/>
        </p:spPr>
        <p:txBody>
          <a:bodyPr wrap="square">
            <a:spAutoFit/>
          </a:bodyPr>
          <a:lstStyle/>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So our agent is no longer using old information, instead updating context with latest info</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I am testing using additional requests which are a bit more complicated</a:t>
            </a:r>
            <a:br>
              <a:rPr lang="en-IN" sz="1200" dirty="0">
                <a:effectLst/>
                <a:latin typeface="+mn-lt"/>
                <a:ea typeface="Calibri" panose="020F0502020204030204" pitchFamily="34" charset="0"/>
                <a:cs typeface="Mangal" panose="02040503050203030202" pitchFamily="18" charset="0"/>
              </a:rPr>
            </a:br>
            <a:br>
              <a:rPr lang="en-IN" sz="1200" dirty="0">
                <a:effectLst/>
                <a:latin typeface="+mn-lt"/>
                <a:ea typeface="Calibri" panose="020F0502020204030204" pitchFamily="34" charset="0"/>
                <a:cs typeface="Mangal" panose="02040503050203030202" pitchFamily="18" charset="0"/>
              </a:rPr>
            </a:br>
            <a:r>
              <a:rPr lang="en-IN" sz="1200" dirty="0">
                <a:effectLst/>
                <a:latin typeface="+mn-lt"/>
                <a:ea typeface="Calibri" panose="020F0502020204030204" pitchFamily="34" charset="0"/>
                <a:cs typeface="Mangal" panose="02040503050203030202" pitchFamily="18" charset="0"/>
              </a:rPr>
              <a:t>Request 16</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marL="137160">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r>
              <a:rPr lang="en-IN" sz="1200" dirty="0" err="1">
                <a:effectLst/>
                <a:latin typeface="+mn-lt"/>
                <a:ea typeface="Calibri" panose="020F0502020204030204" pitchFamily="34" charset="0"/>
                <a:cs typeface="Mangal" panose="02040503050203030202" pitchFamily="18" charset="0"/>
              </a:rPr>
              <a:t>message":"remember</a:t>
            </a:r>
            <a:r>
              <a:rPr lang="en-IN" sz="1200" dirty="0">
                <a:effectLst/>
                <a:latin typeface="+mn-lt"/>
                <a:ea typeface="Calibri" panose="020F0502020204030204" pitchFamily="34" charset="0"/>
                <a:cs typeface="Mangal" panose="02040503050203030202" pitchFamily="18" charset="0"/>
              </a:rPr>
              <a:t> that the task I want to do today is updating upd4 to risk level high",</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Ok got it, saving in memory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 saved that preference to your memory...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PASS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buNone/>
            </a:pPr>
            <a:r>
              <a:rPr lang="en-IN" sz="1200" b="1" dirty="0">
                <a:effectLst/>
                <a:latin typeface="+mn-lt"/>
                <a:ea typeface="Calibri" panose="020F0502020204030204" pitchFamily="34" charset="0"/>
                <a:cs typeface="Mangal" panose="02040503050203030202" pitchFamily="18" charset="0"/>
              </a:rPr>
              <a:t>Here we are trying to make the agent remember the task we want to do, and do it on a later time period. Instead of simply saying “remember my priority is project alpha”, we are saying “remember that the task I want to do today is so and so”. And when we test it instead of telling it the exact task to do, we will just tell it to do what we told it to remember previously</a:t>
            </a:r>
            <a:endParaRPr lang="en-IN" sz="1200" dirty="0"/>
          </a:p>
        </p:txBody>
      </p:sp>
      <p:sp>
        <p:nvSpPr>
          <p:cNvPr id="7" name="TextBox 6">
            <a:extLst>
              <a:ext uri="{FF2B5EF4-FFF2-40B4-BE49-F238E27FC236}">
                <a16:creationId xmlns:a16="http://schemas.microsoft.com/office/drawing/2014/main" id="{1D118EF7-B4A0-B86C-99B7-F61E3DE0D0E6}"/>
              </a:ext>
            </a:extLst>
          </p:cNvPr>
          <p:cNvSpPr txBox="1"/>
          <p:nvPr/>
        </p:nvSpPr>
        <p:spPr>
          <a:xfrm>
            <a:off x="5992237" y="105748"/>
            <a:ext cx="5379397" cy="4770537"/>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17</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message":"do</a:t>
            </a:r>
            <a:r>
              <a:rPr lang="en-IN" sz="1200" dirty="0">
                <a:effectLst/>
                <a:latin typeface="+mn-lt"/>
                <a:ea typeface="Calibri" panose="020F0502020204030204" pitchFamily="34" charset="0"/>
                <a:cs typeface="Mangal" panose="02040503050203030202" pitchFamily="18" charset="0"/>
              </a:rPr>
              <a:t> the task I wanted you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Changing udp4 from low risk to high risk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The task to update upd4 to risk level high has been remembered. I will keep this in mind as we move forward with our conversation. What would you like to do next?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a:t>
            </a:r>
            <a:r>
              <a:rPr lang="en-IN" sz="1200" b="1" dirty="0">
                <a:effectLst/>
                <a:latin typeface="+mn-lt"/>
                <a:ea typeface="Calibri" panose="020F0502020204030204" pitchFamily="34" charset="0"/>
                <a:cs typeface="Mangal" panose="02040503050203030202" pitchFamily="18" charset="0"/>
              </a:rPr>
              <a:t>FAILURE</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So here as we see this task ended in failure, even though we asked it to do the task we wanted it to remember today, it failed to do it, and instead just stored it in memory once again. </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618954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805269-EE7E-5EC8-6D43-CF450DE71363}"/>
              </a:ext>
            </a:extLst>
          </p:cNvPr>
          <p:cNvSpPr txBox="1"/>
          <p:nvPr/>
        </p:nvSpPr>
        <p:spPr>
          <a:xfrm>
            <a:off x="323444" y="141651"/>
            <a:ext cx="4462565" cy="4955203"/>
          </a:xfrm>
          <a:prstGeom prst="rect">
            <a:avLst/>
          </a:prstGeom>
          <a:noFill/>
        </p:spPr>
        <p:txBody>
          <a:bodyPr wrap="square">
            <a:spAutoFit/>
          </a:bodyPr>
          <a:lstStyle/>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Now let us change the model and try to do it again</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18</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message":"do</a:t>
            </a:r>
            <a:r>
              <a:rPr lang="en-IN" sz="1200" dirty="0">
                <a:effectLst/>
                <a:latin typeface="+mn-lt"/>
                <a:ea typeface="Calibri" panose="020F0502020204030204" pitchFamily="34" charset="0"/>
                <a:cs typeface="Mangal" panose="02040503050203030202" pitchFamily="18" charset="0"/>
              </a:rPr>
              <a:t> the task I wanted you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"qwen3.2:4b",</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Changing udp4 from low risk to high risk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 have completed the task you asked me to remember for today: project update **UPD4** has been successfully updated to **high** risk level (its previous risk level was low).</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a:t>
            </a:r>
            <a:r>
              <a:rPr lang="en-IN" sz="1200" b="1" dirty="0">
                <a:effectLst/>
                <a:latin typeface="+mn-lt"/>
                <a:ea typeface="Calibri" panose="020F0502020204030204" pitchFamily="34" charset="0"/>
                <a:cs typeface="Mangal" panose="02040503050203030202" pitchFamily="18" charset="0"/>
              </a:rPr>
              <a:t>SUCCESS</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So now as we can see this is working and the agent is successfully doing the task from our memory even though we didn’t explicitly mention the task we wanted it to do.</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D2E1556F-5A55-BAF8-B3A3-F7DBE46C9AD2}"/>
              </a:ext>
            </a:extLst>
          </p:cNvPr>
          <p:cNvSpPr txBox="1"/>
          <p:nvPr/>
        </p:nvSpPr>
        <p:spPr>
          <a:xfrm>
            <a:off x="5644475" y="141651"/>
            <a:ext cx="5561789" cy="5509200"/>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We are now discussing one more failure case in which the agent is resulting in an error.</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WHEN we restart the server, and then ask the agent to retrieve something from the memory it fails to do so as the cache is cleared.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19</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message":"what</a:t>
            </a:r>
            <a:r>
              <a:rPr lang="en-IN" sz="1200" dirty="0">
                <a:effectLst/>
                <a:latin typeface="+mn-lt"/>
                <a:ea typeface="Calibri" panose="020F0502020204030204" pitchFamily="34" charset="0"/>
                <a:cs typeface="Mangal" panose="02040503050203030202" pitchFamily="18" charset="0"/>
              </a:rPr>
              <a:t> did I ask you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"qwen3.2:4b",</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Changing udp4 from low risk to high risk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 do not have a saved preference for you yet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a:t>
            </a:r>
            <a:r>
              <a:rPr lang="en-IN" sz="1200" b="1" dirty="0">
                <a:effectLst/>
                <a:latin typeface="+mn-lt"/>
                <a:ea typeface="Calibri" panose="020F0502020204030204" pitchFamily="34" charset="0"/>
                <a:cs typeface="Mangal" panose="02040503050203030202" pitchFamily="18" charset="0"/>
              </a:rPr>
              <a:t>FAILURE</a:t>
            </a:r>
            <a:endParaRPr lang="en-IN" sz="1200" dirty="0">
              <a:effectLst/>
              <a:latin typeface="+mn-lt"/>
              <a:ea typeface="Calibri" panose="020F0502020204030204" pitchFamily="34" charset="0"/>
              <a:cs typeface="Mangal" panose="02040503050203030202" pitchFamily="18" charset="0"/>
            </a:endParaRPr>
          </a:p>
          <a:p>
            <a:pPr>
              <a:buNone/>
            </a:pPr>
            <a:r>
              <a:rPr lang="en-IN" sz="1200" b="1" dirty="0">
                <a:effectLst/>
                <a:latin typeface="+mn-lt"/>
                <a:ea typeface="Calibri" panose="020F0502020204030204" pitchFamily="34" charset="0"/>
                <a:cs typeface="Mangal" panose="02040503050203030202" pitchFamily="18" charset="0"/>
              </a:rPr>
              <a:t>As we can see this resulted in a failure since the server re-started and the cache is cleared even though context is saved in the </a:t>
            </a:r>
            <a:r>
              <a:rPr lang="en-IN" sz="1200" b="1" dirty="0" err="1">
                <a:effectLst/>
                <a:latin typeface="+mn-lt"/>
                <a:ea typeface="Calibri" panose="020F0502020204030204" pitchFamily="34" charset="0"/>
                <a:cs typeface="Mangal" panose="02040503050203030202" pitchFamily="18" charset="0"/>
              </a:rPr>
              <a:t>memory.json</a:t>
            </a:r>
            <a:endParaRPr lang="en-IN" sz="1200" b="1" dirty="0">
              <a:effectLst/>
              <a:latin typeface="+mn-lt"/>
              <a:ea typeface="Calibri" panose="020F0502020204030204" pitchFamily="34" charset="0"/>
              <a:cs typeface="Mangal" panose="02040503050203030202" pitchFamily="18" charset="0"/>
            </a:endParaRPr>
          </a:p>
          <a:p>
            <a:pPr>
              <a:buNone/>
            </a:pPr>
            <a:endParaRPr lang="en-IN" sz="1200" b="1" dirty="0">
              <a:cs typeface="Mangal" panose="02040503050203030202" pitchFamily="18" charset="0"/>
            </a:endParaRPr>
          </a:p>
          <a:p>
            <a:r>
              <a:rPr lang="en-IN" sz="1200" b="1" dirty="0"/>
              <a:t>So to fix it we implemented and added a user scoped persisted memory listing path. Now whenever the server is stopped and started again, it doesn’t forget what each user’s context is. </a:t>
            </a:r>
            <a:endParaRPr lang="en-IN" sz="1200" dirty="0"/>
          </a:p>
          <a:p>
            <a:pPr>
              <a:buNone/>
            </a:pPr>
            <a:endParaRPr lang="en-IN" sz="1200" dirty="0"/>
          </a:p>
        </p:txBody>
      </p:sp>
    </p:spTree>
    <p:extLst>
      <p:ext uri="{BB962C8B-B14F-4D97-AF65-F5344CB8AC3E}">
        <p14:creationId xmlns:p14="http://schemas.microsoft.com/office/powerpoint/2010/main" val="1075419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571B92-153B-53A0-72D5-6AC58F0968FF}"/>
              </a:ext>
            </a:extLst>
          </p:cNvPr>
          <p:cNvSpPr txBox="1"/>
          <p:nvPr/>
        </p:nvSpPr>
        <p:spPr>
          <a:xfrm>
            <a:off x="226168" y="233174"/>
            <a:ext cx="4793304" cy="4898777"/>
          </a:xfrm>
          <a:prstGeom prst="rect">
            <a:avLst/>
          </a:prstGeom>
          <a:noFill/>
        </p:spPr>
        <p:txBody>
          <a:bodyPr wrap="square">
            <a:spAutoFit/>
          </a:bodyPr>
          <a:lstStyle/>
          <a:p>
            <a:pPr>
              <a:lnSpc>
                <a:spcPct val="100000"/>
              </a:lnSpc>
              <a:spcAft>
                <a:spcPts val="1000"/>
              </a:spcAft>
              <a:buNone/>
            </a:pPr>
            <a:r>
              <a:rPr lang="en-IN" sz="1200" b="1" dirty="0">
                <a:effectLst/>
                <a:latin typeface="+mn-lt"/>
                <a:ea typeface="Calibri" panose="020F0502020204030204" pitchFamily="34" charset="0"/>
                <a:cs typeface="Mangal" panose="02040503050203030202" pitchFamily="18" charset="0"/>
              </a:rPr>
              <a:t>After restarting the server</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20</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message":"what</a:t>
            </a:r>
            <a:r>
              <a:rPr lang="en-IN" sz="1200" dirty="0">
                <a:effectLst/>
                <a:latin typeface="+mn-lt"/>
                <a:ea typeface="Calibri" panose="020F0502020204030204" pitchFamily="34" charset="0"/>
                <a:cs typeface="Mangal" panose="02040503050203030202" pitchFamily="18" charset="0"/>
              </a:rPr>
              <a:t> did I ask you to remember today?",</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"qwen3.2:4b",</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userId</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suresh</a:t>
            </a: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Changing udp4 from low risk to high risk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The task to update upd4 to risk level high has been remembered and retrieved</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a:t>
            </a:r>
            <a:r>
              <a:rPr lang="en-IN" sz="1200" b="1" dirty="0">
                <a:effectLst/>
                <a:latin typeface="+mn-lt"/>
                <a:ea typeface="Calibri" panose="020F0502020204030204" pitchFamily="34" charset="0"/>
                <a:cs typeface="Mangal" panose="02040503050203030202" pitchFamily="18" charset="0"/>
              </a:rPr>
              <a:t>SUCCESS</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So now as we can see, we fixed the lack of context/memory when the server re-starts error by always making the agent check the </a:t>
            </a:r>
            <a:r>
              <a:rPr lang="en-IN" sz="1200" dirty="0" err="1">
                <a:effectLst/>
                <a:latin typeface="+mn-lt"/>
                <a:ea typeface="Calibri" panose="020F0502020204030204" pitchFamily="34" charset="0"/>
                <a:cs typeface="Mangal" panose="02040503050203030202" pitchFamily="18" charset="0"/>
              </a:rPr>
              <a:t>memory.json</a:t>
            </a:r>
            <a:r>
              <a:rPr lang="en-IN" sz="1200" dirty="0">
                <a:effectLst/>
                <a:latin typeface="+mn-lt"/>
                <a:ea typeface="Calibri" panose="020F0502020204030204" pitchFamily="34" charset="0"/>
                <a:cs typeface="Mangal" panose="02040503050203030202" pitchFamily="18" charset="0"/>
              </a:rPr>
              <a:t> file first.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We should have done that from the start to avoid this.</a:t>
            </a:r>
            <a:endParaRPr lang="en-IN" sz="12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647AEF0E-C5B2-A6EE-4CBB-BD17EF36EACF}"/>
              </a:ext>
            </a:extLst>
          </p:cNvPr>
          <p:cNvSpPr txBox="1"/>
          <p:nvPr/>
        </p:nvSpPr>
        <p:spPr>
          <a:xfrm>
            <a:off x="5479104" y="233174"/>
            <a:ext cx="6094378" cy="5693866"/>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21</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"message":"</a:t>
            </a:r>
            <a:r>
              <a:rPr lang="en-IN" sz="1200" dirty="0" err="1">
                <a:effectLst/>
                <a:latin typeface="+mn-lt"/>
                <a:ea typeface="Calibri" panose="020F0502020204030204" pitchFamily="34" charset="0"/>
                <a:cs typeface="Mangal" panose="02040503050203030202" pitchFamily="18" charset="0"/>
              </a:rPr>
              <a:t>Analyze</a:t>
            </a:r>
            <a:r>
              <a:rPr lang="en-IN" sz="1200" dirty="0">
                <a:effectLst/>
                <a:latin typeface="+mn-lt"/>
                <a:ea typeface="Calibri" panose="020F0502020204030204" pitchFamily="34" charset="0"/>
                <a:cs typeface="Mangal" panose="02040503050203030202" pitchFamily="18" charset="0"/>
              </a:rPr>
              <a:t> all active projects, identify the highest-risk projects, find the employees responsible for their overdue tasks, check their latest updates, and recommend actions. If any employee, task, or project information is missing or invalid, don’t guess and explain the limitation. And calculate how many odd numbered tasks have </a:t>
            </a:r>
            <a:r>
              <a:rPr lang="en-IN" sz="1200" dirty="0" err="1">
                <a:effectLst/>
                <a:latin typeface="+mn-lt"/>
                <a:ea typeface="Calibri" panose="020F0502020204030204" pitchFamily="34" charset="0"/>
                <a:cs typeface="Mangal" panose="02040503050203030202" pitchFamily="18" charset="0"/>
              </a:rPr>
              <a:t>todo</a:t>
            </a:r>
            <a:r>
              <a:rPr lang="en-IN" sz="1200" dirty="0">
                <a:effectLst/>
                <a:latin typeface="+mn-lt"/>
                <a:ea typeface="Calibri" panose="020F0502020204030204" pitchFamily="34" charset="0"/>
                <a:cs typeface="Mangal" panose="02040503050203030202" pitchFamily="18" charset="0"/>
              </a:rPr>
              <a:t> status"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Expected answer: …..(whatever we asked)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Actual answer: "I could not complete the request within the tool-call limit."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Result: </a:t>
            </a:r>
            <a:r>
              <a:rPr lang="en-IN" sz="1200" b="1" dirty="0">
                <a:effectLst/>
                <a:latin typeface="+mn-lt"/>
                <a:ea typeface="Calibri" panose="020F0502020204030204" pitchFamily="34" charset="0"/>
                <a:cs typeface="Mangal" panose="02040503050203030202" pitchFamily="18" charset="0"/>
              </a:rPr>
              <a:t>FAILURE</a:t>
            </a:r>
            <a:endParaRPr lang="en-IN" sz="1200" dirty="0">
              <a:effectLst/>
              <a:latin typeface="+mn-lt"/>
              <a:ea typeface="Calibri" panose="020F0502020204030204" pitchFamily="34" charset="0"/>
              <a:cs typeface="Mangal" panose="02040503050203030202" pitchFamily="18" charset="0"/>
            </a:endParaRP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Tool calls: </a:t>
            </a:r>
            <a:r>
              <a:rPr lang="en-IN" sz="1200" dirty="0" err="1">
                <a:effectLst/>
                <a:latin typeface="+mn-lt"/>
                <a:ea typeface="Calibri" panose="020F0502020204030204" pitchFamily="34" charset="0"/>
                <a:cs typeface="Mangal" panose="02040503050203030202" pitchFamily="18" charset="0"/>
              </a:rPr>
              <a:t>create_plan</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get_projects</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get_project_metrics</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find_project_risks</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get_project_updates</a:t>
            </a:r>
            <a:r>
              <a:rPr lang="en-IN" sz="1200" dirty="0">
                <a:effectLst/>
                <a:latin typeface="+mn-lt"/>
                <a:ea typeface="Calibri" panose="020F0502020204030204" pitchFamily="34" charset="0"/>
                <a:cs typeface="Mangal" panose="02040503050203030202" pitchFamily="18" charset="0"/>
              </a:rPr>
              <a:t>,  </a:t>
            </a:r>
            <a:r>
              <a:rPr lang="en-IN" sz="1200" dirty="0" err="1">
                <a:effectLst/>
                <a:latin typeface="+mn-lt"/>
                <a:ea typeface="Calibri" panose="020F0502020204030204" pitchFamily="34" charset="0"/>
                <a:cs typeface="Mangal" panose="02040503050203030202" pitchFamily="18" charset="0"/>
              </a:rPr>
              <a:t>get_tasks</a:t>
            </a: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As we can see this request resulted in a failure. Since the request is way too complicated and heavy for the LLM to analyse and call tools. It hit the tool call limit, since we set the maximum iterations to 15. That means after 15 iterations, if we couldn’t find the answer the agent just returns saying it couldn’t find the answer within tool call limit.</a:t>
            </a:r>
          </a:p>
          <a:p>
            <a:pPr>
              <a:buNone/>
            </a:pPr>
            <a:r>
              <a:rPr lang="en-IN" sz="1200" dirty="0">
                <a:effectLst/>
                <a:latin typeface="+mn-lt"/>
                <a:ea typeface="Calibri" panose="020F0502020204030204" pitchFamily="34" charset="0"/>
                <a:cs typeface="Mangal" panose="02040503050203030202" pitchFamily="18" charset="0"/>
              </a:rPr>
              <a:t>We have testes this using all 3 models (llama3.2, qwen3:4b, gemini3.5), yet it resulted in a failure.</a:t>
            </a:r>
            <a:endParaRPr lang="en-IN" sz="1200" dirty="0"/>
          </a:p>
        </p:txBody>
      </p:sp>
    </p:spTree>
    <p:extLst>
      <p:ext uri="{BB962C8B-B14F-4D97-AF65-F5344CB8AC3E}">
        <p14:creationId xmlns:p14="http://schemas.microsoft.com/office/powerpoint/2010/main" val="3419085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B250FB-5D7F-3BC2-3FFB-5207EEDB58B2}"/>
              </a:ext>
            </a:extLst>
          </p:cNvPr>
          <p:cNvSpPr txBox="1"/>
          <p:nvPr/>
        </p:nvSpPr>
        <p:spPr>
          <a:xfrm>
            <a:off x="352627" y="214372"/>
            <a:ext cx="6094378" cy="4514056"/>
          </a:xfrm>
          <a:prstGeom prst="rect">
            <a:avLst/>
          </a:prstGeom>
          <a:noFill/>
        </p:spPr>
        <p:txBody>
          <a:bodyPr wrap="square">
            <a:spAutoFit/>
          </a:bodyPr>
          <a:lstStyle/>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Next to try to handle this error we tried increasing the tool call limit from 15 to 30.</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AND now when we ran the same request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Request 22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"message":"</a:t>
            </a:r>
            <a:r>
              <a:rPr lang="en-IN" sz="1200" dirty="0" err="1">
                <a:effectLst/>
                <a:latin typeface="+mn-lt"/>
                <a:ea typeface="Calibri" panose="020F0502020204030204" pitchFamily="34" charset="0"/>
                <a:cs typeface="Mangal" panose="02040503050203030202" pitchFamily="18" charset="0"/>
              </a:rPr>
              <a:t>Analyze</a:t>
            </a:r>
            <a:r>
              <a:rPr lang="en-IN" sz="1200" dirty="0">
                <a:effectLst/>
                <a:latin typeface="+mn-lt"/>
                <a:ea typeface="Calibri" panose="020F0502020204030204" pitchFamily="34" charset="0"/>
                <a:cs typeface="Mangal" panose="02040503050203030202" pitchFamily="18" charset="0"/>
              </a:rPr>
              <a:t> all active projects, identify the highest-risk projects, find the employees responsible for their overdue tasks, check their latest updates, and recommend actions. If any employee, task, or project information is missing or invalid, don’t guess and explain the limitation. And calculate how many odd numbered tasks have </a:t>
            </a:r>
            <a:r>
              <a:rPr lang="en-IN" sz="1200" dirty="0" err="1">
                <a:effectLst/>
                <a:latin typeface="+mn-lt"/>
                <a:ea typeface="Calibri" panose="020F0502020204030204" pitchFamily="34" charset="0"/>
                <a:cs typeface="Mangal" panose="02040503050203030202" pitchFamily="18" charset="0"/>
              </a:rPr>
              <a:t>todo</a:t>
            </a:r>
            <a:r>
              <a:rPr lang="en-IN" sz="1200" dirty="0">
                <a:effectLst/>
                <a:latin typeface="+mn-lt"/>
                <a:ea typeface="Calibri" panose="020F0502020204030204" pitchFamily="34" charset="0"/>
                <a:cs typeface="Mangal" panose="02040503050203030202" pitchFamily="18" charset="0"/>
              </a:rPr>
              <a:t> status"</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"model": "llama3.2",</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"confirmed": true</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 </a:t>
            </a:r>
          </a:p>
          <a:p>
            <a:pPr>
              <a:lnSpc>
                <a:spcPct val="100000"/>
              </a:lnSpc>
              <a:spcAft>
                <a:spcPts val="1000"/>
              </a:spcAft>
              <a:buNone/>
            </a:pPr>
            <a:r>
              <a:rPr lang="en-IN" sz="1200" dirty="0">
                <a:effectLst/>
                <a:latin typeface="+mn-lt"/>
                <a:ea typeface="Calibri" panose="020F0502020204030204" pitchFamily="34" charset="0"/>
                <a:cs typeface="Mangal" panose="02040503050203030202" pitchFamily="18" charset="0"/>
              </a:rPr>
              <a:t>It didn’t give us any answer even after 40 minutes, so I had to stop the server. For the Gemini model it hit the rate limit of 15RPM, so it threw a 429 rate limit error.</a:t>
            </a:r>
          </a:p>
          <a:p>
            <a:pPr>
              <a:buNone/>
            </a:pPr>
            <a:r>
              <a:rPr lang="en-IN" sz="1200" dirty="0">
                <a:effectLst/>
                <a:latin typeface="+mn-lt"/>
                <a:ea typeface="Calibri" panose="020F0502020204030204" pitchFamily="34" charset="0"/>
                <a:cs typeface="Mangal" panose="02040503050203030202" pitchFamily="18" charset="0"/>
              </a:rPr>
              <a:t>But even for local models llama3.2 and qwen3:4b it was unable to process the large request in a reasonable amount of time. </a:t>
            </a:r>
            <a:endParaRPr lang="en-IN" sz="1200" dirty="0"/>
          </a:p>
        </p:txBody>
      </p:sp>
    </p:spTree>
    <p:extLst>
      <p:ext uri="{BB962C8B-B14F-4D97-AF65-F5344CB8AC3E}">
        <p14:creationId xmlns:p14="http://schemas.microsoft.com/office/powerpoint/2010/main" val="12426764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37A20-C7A0-34FD-9E2F-56D76D3FD39C}"/>
              </a:ext>
            </a:extLst>
          </p:cNvPr>
          <p:cNvSpPr txBox="1"/>
          <p:nvPr/>
        </p:nvSpPr>
        <p:spPr>
          <a:xfrm>
            <a:off x="420721" y="209305"/>
            <a:ext cx="6094378" cy="369332"/>
          </a:xfrm>
          <a:prstGeom prst="rect">
            <a:avLst/>
          </a:prstGeom>
          <a:noFill/>
        </p:spPr>
        <p:txBody>
          <a:bodyPr wrap="square">
            <a:spAutoFit/>
          </a:bodyPr>
          <a:lstStyle/>
          <a:p>
            <a:r>
              <a:rPr lang="en-IN" sz="1800" b="1" dirty="0">
                <a:solidFill>
                  <a:schemeClr val="tx1">
                    <a:lumMod val="95000"/>
                    <a:lumOff val="5000"/>
                  </a:schemeClr>
                </a:solidFill>
              </a:rPr>
              <a:t>Empirical Error Analysis</a:t>
            </a:r>
            <a:endParaRPr lang="en-IN" b="1" dirty="0">
              <a:solidFill>
                <a:schemeClr val="tx1">
                  <a:lumMod val="95000"/>
                  <a:lumOff val="5000"/>
                </a:schemeClr>
              </a:solidFill>
            </a:endParaRPr>
          </a:p>
        </p:txBody>
      </p:sp>
      <p:sp>
        <p:nvSpPr>
          <p:cNvPr id="4" name="Rounded Rectangle 2">
            <a:extLst>
              <a:ext uri="{FF2B5EF4-FFF2-40B4-BE49-F238E27FC236}">
                <a16:creationId xmlns:a16="http://schemas.microsoft.com/office/drawing/2014/main" id="{5EFE917E-FC55-5D13-674A-BC3B6E0706EC}"/>
              </a:ext>
            </a:extLst>
          </p:cNvPr>
          <p:cNvSpPr/>
          <p:nvPr/>
        </p:nvSpPr>
        <p:spPr>
          <a:xfrm>
            <a:off x="737616" y="1051560"/>
            <a:ext cx="5175504" cy="4754880"/>
          </a:xfrm>
          <a:prstGeom prst="roundRect">
            <a:avLst/>
          </a:prstGeom>
          <a:solidFill>
            <a:srgbClr val="FEF2F2"/>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991B1B"/>
                </a:solidFill>
                <a:latin typeface="Arial"/>
              </a:defRPr>
            </a:pPr>
            <a:r>
              <a:rPr dirty="0"/>
              <a:t>Error Case 1: Multi-Step Tool Stalling (</a:t>
            </a:r>
            <a:r>
              <a:rPr dirty="0" err="1"/>
              <a:t>Req</a:t>
            </a:r>
            <a:r>
              <a:rPr dirty="0"/>
              <a:t> 10)</a:t>
            </a:r>
          </a:p>
          <a:p>
            <a:pPr>
              <a:spcBef>
                <a:spcPts val="600"/>
              </a:spcBef>
              <a:defRPr sz="1200">
                <a:solidFill>
                  <a:srgbClr val="334155"/>
                </a:solidFill>
                <a:latin typeface="Arial"/>
              </a:defRPr>
            </a:pPr>
            <a:r>
              <a:rPr b="1" dirty="0">
                <a:solidFill>
                  <a:srgbClr val="0F172A"/>
                </a:solidFill>
              </a:rPr>
              <a:t>• Trigger Prompt: </a:t>
            </a:r>
            <a:r>
              <a:rPr dirty="0"/>
              <a:t>'How many project updates does project beta have? and how many are high risk'</a:t>
            </a:r>
          </a:p>
          <a:p>
            <a:pPr>
              <a:spcBef>
                <a:spcPts val="600"/>
              </a:spcBef>
              <a:defRPr sz="1200">
                <a:solidFill>
                  <a:srgbClr val="334155"/>
                </a:solidFill>
                <a:latin typeface="Arial"/>
              </a:defRPr>
            </a:pPr>
            <a:r>
              <a:rPr b="1" dirty="0">
                <a:solidFill>
                  <a:srgbClr val="0F172A"/>
                </a:solidFill>
              </a:rPr>
              <a:t>• Model: </a:t>
            </a:r>
            <a:r>
              <a:rPr dirty="0"/>
              <a:t>Llama 3.2 (local)</a:t>
            </a:r>
          </a:p>
          <a:p>
            <a:pPr>
              <a:spcBef>
                <a:spcPts val="600"/>
              </a:spcBef>
              <a:defRPr sz="1200">
                <a:solidFill>
                  <a:srgbClr val="334155"/>
                </a:solidFill>
                <a:latin typeface="Arial"/>
              </a:defRPr>
            </a:pPr>
            <a:r>
              <a:rPr b="1" dirty="0">
                <a:solidFill>
                  <a:srgbClr val="0F172A"/>
                </a:solidFill>
              </a:rPr>
              <a:t>• Actual Behavior: </a:t>
            </a:r>
            <a:r>
              <a:rPr dirty="0"/>
              <a:t>Stalled mid-plan: replied '</a:t>
            </a:r>
            <a:r>
              <a:rPr dirty="0" err="1"/>
              <a:t>Replan</a:t>
            </a:r>
            <a:r>
              <a:rPr dirty="0"/>
              <a:t>: Before fetching updates let us get project details using </a:t>
            </a:r>
            <a:r>
              <a:rPr dirty="0" err="1"/>
              <a:t>get_project</a:t>
            </a:r>
            <a:r>
              <a:rPr dirty="0"/>
              <a:t>. Confirm if you want to proceed?' asking for unnecessary confirmation.</a:t>
            </a:r>
          </a:p>
          <a:p>
            <a:pPr>
              <a:spcBef>
                <a:spcPts val="600"/>
              </a:spcBef>
              <a:defRPr sz="1200">
                <a:solidFill>
                  <a:srgbClr val="334155"/>
                </a:solidFill>
                <a:latin typeface="Arial"/>
              </a:defRPr>
            </a:pPr>
            <a:r>
              <a:rPr b="1" dirty="0">
                <a:solidFill>
                  <a:srgbClr val="0F172A"/>
                </a:solidFill>
              </a:rPr>
              <a:t>• Root Cause: </a:t>
            </a:r>
            <a:r>
              <a:rPr dirty="0"/>
              <a:t>Llama 3.2 struggled with multi-step tool orchestration, pausing mid-sequence.</a:t>
            </a:r>
          </a:p>
          <a:p>
            <a:pPr>
              <a:spcBef>
                <a:spcPts val="600"/>
              </a:spcBef>
              <a:defRPr sz="1200">
                <a:solidFill>
                  <a:srgbClr val="334155"/>
                </a:solidFill>
                <a:latin typeface="Arial"/>
              </a:defRPr>
            </a:pPr>
            <a:r>
              <a:rPr b="1" dirty="0">
                <a:solidFill>
                  <a:srgbClr val="0F172A"/>
                </a:solidFill>
              </a:rPr>
              <a:t>• Resolution: </a:t>
            </a:r>
            <a:r>
              <a:rPr dirty="0"/>
              <a:t>Swapped model to qwen3:4b / Gemini-3.5-flash-lite. Both correctly chained </a:t>
            </a:r>
            <a:r>
              <a:rPr dirty="0" err="1"/>
              <a:t>get_project</a:t>
            </a:r>
            <a:r>
              <a:rPr dirty="0"/>
              <a:t> </a:t>
            </a:r>
            <a:r>
              <a:rPr lang="en-IN" dirty="0"/>
              <a:t> to </a:t>
            </a:r>
            <a:r>
              <a:rPr dirty="0"/>
              <a:t> </a:t>
            </a:r>
            <a:r>
              <a:rPr dirty="0" err="1"/>
              <a:t>get_project_updates</a:t>
            </a:r>
            <a:r>
              <a:rPr dirty="0"/>
              <a:t> and returned correct answer (3 updates, 0 high risk). PASS.</a:t>
            </a:r>
          </a:p>
        </p:txBody>
      </p:sp>
      <p:sp>
        <p:nvSpPr>
          <p:cNvPr id="5" name="Rounded Rectangle 3">
            <a:extLst>
              <a:ext uri="{FF2B5EF4-FFF2-40B4-BE49-F238E27FC236}">
                <a16:creationId xmlns:a16="http://schemas.microsoft.com/office/drawing/2014/main" id="{B7443B7E-F95E-FC73-3BAB-D203EB38B91E}"/>
              </a:ext>
            </a:extLst>
          </p:cNvPr>
          <p:cNvSpPr/>
          <p:nvPr/>
        </p:nvSpPr>
        <p:spPr>
          <a:xfrm>
            <a:off x="6278880" y="1051560"/>
            <a:ext cx="5175504" cy="4754880"/>
          </a:xfrm>
          <a:prstGeom prst="roundRect">
            <a:avLst/>
          </a:prstGeom>
          <a:solidFill>
            <a:srgbClr val="FEF2F2"/>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991B1B"/>
                </a:solidFill>
                <a:latin typeface="Arial"/>
              </a:defRPr>
            </a:pPr>
            <a:r>
              <a:rPr dirty="0"/>
              <a:t>Error Case 2: Remembered Action Not Executed (Req 17)</a:t>
            </a:r>
          </a:p>
          <a:p>
            <a:pPr>
              <a:spcBef>
                <a:spcPts val="600"/>
              </a:spcBef>
              <a:defRPr sz="1200">
                <a:solidFill>
                  <a:srgbClr val="334155"/>
                </a:solidFill>
                <a:latin typeface="Arial"/>
              </a:defRPr>
            </a:pPr>
            <a:r>
              <a:rPr b="1" dirty="0">
                <a:solidFill>
                  <a:srgbClr val="0F172A"/>
                </a:solidFill>
              </a:rPr>
              <a:t>• Trigger Prompt: </a:t>
            </a:r>
            <a:r>
              <a:rPr dirty="0"/>
              <a:t>'Do the task I wanted you to remember today' (after storing 'updating upd4 to risk level high')</a:t>
            </a:r>
          </a:p>
          <a:p>
            <a:pPr>
              <a:spcBef>
                <a:spcPts val="600"/>
              </a:spcBef>
              <a:defRPr sz="1200">
                <a:solidFill>
                  <a:srgbClr val="334155"/>
                </a:solidFill>
                <a:latin typeface="Arial"/>
              </a:defRPr>
            </a:pPr>
            <a:r>
              <a:rPr b="1" dirty="0">
                <a:solidFill>
                  <a:srgbClr val="0F172A"/>
                </a:solidFill>
              </a:rPr>
              <a:t>• Model: </a:t>
            </a:r>
            <a:r>
              <a:rPr dirty="0"/>
              <a:t>Llama 3.2 (local)</a:t>
            </a:r>
          </a:p>
          <a:p>
            <a:pPr>
              <a:spcBef>
                <a:spcPts val="600"/>
              </a:spcBef>
              <a:defRPr sz="1200">
                <a:solidFill>
                  <a:srgbClr val="334155"/>
                </a:solidFill>
                <a:latin typeface="Arial"/>
              </a:defRPr>
            </a:pPr>
            <a:r>
              <a:rPr b="1" dirty="0">
                <a:solidFill>
                  <a:srgbClr val="0F172A"/>
                </a:solidFill>
              </a:rPr>
              <a:t>• Actual Behavior: </a:t>
            </a:r>
            <a:r>
              <a:rPr dirty="0"/>
              <a:t>Agent replied 'The task to update upd4 to high risk has been remembered...', re-saving memory instead of executing </a:t>
            </a:r>
            <a:r>
              <a:rPr dirty="0" err="1"/>
              <a:t>update_task_status</a:t>
            </a:r>
            <a:r>
              <a:rPr dirty="0"/>
              <a:t> tool.</a:t>
            </a:r>
          </a:p>
          <a:p>
            <a:pPr>
              <a:spcBef>
                <a:spcPts val="600"/>
              </a:spcBef>
              <a:defRPr sz="1200">
                <a:solidFill>
                  <a:srgbClr val="334155"/>
                </a:solidFill>
                <a:latin typeface="Arial"/>
              </a:defRPr>
            </a:pPr>
            <a:r>
              <a:rPr b="1" dirty="0">
                <a:solidFill>
                  <a:srgbClr val="0F172A"/>
                </a:solidFill>
              </a:rPr>
              <a:t>• Root Cause: </a:t>
            </a:r>
            <a:r>
              <a:rPr dirty="0"/>
              <a:t>Llama 3.2 conflated retrieving context with taking action on retrieved context.</a:t>
            </a:r>
          </a:p>
          <a:p>
            <a:pPr>
              <a:spcBef>
                <a:spcPts val="600"/>
              </a:spcBef>
              <a:defRPr sz="1200">
                <a:solidFill>
                  <a:srgbClr val="334155"/>
                </a:solidFill>
                <a:latin typeface="Arial"/>
              </a:defRPr>
            </a:pPr>
            <a:r>
              <a:rPr b="1" dirty="0">
                <a:solidFill>
                  <a:srgbClr val="0F172A"/>
                </a:solidFill>
              </a:rPr>
              <a:t>• Resolution: </a:t>
            </a:r>
            <a:r>
              <a:rPr dirty="0"/>
              <a:t>Swapped model to qwen3.2:4b. Model correctly searched memory, recognized action intent, and executed tool to update UPD4 risk level to high. PASS.</a:t>
            </a:r>
          </a:p>
        </p:txBody>
      </p:sp>
    </p:spTree>
    <p:extLst>
      <p:ext uri="{BB962C8B-B14F-4D97-AF65-F5344CB8AC3E}">
        <p14:creationId xmlns:p14="http://schemas.microsoft.com/office/powerpoint/2010/main" val="3907742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09E5CA-88FD-3026-9AC9-353BCBF42D3A}"/>
              </a:ext>
            </a:extLst>
          </p:cNvPr>
          <p:cNvSpPr txBox="1"/>
          <p:nvPr/>
        </p:nvSpPr>
        <p:spPr>
          <a:xfrm>
            <a:off x="420721" y="209305"/>
            <a:ext cx="6094378" cy="369332"/>
          </a:xfrm>
          <a:prstGeom prst="rect">
            <a:avLst/>
          </a:prstGeom>
          <a:noFill/>
        </p:spPr>
        <p:txBody>
          <a:bodyPr wrap="square">
            <a:spAutoFit/>
          </a:bodyPr>
          <a:lstStyle/>
          <a:p>
            <a:r>
              <a:rPr lang="en-IN" sz="1800" b="1" dirty="0">
                <a:solidFill>
                  <a:schemeClr val="tx1">
                    <a:lumMod val="95000"/>
                    <a:lumOff val="5000"/>
                  </a:schemeClr>
                </a:solidFill>
              </a:rPr>
              <a:t>Empirical Error Analysis</a:t>
            </a:r>
            <a:endParaRPr lang="en-IN" b="1" dirty="0">
              <a:solidFill>
                <a:schemeClr val="tx1">
                  <a:lumMod val="95000"/>
                  <a:lumOff val="5000"/>
                </a:schemeClr>
              </a:solidFill>
            </a:endParaRPr>
          </a:p>
        </p:txBody>
      </p:sp>
      <p:sp>
        <p:nvSpPr>
          <p:cNvPr id="4" name="Rounded Rectangle 2">
            <a:extLst>
              <a:ext uri="{FF2B5EF4-FFF2-40B4-BE49-F238E27FC236}">
                <a16:creationId xmlns:a16="http://schemas.microsoft.com/office/drawing/2014/main" id="{02C06558-B035-21B0-7067-10C2A3963B1B}"/>
              </a:ext>
            </a:extLst>
          </p:cNvPr>
          <p:cNvSpPr/>
          <p:nvPr/>
        </p:nvSpPr>
        <p:spPr>
          <a:xfrm>
            <a:off x="737616" y="1051560"/>
            <a:ext cx="5175504" cy="4754880"/>
          </a:xfrm>
          <a:prstGeom prst="roundRect">
            <a:avLst/>
          </a:prstGeom>
          <a:solidFill>
            <a:srgbClr val="FEF2F2"/>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991B1B"/>
                </a:solidFill>
                <a:latin typeface="Arial"/>
              </a:defRPr>
            </a:pPr>
            <a:r>
              <a:rPr dirty="0"/>
              <a:t>Error Case 3: Memory Loss on Server Restart (Req 19)</a:t>
            </a:r>
          </a:p>
          <a:p>
            <a:pPr>
              <a:spcBef>
                <a:spcPts val="600"/>
              </a:spcBef>
              <a:defRPr sz="1200">
                <a:solidFill>
                  <a:srgbClr val="334155"/>
                </a:solidFill>
                <a:latin typeface="Arial"/>
              </a:defRPr>
            </a:pPr>
            <a:r>
              <a:rPr b="1" dirty="0">
                <a:solidFill>
                  <a:srgbClr val="0F172A"/>
                </a:solidFill>
              </a:rPr>
              <a:t>• Trigger Prompt: </a:t>
            </a:r>
            <a:r>
              <a:rPr dirty="0"/>
              <a:t>'What did I ask you to remember today?' immediately after server restart.</a:t>
            </a:r>
          </a:p>
          <a:p>
            <a:pPr>
              <a:spcBef>
                <a:spcPts val="600"/>
              </a:spcBef>
              <a:defRPr sz="1200">
                <a:solidFill>
                  <a:srgbClr val="334155"/>
                </a:solidFill>
                <a:latin typeface="Arial"/>
              </a:defRPr>
            </a:pPr>
            <a:r>
              <a:rPr b="1" dirty="0">
                <a:solidFill>
                  <a:srgbClr val="0F172A"/>
                </a:solidFill>
              </a:rPr>
              <a:t>• Model: </a:t>
            </a:r>
            <a:r>
              <a:rPr dirty="0"/>
              <a:t>Qwen 3.2:4b (</a:t>
            </a:r>
            <a:r>
              <a:rPr dirty="0" err="1"/>
              <a:t>userId</a:t>
            </a:r>
            <a:r>
              <a:rPr dirty="0"/>
              <a:t>: </a:t>
            </a:r>
            <a:r>
              <a:rPr dirty="0" err="1"/>
              <a:t>suresh</a:t>
            </a:r>
            <a:r>
              <a:rPr dirty="0"/>
              <a:t>)</a:t>
            </a:r>
          </a:p>
          <a:p>
            <a:pPr>
              <a:spcBef>
                <a:spcPts val="600"/>
              </a:spcBef>
              <a:defRPr sz="1200">
                <a:solidFill>
                  <a:srgbClr val="334155"/>
                </a:solidFill>
                <a:latin typeface="Arial"/>
              </a:defRPr>
            </a:pPr>
            <a:r>
              <a:rPr b="1" dirty="0">
                <a:solidFill>
                  <a:srgbClr val="0F172A"/>
                </a:solidFill>
              </a:rPr>
              <a:t>• Actual Behavior: </a:t>
            </a:r>
            <a:r>
              <a:rPr dirty="0"/>
              <a:t>Agent replied 'I do not have a saved preference for you yet' despite memory being stored earlier.</a:t>
            </a:r>
          </a:p>
          <a:p>
            <a:pPr>
              <a:spcBef>
                <a:spcPts val="600"/>
              </a:spcBef>
              <a:defRPr sz="1200">
                <a:solidFill>
                  <a:srgbClr val="334155"/>
                </a:solidFill>
                <a:latin typeface="Arial"/>
              </a:defRPr>
            </a:pPr>
            <a:r>
              <a:rPr b="1" dirty="0">
                <a:solidFill>
                  <a:srgbClr val="0F172A"/>
                </a:solidFill>
              </a:rPr>
              <a:t>• Root Cause: </a:t>
            </a:r>
            <a:r>
              <a:rPr dirty="0"/>
              <a:t>Agent relied solely on in-memory cache and did not re-read data/</a:t>
            </a:r>
            <a:r>
              <a:rPr dirty="0" err="1"/>
              <a:t>memory.json</a:t>
            </a:r>
            <a:r>
              <a:rPr dirty="0"/>
              <a:t> on process startup.</a:t>
            </a:r>
          </a:p>
          <a:p>
            <a:pPr>
              <a:spcBef>
                <a:spcPts val="600"/>
              </a:spcBef>
              <a:defRPr sz="1200">
                <a:solidFill>
                  <a:srgbClr val="334155"/>
                </a:solidFill>
                <a:latin typeface="Arial"/>
              </a:defRPr>
            </a:pPr>
            <a:r>
              <a:rPr b="1" dirty="0">
                <a:solidFill>
                  <a:srgbClr val="0F172A"/>
                </a:solidFill>
              </a:rPr>
              <a:t>• Resolution: </a:t>
            </a:r>
            <a:r>
              <a:rPr dirty="0"/>
              <a:t>Implemented disk-first memory store lookup in </a:t>
            </a:r>
            <a:r>
              <a:rPr dirty="0" err="1"/>
              <a:t>src</a:t>
            </a:r>
            <a:r>
              <a:rPr dirty="0"/>
              <a:t>/memory.js. </a:t>
            </a:r>
            <a:r>
              <a:rPr lang="en-IN" dirty="0"/>
              <a:t>Now for </a:t>
            </a:r>
            <a:r>
              <a:rPr dirty="0"/>
              <a:t>Req 20 agent successfully retrieved remembered task post-restart. PASS.</a:t>
            </a:r>
          </a:p>
        </p:txBody>
      </p:sp>
      <p:sp>
        <p:nvSpPr>
          <p:cNvPr id="5" name="Rounded Rectangle 3">
            <a:extLst>
              <a:ext uri="{FF2B5EF4-FFF2-40B4-BE49-F238E27FC236}">
                <a16:creationId xmlns:a16="http://schemas.microsoft.com/office/drawing/2014/main" id="{70949A54-4D38-C8B3-35C2-42E9837DD046}"/>
              </a:ext>
            </a:extLst>
          </p:cNvPr>
          <p:cNvSpPr/>
          <p:nvPr/>
        </p:nvSpPr>
        <p:spPr>
          <a:xfrm>
            <a:off x="6278880" y="1051560"/>
            <a:ext cx="5175504" cy="4754880"/>
          </a:xfrm>
          <a:prstGeom prst="roundRect">
            <a:avLst/>
          </a:prstGeom>
          <a:solidFill>
            <a:srgbClr val="FEF2F2"/>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991B1B"/>
                </a:solidFill>
                <a:latin typeface="Arial"/>
              </a:defRPr>
            </a:pPr>
            <a:r>
              <a:rPr dirty="0"/>
              <a:t>Error Case 4: Complex Multi-Part Timeout (Req 21 &amp; 22)</a:t>
            </a:r>
          </a:p>
          <a:p>
            <a:pPr>
              <a:spcBef>
                <a:spcPts val="600"/>
              </a:spcBef>
              <a:defRPr sz="1200">
                <a:solidFill>
                  <a:srgbClr val="334155"/>
                </a:solidFill>
                <a:latin typeface="Arial"/>
              </a:defRPr>
            </a:pPr>
            <a:r>
              <a:rPr b="1" dirty="0">
                <a:solidFill>
                  <a:srgbClr val="0F172A"/>
                </a:solidFill>
              </a:rPr>
              <a:t>• Trigger Prompt: </a:t>
            </a:r>
            <a:r>
              <a:rPr dirty="0"/>
              <a:t>'Analyze all active projects, find highest risk projects, find employees responsible for overdue tasks, check updates, recommend actions</a:t>
            </a:r>
            <a:r>
              <a:rPr lang="en-IN" dirty="0"/>
              <a:t>,</a:t>
            </a:r>
            <a:r>
              <a:rPr dirty="0"/>
              <a:t> and calculate odd </a:t>
            </a:r>
            <a:r>
              <a:rPr dirty="0" err="1"/>
              <a:t>todo</a:t>
            </a:r>
            <a:r>
              <a:rPr dirty="0"/>
              <a:t> tasks'</a:t>
            </a:r>
          </a:p>
          <a:p>
            <a:pPr>
              <a:spcBef>
                <a:spcPts val="600"/>
              </a:spcBef>
              <a:defRPr sz="1200">
                <a:solidFill>
                  <a:srgbClr val="334155"/>
                </a:solidFill>
                <a:latin typeface="Arial"/>
              </a:defRPr>
            </a:pPr>
            <a:r>
              <a:rPr b="1" dirty="0">
                <a:solidFill>
                  <a:srgbClr val="0F172A"/>
                </a:solidFill>
              </a:rPr>
              <a:t>• Models Tested: </a:t>
            </a:r>
            <a:r>
              <a:rPr dirty="0"/>
              <a:t>Llama 3.2, Qwen 3:4b, Gemini-3.5-flash-lite</a:t>
            </a:r>
          </a:p>
          <a:p>
            <a:pPr>
              <a:spcBef>
                <a:spcPts val="600"/>
              </a:spcBef>
              <a:defRPr sz="1200">
                <a:solidFill>
                  <a:srgbClr val="334155"/>
                </a:solidFill>
                <a:latin typeface="Arial"/>
              </a:defRPr>
            </a:pPr>
            <a:r>
              <a:rPr b="1" dirty="0">
                <a:solidFill>
                  <a:srgbClr val="0F172A"/>
                </a:solidFill>
              </a:rPr>
              <a:t>• Actual Behavior: </a:t>
            </a:r>
            <a:r>
              <a:rPr dirty="0"/>
              <a:t>Req 21 (limit=15) returned 'could not complete within tool-call limit'. Req 22 (limit=30) hung for 40+ min on local models; Gemini triggered HTTP 429 rate limit (15 RPM).</a:t>
            </a:r>
          </a:p>
          <a:p>
            <a:pPr>
              <a:spcBef>
                <a:spcPts val="600"/>
              </a:spcBef>
              <a:defRPr sz="1200">
                <a:solidFill>
                  <a:srgbClr val="334155"/>
                </a:solidFill>
                <a:latin typeface="Arial"/>
              </a:defRPr>
            </a:pPr>
            <a:r>
              <a:rPr b="1" dirty="0">
                <a:solidFill>
                  <a:srgbClr val="0F172A"/>
                </a:solidFill>
              </a:rPr>
              <a:t>• Root Cause: </a:t>
            </a:r>
            <a:r>
              <a:rPr dirty="0"/>
              <a:t>Excessive task</a:t>
            </a:r>
            <a:r>
              <a:rPr lang="en-IN" dirty="0"/>
              <a:t>s required a long sequence of tool calls which resulted in the agent running out of iterations </a:t>
            </a:r>
          </a:p>
          <a:p>
            <a:pPr>
              <a:spcBef>
                <a:spcPts val="600"/>
              </a:spcBef>
              <a:defRPr sz="1200">
                <a:solidFill>
                  <a:srgbClr val="334155"/>
                </a:solidFill>
                <a:latin typeface="Arial"/>
              </a:defRPr>
            </a:pPr>
            <a:r>
              <a:rPr b="1" dirty="0">
                <a:solidFill>
                  <a:srgbClr val="0F172A"/>
                </a:solidFill>
              </a:rPr>
              <a:t>• Status: </a:t>
            </a:r>
            <a:r>
              <a:rPr dirty="0"/>
              <a:t>Unresolved</a:t>
            </a:r>
            <a:r>
              <a:rPr lang="en-IN" dirty="0"/>
              <a:t> This is an architectural open Limitation</a:t>
            </a:r>
            <a:r>
              <a:rPr dirty="0"/>
              <a:t>. </a:t>
            </a:r>
          </a:p>
        </p:txBody>
      </p:sp>
    </p:spTree>
    <p:extLst>
      <p:ext uri="{BB962C8B-B14F-4D97-AF65-F5344CB8AC3E}">
        <p14:creationId xmlns:p14="http://schemas.microsoft.com/office/powerpoint/2010/main" val="19534364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AABFAC-DEE6-706F-FA3A-8D1B0886BBC3}"/>
              </a:ext>
            </a:extLst>
          </p:cNvPr>
          <p:cNvSpPr txBox="1"/>
          <p:nvPr/>
        </p:nvSpPr>
        <p:spPr>
          <a:xfrm>
            <a:off x="408562" y="157910"/>
            <a:ext cx="11128442" cy="3175228"/>
          </a:xfrm>
          <a:prstGeom prst="rect">
            <a:avLst/>
          </a:prstGeom>
          <a:noFill/>
        </p:spPr>
        <p:txBody>
          <a:bodyPr wrap="square">
            <a:spAutoFit/>
          </a:bodyPr>
          <a:lstStyle/>
          <a:p>
            <a:pPr>
              <a:lnSpc>
                <a:spcPct val="100000"/>
              </a:lnSpc>
              <a:spcAft>
                <a:spcPts val="1000"/>
              </a:spcAft>
              <a:buNone/>
            </a:pPr>
            <a:r>
              <a:rPr lang="en-IN" sz="4800" b="1" kern="0" dirty="0">
                <a:solidFill>
                  <a:srgbClr val="0070C0"/>
                </a:solidFill>
                <a:effectLst/>
                <a:latin typeface="+mn-lt"/>
                <a:ea typeface="Times New Roman" panose="02020603050405020304" pitchFamily="18" charset="0"/>
              </a:rPr>
              <a:t>Conclusion</a:t>
            </a:r>
          </a:p>
          <a:p>
            <a:pPr>
              <a:lnSpc>
                <a:spcPct val="100000"/>
              </a:lnSpc>
              <a:spcAft>
                <a:spcPts val="1000"/>
              </a:spcAft>
              <a:buNone/>
            </a:pPr>
            <a:r>
              <a:rPr lang="en-IN" sz="3600" dirty="0">
                <a:effectLst/>
                <a:latin typeface="+mn-lt"/>
                <a:ea typeface="Calibri" panose="020F0502020204030204" pitchFamily="34" charset="0"/>
                <a:cs typeface="Mangal" panose="02040503050203030202" pitchFamily="18" charset="0"/>
              </a:rPr>
              <a:t>18 of 22 requests passed on first attempt, and all 4 failures were either resolved by a model swap or a persistence fix, except the multi part query which is not fixed, and which remains an open scaling problem.</a:t>
            </a:r>
            <a:endParaRPr lang="en-IN" sz="3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292178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F88FEC6-E854-44FE-8CA0-85CA5659581E}"/>
              </a:ext>
            </a:extLst>
          </p:cNvPr>
          <p:cNvGrpSpPr/>
          <p:nvPr/>
        </p:nvGrpSpPr>
        <p:grpSpPr>
          <a:xfrm>
            <a:off x="0" y="47064"/>
            <a:ext cx="12192000" cy="6763871"/>
            <a:chOff x="4474797" y="3556788"/>
            <a:chExt cx="3242406" cy="1338911"/>
          </a:xfrm>
        </p:grpSpPr>
        <p:sp>
          <p:nvSpPr>
            <p:cNvPr id="3" name="Freeform: Shape 2">
              <a:extLst>
                <a:ext uri="{FF2B5EF4-FFF2-40B4-BE49-F238E27FC236}">
                  <a16:creationId xmlns:a16="http://schemas.microsoft.com/office/drawing/2014/main" id="{954099DC-9786-45BE-96B4-45B070248571}"/>
                </a:ext>
              </a:extLst>
            </p:cNvPr>
            <p:cNvSpPr/>
            <p:nvPr/>
          </p:nvSpPr>
          <p:spPr>
            <a:xfrm>
              <a:off x="4474797" y="3556788"/>
              <a:ext cx="3242406" cy="1335097"/>
            </a:xfrm>
            <a:custGeom>
              <a:avLst/>
              <a:gdLst>
                <a:gd name="connsiteX0" fmla="*/ 0 w 3242405"/>
                <a:gd name="connsiteY0" fmla="*/ 1369428 h 1335097"/>
                <a:gd name="connsiteX1" fmla="*/ 0 w 3242405"/>
                <a:gd name="connsiteY1" fmla="*/ 0 h 1335097"/>
                <a:gd name="connsiteX2" fmla="*/ 3242406 w 3242405"/>
                <a:gd name="connsiteY2" fmla="*/ 0 h 1335097"/>
                <a:gd name="connsiteX3" fmla="*/ 3242406 w 3242405"/>
                <a:gd name="connsiteY3" fmla="*/ 223152 h 1335097"/>
                <a:gd name="connsiteX4" fmla="*/ 0 w 3242405"/>
                <a:gd name="connsiteY4" fmla="*/ 1369428 h 1335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05" h="1335097">
                  <a:moveTo>
                    <a:pt x="0" y="1369428"/>
                  </a:moveTo>
                  <a:lnTo>
                    <a:pt x="0" y="0"/>
                  </a:lnTo>
                  <a:lnTo>
                    <a:pt x="3242406" y="0"/>
                  </a:lnTo>
                  <a:lnTo>
                    <a:pt x="3242406" y="223152"/>
                  </a:lnTo>
                  <a:cubicBezTo>
                    <a:pt x="2035087" y="-20980"/>
                    <a:pt x="843026" y="799151"/>
                    <a:pt x="0" y="1369428"/>
                  </a:cubicBezTo>
                  <a:close/>
                </a:path>
              </a:pathLst>
            </a:custGeom>
            <a:solidFill>
              <a:srgbClr val="333333"/>
            </a:solidFill>
            <a:ln w="19050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Freeform: Shape 3">
              <a:extLst>
                <a:ext uri="{FF2B5EF4-FFF2-40B4-BE49-F238E27FC236}">
                  <a16:creationId xmlns:a16="http://schemas.microsoft.com/office/drawing/2014/main" id="{D94D42AA-8BAA-47A6-B860-3FD9119D43A8}"/>
                </a:ext>
              </a:extLst>
            </p:cNvPr>
            <p:cNvSpPr/>
            <p:nvPr/>
          </p:nvSpPr>
          <p:spPr>
            <a:xfrm>
              <a:off x="4474797" y="3560602"/>
              <a:ext cx="3242406" cy="1335097"/>
            </a:xfrm>
            <a:custGeom>
              <a:avLst/>
              <a:gdLst>
                <a:gd name="connsiteX0" fmla="*/ 0 w 3242405"/>
                <a:gd name="connsiteY0" fmla="*/ 1176793 h 1335097"/>
                <a:gd name="connsiteX1" fmla="*/ 0 w 3242405"/>
                <a:gd name="connsiteY1" fmla="*/ 1367521 h 1335097"/>
                <a:gd name="connsiteX2" fmla="*/ 3242406 w 3242405"/>
                <a:gd name="connsiteY2" fmla="*/ 223152 h 1335097"/>
                <a:gd name="connsiteX3" fmla="*/ 3242406 w 3242405"/>
                <a:gd name="connsiteY3" fmla="*/ 32424 h 1335097"/>
                <a:gd name="connsiteX4" fmla="*/ 3021160 w 3242405"/>
                <a:gd name="connsiteY4" fmla="*/ 0 h 1335097"/>
                <a:gd name="connsiteX5" fmla="*/ 2561501 w 3242405"/>
                <a:gd name="connsiteY5" fmla="*/ 0 h 1335097"/>
                <a:gd name="connsiteX6" fmla="*/ 0 w 3242405"/>
                <a:gd name="connsiteY6" fmla="*/ 1176793 h 1335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2405" h="1335097">
                  <a:moveTo>
                    <a:pt x="0" y="1176793"/>
                  </a:moveTo>
                  <a:lnTo>
                    <a:pt x="0" y="1367521"/>
                  </a:lnTo>
                  <a:cubicBezTo>
                    <a:pt x="839211" y="795337"/>
                    <a:pt x="2031272" y="-22887"/>
                    <a:pt x="3242406" y="223152"/>
                  </a:cubicBezTo>
                  <a:lnTo>
                    <a:pt x="3242406" y="32424"/>
                  </a:lnTo>
                  <a:cubicBezTo>
                    <a:pt x="3169261" y="17890"/>
                    <a:pt x="3095411" y="7057"/>
                    <a:pt x="3021160" y="0"/>
                  </a:cubicBezTo>
                  <a:lnTo>
                    <a:pt x="2561501" y="0"/>
                  </a:lnTo>
                  <a:cubicBezTo>
                    <a:pt x="1598315" y="85828"/>
                    <a:pt x="684720" y="713323"/>
                    <a:pt x="0" y="1176793"/>
                  </a:cubicBezTo>
                  <a:close/>
                </a:path>
              </a:pathLst>
            </a:custGeom>
            <a:solidFill>
              <a:schemeClr val="accent1"/>
            </a:solidFill>
            <a:ln w="19050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 name="Freeform: Shape 4">
              <a:extLst>
                <a:ext uri="{FF2B5EF4-FFF2-40B4-BE49-F238E27FC236}">
                  <a16:creationId xmlns:a16="http://schemas.microsoft.com/office/drawing/2014/main" id="{2B825ADC-3944-44BB-84EE-0D2BD743C920}"/>
                </a:ext>
              </a:extLst>
            </p:cNvPr>
            <p:cNvSpPr/>
            <p:nvPr/>
          </p:nvSpPr>
          <p:spPr>
            <a:xfrm>
              <a:off x="4474797" y="3714877"/>
              <a:ext cx="3242406" cy="1144369"/>
            </a:xfrm>
            <a:custGeom>
              <a:avLst/>
              <a:gdLst>
                <a:gd name="connsiteX0" fmla="*/ 3242406 w 3242405"/>
                <a:gd name="connsiteY0" fmla="*/ 65063 h 1144368"/>
                <a:gd name="connsiteX1" fmla="*/ 3242406 w 3242405"/>
                <a:gd name="connsiteY1" fmla="*/ 47897 h 1144368"/>
                <a:gd name="connsiteX2" fmla="*/ 0 w 3242405"/>
                <a:gd name="connsiteY2" fmla="*/ 1079737 h 1144368"/>
                <a:gd name="connsiteX3" fmla="*/ 0 w 3242405"/>
                <a:gd name="connsiteY3" fmla="*/ 1211339 h 1144368"/>
                <a:gd name="connsiteX4" fmla="*/ 3242406 w 3242405"/>
                <a:gd name="connsiteY4" fmla="*/ 65063 h 1144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405" h="1144368">
                  <a:moveTo>
                    <a:pt x="3242406" y="65063"/>
                  </a:moveTo>
                  <a:lnTo>
                    <a:pt x="3242406" y="47897"/>
                  </a:lnTo>
                  <a:cubicBezTo>
                    <a:pt x="2035087" y="-190513"/>
                    <a:pt x="843026" y="509459"/>
                    <a:pt x="0" y="1079737"/>
                  </a:cubicBezTo>
                  <a:lnTo>
                    <a:pt x="0" y="1211339"/>
                  </a:lnTo>
                  <a:cubicBezTo>
                    <a:pt x="843026" y="641062"/>
                    <a:pt x="2035087" y="-179069"/>
                    <a:pt x="3242406" y="65063"/>
                  </a:cubicBezTo>
                  <a:close/>
                </a:path>
              </a:pathLst>
            </a:custGeom>
            <a:solidFill>
              <a:srgbClr val="FFFFFF"/>
            </a:solidFill>
            <a:ln w="19050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Freeform: Shape 5">
              <a:extLst>
                <a:ext uri="{FF2B5EF4-FFF2-40B4-BE49-F238E27FC236}">
                  <a16:creationId xmlns:a16="http://schemas.microsoft.com/office/drawing/2014/main" id="{361BAC53-0DE2-4AC4-8403-CD90756D5BAF}"/>
                </a:ext>
              </a:extLst>
            </p:cNvPr>
            <p:cNvSpPr/>
            <p:nvPr/>
          </p:nvSpPr>
          <p:spPr>
            <a:xfrm>
              <a:off x="4478612" y="3556788"/>
              <a:ext cx="1716568" cy="1144369"/>
            </a:xfrm>
            <a:custGeom>
              <a:avLst/>
              <a:gdLst>
                <a:gd name="connsiteX0" fmla="*/ 1821469 w 1716567"/>
                <a:gd name="connsiteY0" fmla="*/ 0 h 1144368"/>
                <a:gd name="connsiteX1" fmla="*/ 0 w 1716567"/>
                <a:gd name="connsiteY1" fmla="*/ 1144369 h 1144368"/>
                <a:gd name="connsiteX2" fmla="*/ 0 w 1716567"/>
                <a:gd name="connsiteY2" fmla="*/ 0 h 1144368"/>
              </a:gdLst>
              <a:ahLst/>
              <a:cxnLst>
                <a:cxn ang="0">
                  <a:pos x="connsiteX0" y="connsiteY0"/>
                </a:cxn>
                <a:cxn ang="0">
                  <a:pos x="connsiteX1" y="connsiteY1"/>
                </a:cxn>
                <a:cxn ang="0">
                  <a:pos x="connsiteX2" y="connsiteY2"/>
                </a:cxn>
              </a:cxnLst>
              <a:rect l="l" t="t" r="r" b="b"/>
              <a:pathLst>
                <a:path w="1716567" h="1144368">
                  <a:moveTo>
                    <a:pt x="1821469" y="0"/>
                  </a:moveTo>
                  <a:cubicBezTo>
                    <a:pt x="833489" y="263205"/>
                    <a:pt x="295631" y="762913"/>
                    <a:pt x="0" y="1144369"/>
                  </a:cubicBezTo>
                  <a:lnTo>
                    <a:pt x="0" y="0"/>
                  </a:lnTo>
                  <a:close/>
                </a:path>
              </a:pathLst>
            </a:custGeom>
            <a:solidFill>
              <a:srgbClr val="333333"/>
            </a:solidFill>
            <a:ln w="19050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pic>
        <p:nvPicPr>
          <p:cNvPr id="7" name="Graphic 1075" descr="Handshake">
            <a:extLst>
              <a:ext uri="{FF2B5EF4-FFF2-40B4-BE49-F238E27FC236}">
                <a16:creationId xmlns:a16="http://schemas.microsoft.com/office/drawing/2014/main" id="{B97B543A-842B-4E39-BF9F-E9B9C07344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14859" y="2903800"/>
            <a:ext cx="959184" cy="959184"/>
          </a:xfrm>
          <a:prstGeom prst="rect">
            <a:avLst/>
          </a:prstGeom>
        </p:spPr>
      </p:pic>
      <p:sp>
        <p:nvSpPr>
          <p:cNvPr id="8" name="TextBox 2">
            <a:extLst>
              <a:ext uri="{FF2B5EF4-FFF2-40B4-BE49-F238E27FC236}">
                <a16:creationId xmlns:a16="http://schemas.microsoft.com/office/drawing/2014/main" id="{82CE45FB-26B5-44DB-BB17-18C6A6735C11}"/>
              </a:ext>
            </a:extLst>
          </p:cNvPr>
          <p:cNvSpPr txBox="1"/>
          <p:nvPr/>
        </p:nvSpPr>
        <p:spPr>
          <a:xfrm>
            <a:off x="5097909" y="4012421"/>
            <a:ext cx="6212114"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0" b="1" dirty="0">
                <a:latin typeface="Georgia" panose="02040502050405020303" pitchFamily="18" charset="0"/>
              </a:rPr>
              <a:t>Thank you</a:t>
            </a:r>
          </a:p>
        </p:txBody>
      </p:sp>
    </p:spTree>
    <p:extLst>
      <p:ext uri="{BB962C8B-B14F-4D97-AF65-F5344CB8AC3E}">
        <p14:creationId xmlns:p14="http://schemas.microsoft.com/office/powerpoint/2010/main" val="2477172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Lines</Template>
  <TotalTime>583</TotalTime>
  <Words>9342</Words>
  <Application>Microsoft Office PowerPoint</Application>
  <PresentationFormat>Widescreen</PresentationFormat>
  <Paragraphs>959</Paragraphs>
  <Slides>54</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54</vt:i4>
      </vt:variant>
    </vt:vector>
  </HeadingPairs>
  <TitlesOfParts>
    <vt:vector size="66" baseType="lpstr">
      <vt:lpstr>Aptos</vt:lpstr>
      <vt:lpstr>Aptos Display</vt:lpstr>
      <vt:lpstr>Arial</vt:lpstr>
      <vt:lpstr>Calibri</vt:lpstr>
      <vt:lpstr>Cambria</vt:lpstr>
      <vt:lpstr>Courier New</vt:lpstr>
      <vt:lpstr>Georgia</vt:lpstr>
      <vt:lpstr>Google Sans</vt:lpstr>
      <vt:lpstr>Mangal</vt:lpstr>
      <vt:lpstr>Segoe WPC</vt:lpstr>
      <vt:lpstr>Wingdings</vt:lpstr>
      <vt:lpstr>Office Theme</vt:lpstr>
      <vt:lpstr>Agentic AI and Architectures</vt:lpstr>
      <vt:lpstr>PowerPoint Presentation</vt:lpstr>
      <vt:lpstr>What is Agentic AI?</vt:lpstr>
      <vt:lpstr>LLM vs RAG vs Agentic Ai</vt:lpstr>
      <vt:lpstr>Detailed explanation of the differences</vt:lpstr>
      <vt:lpstr>PowerPoint Presentation</vt:lpstr>
      <vt:lpstr>PowerPoint Presentation</vt:lpstr>
      <vt:lpstr>PowerPoint Presentation</vt:lpstr>
      <vt:lpstr>How it runs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my own AI Agent works ?</vt:lpstr>
      <vt:lpstr>PowerPoint Presentation</vt:lpstr>
      <vt:lpstr>PowerPoint Presentation</vt:lpstr>
      <vt:lpstr>System Architecture &amp; Execution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and Architectures</dc:title>
  <dc:creator>sathvik reddy</dc:creator>
  <cp:lastModifiedBy>sathvik reddy</cp:lastModifiedBy>
  <cp:revision>9</cp:revision>
  <dcterms:created xsi:type="dcterms:W3CDTF">2026-09-18T11:16:11Z</dcterms:created>
  <dcterms:modified xsi:type="dcterms:W3CDTF">2026-09-19T19:32:07Z</dcterms:modified>
</cp:coreProperties>
</file>